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0"/>
  </p:notesMasterIdLst>
  <p:handoutMasterIdLst>
    <p:handoutMasterId r:id="rId91"/>
  </p:handoutMasterIdLst>
  <p:sldIdLst>
    <p:sldId id="365" r:id="rId2"/>
    <p:sldId id="366" r:id="rId3"/>
    <p:sldId id="367" r:id="rId4"/>
    <p:sldId id="369" r:id="rId5"/>
    <p:sldId id="370" r:id="rId6"/>
    <p:sldId id="371" r:id="rId7"/>
    <p:sldId id="372" r:id="rId8"/>
    <p:sldId id="373" r:id="rId9"/>
    <p:sldId id="374" r:id="rId10"/>
    <p:sldId id="375" r:id="rId11"/>
    <p:sldId id="376" r:id="rId12"/>
    <p:sldId id="377" r:id="rId13"/>
    <p:sldId id="378" r:id="rId14"/>
    <p:sldId id="435" r:id="rId15"/>
    <p:sldId id="436" r:id="rId16"/>
    <p:sldId id="437" r:id="rId17"/>
    <p:sldId id="438" r:id="rId18"/>
    <p:sldId id="379" r:id="rId19"/>
    <p:sldId id="439" r:id="rId20"/>
    <p:sldId id="440" r:id="rId21"/>
    <p:sldId id="441" r:id="rId22"/>
    <p:sldId id="256" r:id="rId23"/>
    <p:sldId id="257" r:id="rId24"/>
    <p:sldId id="258" r:id="rId25"/>
    <p:sldId id="259" r:id="rId26"/>
    <p:sldId id="260" r:id="rId27"/>
    <p:sldId id="261" r:id="rId28"/>
    <p:sldId id="262" r:id="rId29"/>
    <p:sldId id="263" r:id="rId30"/>
    <p:sldId id="306" r:id="rId31"/>
    <p:sldId id="264" r:id="rId32"/>
    <p:sldId id="265" r:id="rId33"/>
    <p:sldId id="266" r:id="rId34"/>
    <p:sldId id="267" r:id="rId35"/>
    <p:sldId id="268" r:id="rId36"/>
    <p:sldId id="360" r:id="rId37"/>
    <p:sldId id="269" r:id="rId38"/>
    <p:sldId id="361" r:id="rId39"/>
    <p:sldId id="270" r:id="rId40"/>
    <p:sldId id="271" r:id="rId41"/>
    <p:sldId id="272" r:id="rId42"/>
    <p:sldId id="273" r:id="rId43"/>
    <p:sldId id="274" r:id="rId44"/>
    <p:sldId id="275" r:id="rId45"/>
    <p:sldId id="276" r:id="rId46"/>
    <p:sldId id="277" r:id="rId47"/>
    <p:sldId id="278" r:id="rId48"/>
    <p:sldId id="279" r:id="rId49"/>
    <p:sldId id="280" r:id="rId50"/>
    <p:sldId id="281" r:id="rId51"/>
    <p:sldId id="282" r:id="rId52"/>
    <p:sldId id="283" r:id="rId53"/>
    <p:sldId id="284" r:id="rId54"/>
    <p:sldId id="285" r:id="rId55"/>
    <p:sldId id="286" r:id="rId56"/>
    <p:sldId id="287" r:id="rId57"/>
    <p:sldId id="288" r:id="rId58"/>
    <p:sldId id="289" r:id="rId59"/>
    <p:sldId id="290" r:id="rId60"/>
    <p:sldId id="291" r:id="rId61"/>
    <p:sldId id="292" r:id="rId62"/>
    <p:sldId id="293" r:id="rId63"/>
    <p:sldId id="294" r:id="rId64"/>
    <p:sldId id="295" r:id="rId65"/>
    <p:sldId id="296" r:id="rId66"/>
    <p:sldId id="362" r:id="rId67"/>
    <p:sldId id="298" r:id="rId68"/>
    <p:sldId id="299" r:id="rId69"/>
    <p:sldId id="300" r:id="rId70"/>
    <p:sldId id="301" r:id="rId71"/>
    <p:sldId id="302" r:id="rId72"/>
    <p:sldId id="303" r:id="rId73"/>
    <p:sldId id="304" r:id="rId74"/>
    <p:sldId id="305" r:id="rId75"/>
    <p:sldId id="363" r:id="rId76"/>
    <p:sldId id="307" r:id="rId77"/>
    <p:sldId id="308" r:id="rId78"/>
    <p:sldId id="309" r:id="rId79"/>
    <p:sldId id="310" r:id="rId80"/>
    <p:sldId id="311" r:id="rId81"/>
    <p:sldId id="312" r:id="rId82"/>
    <p:sldId id="313" r:id="rId83"/>
    <p:sldId id="314" r:id="rId84"/>
    <p:sldId id="325" r:id="rId85"/>
    <p:sldId id="315" r:id="rId86"/>
    <p:sldId id="316" r:id="rId87"/>
    <p:sldId id="364" r:id="rId88"/>
    <p:sldId id="297" r:id="rId8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89500" autoAdjust="0"/>
  </p:normalViewPr>
  <p:slideViewPr>
    <p:cSldViewPr>
      <p:cViewPr>
        <p:scale>
          <a:sx n="123" d="100"/>
          <a:sy n="123" d="100"/>
        </p:scale>
        <p:origin x="1864" y="2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39" d="100"/>
          <a:sy n="39" d="100"/>
        </p:scale>
        <p:origin x="-2238" y="-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notesMaster" Target="notesMasters/notesMaster1.xml"/><Relationship Id="rId95" Type="http://schemas.openxmlformats.org/officeDocument/2006/relationships/tableStyles" Target="tableStyle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F2956A4-D377-8E6F-CB3D-B6FAB48C7F0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5B6F93-7480-002E-455B-3CC7C66A010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12AA48E1-7A4D-D24C-B03D-62C0D956B7FB}" type="datetimeFigureOut">
              <a:rPr lang="en-US"/>
              <a:pPr>
                <a:defRPr/>
              </a:pPr>
              <a:t>3/9/26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19B51D-2979-6A4C-A37E-78EDA119FF1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2731A5-C74F-40BE-FCF7-5B0D778824E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752C530-D092-7F4C-9688-80D11C58435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BB01CB57-2363-9315-6DA2-00304455BCF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EECAC4A1-8CC3-878F-11C3-30D3BBAD428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2BA5BEC6-7406-6E6C-1E95-2CB4B5F39D4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3669" name="Rectangle 5">
            <a:extLst>
              <a:ext uri="{FF2B5EF4-FFF2-40B4-BE49-F238E27FC236}">
                <a16:creationId xmlns:a16="http://schemas.microsoft.com/office/drawing/2014/main" id="{23D0E5B6-5E15-04F7-3A34-A0CB8ED29E1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13670" name="Rectangle 6">
            <a:extLst>
              <a:ext uri="{FF2B5EF4-FFF2-40B4-BE49-F238E27FC236}">
                <a16:creationId xmlns:a16="http://schemas.microsoft.com/office/drawing/2014/main" id="{23C86C39-6938-C88C-C677-A7BBCDE6A83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13671" name="Rectangle 7">
            <a:extLst>
              <a:ext uri="{FF2B5EF4-FFF2-40B4-BE49-F238E27FC236}">
                <a16:creationId xmlns:a16="http://schemas.microsoft.com/office/drawing/2014/main" id="{F888FAEC-776C-86C0-8DD9-A7F47401C8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D269624-2197-2448-8573-AF68A6CB492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Slide Image Placeholder 1">
            <a:extLst>
              <a:ext uri="{FF2B5EF4-FFF2-40B4-BE49-F238E27FC236}">
                <a16:creationId xmlns:a16="http://schemas.microsoft.com/office/drawing/2014/main" id="{00203786-F217-1C4F-6D9E-F5BD401BBB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8" name="Notes Placeholder 2">
            <a:extLst>
              <a:ext uri="{FF2B5EF4-FFF2-40B4-BE49-F238E27FC236}">
                <a16:creationId xmlns:a16="http://schemas.microsoft.com/office/drawing/2014/main" id="{2A3B2AA5-2448-BC98-50C8-8E6AAF3417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The const property of an object goes into effect </a:t>
            </a:r>
            <a:r>
              <a:rPr lang="en-US" altLang="en-US" b="1" u="sng">
                <a:latin typeface="Arial" panose="020B0604020202020204" pitchFamily="34" charset="0"/>
              </a:rPr>
              <a:t>after</a:t>
            </a:r>
            <a:r>
              <a:rPr lang="en-US" altLang="en-US" b="1">
                <a:latin typeface="Arial" panose="020B0604020202020204" pitchFamily="34" charset="0"/>
              </a:rPr>
              <a:t> the constructor finishes executing a</a:t>
            </a:r>
            <a:r>
              <a:rPr lang="en-US" altLang="en-US">
                <a:latin typeface="Arial" panose="020B0604020202020204" pitchFamily="34" charset="0"/>
              </a:rPr>
              <a:t>nd ends </a:t>
            </a:r>
            <a:r>
              <a:rPr lang="en-US" altLang="en-US" u="sng">
                <a:latin typeface="Arial" panose="020B0604020202020204" pitchFamily="34" charset="0"/>
              </a:rPr>
              <a:t>before</a:t>
            </a:r>
            <a:r>
              <a:rPr lang="en-US" altLang="en-US">
                <a:latin typeface="Arial" panose="020B0604020202020204" pitchFamily="34" charset="0"/>
              </a:rPr>
              <a:t> the class's destructor executes. So the constructor and destructor can modify the object, but other methods of the class can't.</a:t>
            </a:r>
          </a:p>
          <a:p>
            <a:pPr eaLnBrk="1" hangingPunct="1"/>
            <a:endParaRPr lang="en-US" altLang="en-US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The reason for this is that the compiler cannot decide whether a method performs write operations or only read operations with data members unless additional information is supplied.</a:t>
            </a:r>
            <a:br>
              <a:rPr lang="en-US" altLang="en-US">
                <a:latin typeface="Arial" panose="020B0604020202020204" pitchFamily="34" charset="0"/>
              </a:rPr>
            </a:br>
            <a:endParaRPr lang="fr-FR" altLang="en-US">
              <a:latin typeface="Arial" panose="020B0604020202020204" pitchFamily="34" charset="0"/>
              <a:ea typeface="MS PGothic" panose="020B0600070205080204" pitchFamily="34" charset="-128"/>
            </a:endParaRPr>
          </a:p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96259" name="Slide Number Placeholder 3">
            <a:extLst>
              <a:ext uri="{FF2B5EF4-FFF2-40B4-BE49-F238E27FC236}">
                <a16:creationId xmlns:a16="http://schemas.microsoft.com/office/drawing/2014/main" id="{7CA2E862-5895-FB25-B788-0626ED94C25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120FBE8-B764-BC48-B61B-EE28C11FE254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:a16="http://schemas.microsoft.com/office/drawing/2014/main" id="{0E8D1BDA-AF34-547D-6E9B-73C30DC884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Notes Placeholder 2">
            <a:extLst>
              <a:ext uri="{FF2B5EF4-FFF2-40B4-BE49-F238E27FC236}">
                <a16:creationId xmlns:a16="http://schemas.microsoft.com/office/drawing/2014/main" id="{45791F03-8D59-FF07-B536-42F6A01D9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124" name="Slide Number Placeholder 3">
            <a:extLst>
              <a:ext uri="{FF2B5EF4-FFF2-40B4-BE49-F238E27FC236}">
                <a16:creationId xmlns:a16="http://schemas.microsoft.com/office/drawing/2014/main" id="{90861F81-4BCC-BE8D-6437-76D2D10FA3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27AC24E-B5A4-5849-B5C9-BE570FF2D037}" type="slidenum">
              <a:rPr lang="en-GB" altLang="en-US" smtClean="0"/>
              <a:pPr>
                <a:spcBef>
                  <a:spcPct val="0"/>
                </a:spcBef>
              </a:pPr>
              <a:t>22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5C32DB77-6EF7-6701-8748-017DAC6883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78A32D47-0935-CB17-E75A-2345F50BFA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6CA703B8-06C7-69CB-7497-39C73B850C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ED24D34-BA87-4144-A0C6-3B4F102FBBEA}" type="slidenum">
              <a:rPr lang="en-US" altLang="en-US" smtClean="0"/>
              <a:pPr/>
              <a:t>24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>
            <a:extLst>
              <a:ext uri="{FF2B5EF4-FFF2-40B4-BE49-F238E27FC236}">
                <a16:creationId xmlns:a16="http://schemas.microsoft.com/office/drawing/2014/main" id="{79FF34E6-BAF1-3083-432A-FEADE01F32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Notes Placeholder 2">
            <a:extLst>
              <a:ext uri="{FF2B5EF4-FFF2-40B4-BE49-F238E27FC236}">
                <a16:creationId xmlns:a16="http://schemas.microsoft.com/office/drawing/2014/main" id="{A0FD9E72-FC78-DBF2-261A-E4E4887435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1268" name="Slide Number Placeholder 3">
            <a:extLst>
              <a:ext uri="{FF2B5EF4-FFF2-40B4-BE49-F238E27FC236}">
                <a16:creationId xmlns:a16="http://schemas.microsoft.com/office/drawing/2014/main" id="{C1F19E13-C0EC-4BD1-8259-26B709C9A3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9D4D335-24BA-7341-941A-0FC6DEBCDE1F}" type="slidenum">
              <a:rPr lang="en-US" altLang="en-US" smtClean="0"/>
              <a:pPr/>
              <a:t>26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73D0D2D7-8218-9C51-60D6-4D6385AD68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48CE7F7B-820D-8B71-CB92-0CDB5E136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DE2A833E-1039-57BD-FB3E-3FF6CDFE3F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FCE099A-4C5F-5942-AFE1-B5F760567DE8}" type="slidenum">
              <a:rPr lang="en-US" altLang="en-US" smtClean="0"/>
              <a:pPr>
                <a:spcBef>
                  <a:spcPct val="0"/>
                </a:spcBef>
              </a:pPr>
              <a:t>30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0948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0483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6203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295400"/>
            <a:ext cx="44958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4958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5813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324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6979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1297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82846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57322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992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381000"/>
            <a:ext cx="2286000" cy="6019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381000"/>
            <a:ext cx="6705600" cy="6019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61476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81000"/>
            <a:ext cx="9144000" cy="838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0" y="1295400"/>
            <a:ext cx="9144000" cy="5105400"/>
          </a:xfrm>
        </p:spPr>
        <p:txBody>
          <a:bodyPr/>
          <a:lstStyle/>
          <a:p>
            <a:pPr lvl="0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817365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">
            <a:extLst>
              <a:ext uri="{FF2B5EF4-FFF2-40B4-BE49-F238E27FC236}">
                <a16:creationId xmlns:a16="http://schemas.microsoft.com/office/drawing/2014/main" id="{289C0528-3A09-12F4-86CF-9511E5C0F3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6324600"/>
            <a:ext cx="465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7">
            <a:extLst>
              <a:ext uri="{FF2B5EF4-FFF2-40B4-BE49-F238E27FC236}">
                <a16:creationId xmlns:a16="http://schemas.microsoft.com/office/drawing/2014/main" id="{1598943B-50E9-5403-5F66-F5F4826A61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381000"/>
            <a:ext cx="9144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8">
            <a:extLst>
              <a:ext uri="{FF2B5EF4-FFF2-40B4-BE49-F238E27FC236}">
                <a16:creationId xmlns:a16="http://schemas.microsoft.com/office/drawing/2014/main" id="{537E1C22-4BE1-84C7-7EA9-CC50C4631D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1295400"/>
            <a:ext cx="91440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Text Box 9">
            <a:extLst>
              <a:ext uri="{FF2B5EF4-FFF2-40B4-BE49-F238E27FC236}">
                <a16:creationId xmlns:a16="http://schemas.microsoft.com/office/drawing/2014/main" id="{E6F82393-58F2-29D9-BF12-549A1F03009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14400" y="6400800"/>
            <a:ext cx="7239000" cy="307975"/>
          </a:xfrm>
          <a:prstGeom prst="rect">
            <a:avLst/>
          </a:prstGeom>
          <a:solidFill>
            <a:srgbClr val="61FFA8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en-US" sz="1400" b="1"/>
              <a:t>Ghulam Ishaq Khan Institute of Engineering Sciences and Technology, Topi</a:t>
            </a:r>
          </a:p>
        </p:txBody>
      </p:sp>
      <p:sp>
        <p:nvSpPr>
          <p:cNvPr id="1030" name="Text Box 10">
            <a:extLst>
              <a:ext uri="{FF2B5EF4-FFF2-40B4-BE49-F238E27FC236}">
                <a16:creationId xmlns:a16="http://schemas.microsoft.com/office/drawing/2014/main" id="{D5A2F0D5-4754-073E-5881-123DF77F0E8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0"/>
            <a:ext cx="9144000" cy="376238"/>
          </a:xfrm>
          <a:prstGeom prst="rect">
            <a:avLst/>
          </a:prstGeom>
          <a:solidFill>
            <a:srgbClr val="61FFA8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b="1" dirty="0"/>
              <a:t>Lecture : Inheritance</a:t>
            </a:r>
          </a:p>
        </p:txBody>
      </p:sp>
      <p:sp>
        <p:nvSpPr>
          <p:cNvPr id="1031" name="Text Box 11">
            <a:extLst>
              <a:ext uri="{FF2B5EF4-FFF2-40B4-BE49-F238E27FC236}">
                <a16:creationId xmlns:a16="http://schemas.microsoft.com/office/drawing/2014/main" id="{720B5478-9B5C-29EF-17D8-4AA9980346C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724400" y="0"/>
            <a:ext cx="4419600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b="1" dirty="0">
                <a:latin typeface="Arial" charset="0"/>
              </a:rPr>
              <a:t>CS 112: Object-Oriented Programming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Title 1">
            <a:extLst>
              <a:ext uri="{FF2B5EF4-FFF2-40B4-BE49-F238E27FC236}">
                <a16:creationId xmlns:a16="http://schemas.microsoft.com/office/drawing/2014/main" id="{A0495495-C785-DF96-16F6-AED6215ED4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Member Initializer List</a:t>
            </a:r>
          </a:p>
        </p:txBody>
      </p:sp>
      <p:sp>
        <p:nvSpPr>
          <p:cNvPr id="86018" name="Content Placeholder 2">
            <a:extLst>
              <a:ext uri="{FF2B5EF4-FFF2-40B4-BE49-F238E27FC236}">
                <a16:creationId xmlns:a16="http://schemas.microsoft.com/office/drawing/2014/main" id="{507CFC58-2375-62FA-6A66-BE3B60D6C7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You have used initializer lists with arrays</a:t>
            </a:r>
          </a:p>
          <a:p>
            <a:pPr marL="300038" lvl="1" indent="0">
              <a:buFontTx/>
              <a:buNone/>
            </a:pPr>
            <a:endParaRPr lang="en-US" altLang="en-US">
              <a:latin typeface="Consolas" panose="020B0609020204030204" pitchFamily="49" charset="0"/>
            </a:endParaRPr>
          </a:p>
          <a:p>
            <a:pPr marL="300038" lvl="1" indent="0">
              <a:buFontTx/>
              <a:buNone/>
            </a:pPr>
            <a:r>
              <a:rPr lang="en-US" altLang="en-US">
                <a:latin typeface="Consolas" panose="020B0609020204030204" pitchFamily="49" charset="0"/>
              </a:rPr>
              <a:t>int arr[] = {1,2,3,4,5};</a:t>
            </a:r>
          </a:p>
          <a:p>
            <a:endParaRPr lang="en-US" altLang="en-US">
              <a:latin typeface="Consolas" panose="020B0609020204030204" pitchFamily="49" charset="0"/>
            </a:endParaRPr>
          </a:p>
          <a:p>
            <a:r>
              <a:rPr lang="en-US" altLang="en-US"/>
              <a:t>The </a:t>
            </a:r>
            <a:r>
              <a:rPr lang="en-US" altLang="en-US">
                <a:solidFill>
                  <a:srgbClr val="0070C0"/>
                </a:solidFill>
              </a:rPr>
              <a:t>data members</a:t>
            </a:r>
            <a:r>
              <a:rPr lang="en-US" altLang="en-US"/>
              <a:t> of a class can also be initialized using an </a:t>
            </a:r>
            <a:r>
              <a:rPr lang="en-US" altLang="en-US">
                <a:solidFill>
                  <a:srgbClr val="0070C0"/>
                </a:solidFill>
              </a:rPr>
              <a:t>initializer list </a:t>
            </a:r>
            <a:r>
              <a:rPr lang="en-US" altLang="en-US"/>
              <a:t>with the </a:t>
            </a:r>
            <a:r>
              <a:rPr lang="en-US" altLang="en-US">
                <a:solidFill>
                  <a:srgbClr val="FF0000"/>
                </a:solidFill>
              </a:rPr>
              <a:t>constructor</a:t>
            </a:r>
          </a:p>
        </p:txBody>
      </p:sp>
      <p:sp>
        <p:nvSpPr>
          <p:cNvPr id="86020" name="Slide Number Placeholder 4">
            <a:extLst>
              <a:ext uri="{FF2B5EF4-FFF2-40B4-BE49-F238E27FC236}">
                <a16:creationId xmlns:a16="http://schemas.microsoft.com/office/drawing/2014/main" id="{3001AEEB-5C5A-0693-D3EF-CE2D4B87E354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3ABEAB0B-1981-0149-987E-7E959894CEED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Title 1">
            <a:extLst>
              <a:ext uri="{FF2B5EF4-FFF2-40B4-BE49-F238E27FC236}">
                <a16:creationId xmlns:a16="http://schemas.microsoft.com/office/drawing/2014/main" id="{62D00E67-9649-024D-9678-565B20183A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Member Initializer List</a:t>
            </a:r>
          </a:p>
        </p:txBody>
      </p:sp>
      <p:sp>
        <p:nvSpPr>
          <p:cNvPr id="87042" name="Content Placeholder 2">
            <a:extLst>
              <a:ext uri="{FF2B5EF4-FFF2-40B4-BE49-F238E27FC236}">
                <a16:creationId xmlns:a16="http://schemas.microsoft.com/office/drawing/2014/main" id="{3E32D9B4-7F6F-7631-AC7C-0951707925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066800"/>
            <a:ext cx="7315200" cy="5105400"/>
          </a:xfrm>
        </p:spPr>
        <p:txBody>
          <a:bodyPr/>
          <a:lstStyle/>
          <a:p>
            <a:pPr marL="0" indent="0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>
                <a:solidFill>
                  <a:srgbClr val="2B91AF"/>
                </a:solidFill>
                <a:latin typeface="Consolas" panose="020B0609020204030204" pitchFamily="49" charset="0"/>
              </a:rPr>
              <a:t>Test</a:t>
            </a:r>
            <a: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nsolas" panose="020B0609020204030204" pitchFamily="49" charset="0"/>
              </a:rPr>
              <a:t>	int</a:t>
            </a:r>
            <a: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> marks;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nsolas" panose="020B0609020204030204" pitchFamily="49" charset="0"/>
              </a:rPr>
              <a:t>	int</a:t>
            </a:r>
            <a: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> total;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en-US" altLang="en-US" sz="16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8000"/>
                </a:solidFill>
                <a:latin typeface="Consolas" panose="020B0609020204030204" pitchFamily="49" charset="0"/>
              </a:rPr>
              <a:t>//inline with initializer list</a:t>
            </a:r>
            <a:endParaRPr lang="en-US" altLang="en-US" sz="16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>Test() : marks(0),total(0) {} </a:t>
            </a:r>
            <a:r>
              <a:rPr lang="en-US" altLang="en-US" sz="1600">
                <a:solidFill>
                  <a:srgbClr val="008000"/>
                </a:solidFill>
                <a:latin typeface="Consolas" panose="020B0609020204030204" pitchFamily="49" charset="0"/>
              </a:rPr>
              <a:t>//default constructor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en-US" altLang="en-US" sz="16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>Test(</a:t>
            </a:r>
            <a:r>
              <a:rPr lang="en-US" altLang="en-US" sz="16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>
                <a:solidFill>
                  <a:srgbClr val="808080"/>
                </a:solidFill>
                <a:latin typeface="Consolas" panose="020B0609020204030204" pitchFamily="49" charset="0"/>
              </a:rPr>
              <a:t>m</a:t>
            </a:r>
            <a: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16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>
                <a:solidFill>
                  <a:srgbClr val="808080"/>
                </a:solidFill>
                <a:latin typeface="Consolas" panose="020B0609020204030204" pitchFamily="49" charset="0"/>
              </a:rPr>
              <a:t>t</a:t>
            </a:r>
            <a: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>) : marks(</a:t>
            </a:r>
            <a:r>
              <a:rPr lang="en-US" altLang="en-US" sz="1600">
                <a:solidFill>
                  <a:srgbClr val="808080"/>
                </a:solidFill>
                <a:latin typeface="Consolas" panose="020B0609020204030204" pitchFamily="49" charset="0"/>
              </a:rPr>
              <a:t>m</a:t>
            </a:r>
            <a: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>), total(</a:t>
            </a:r>
            <a:r>
              <a:rPr lang="en-US" altLang="en-US" sz="1600">
                <a:solidFill>
                  <a:srgbClr val="808080"/>
                </a:solidFill>
                <a:latin typeface="Consolas" panose="020B0609020204030204" pitchFamily="49" charset="0"/>
              </a:rPr>
              <a:t>t</a:t>
            </a:r>
            <a: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>) {}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en-US" altLang="en-US" sz="16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> getMarks() {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nsolas" panose="020B0609020204030204" pitchFamily="49" charset="0"/>
              </a:rPr>
              <a:t>	return</a:t>
            </a:r>
            <a: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> marks;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> getTotal() {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nsolas" panose="020B0609020204030204" pitchFamily="49" charset="0"/>
              </a:rPr>
              <a:t>	return</a:t>
            </a:r>
            <a: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> total;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87044" name="Slide Number Placeholder 4">
            <a:extLst>
              <a:ext uri="{FF2B5EF4-FFF2-40B4-BE49-F238E27FC236}">
                <a16:creationId xmlns:a16="http://schemas.microsoft.com/office/drawing/2014/main" id="{750168FF-37E8-91ED-20D3-50EFCCB062E3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14FC442C-B72D-2C4F-8FBC-D95703CD4D84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Title 1">
            <a:extLst>
              <a:ext uri="{FF2B5EF4-FFF2-40B4-BE49-F238E27FC236}">
                <a16:creationId xmlns:a16="http://schemas.microsoft.com/office/drawing/2014/main" id="{6BE15406-D7BB-0E53-92CB-22CFF247F8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Member Initializer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C4632-46A1-1FA3-50B6-DC97F3E1DC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686800" cy="5105400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FontTx/>
              <a:buNone/>
              <a:defRPr/>
            </a:pP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2B91AF"/>
                </a:solidFill>
                <a:latin typeface="Consolas" panose="020B0609020204030204" pitchFamily="49" charset="0"/>
              </a:rPr>
              <a:t>Test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Tx/>
              <a:buNone/>
              <a:defRPr/>
            </a:pP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	int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marks;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Tx/>
              <a:buNone/>
              <a:defRPr/>
            </a:pP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	int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total;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Tx/>
              <a:buNone/>
              <a:defRPr/>
            </a:pPr>
            <a:endParaRPr lang="en-PK" sz="2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FontTx/>
              <a:buNone/>
              <a:defRPr/>
            </a:pP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Tx/>
              <a:buNone/>
              <a:defRPr/>
            </a:pP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	Test(); </a:t>
            </a:r>
            <a:r>
              <a:rPr lang="en-US" sz="2100" dirty="0">
                <a:solidFill>
                  <a:srgbClr val="008000"/>
                </a:solidFill>
                <a:latin typeface="Consolas" panose="020B0609020204030204" pitchFamily="49" charset="0"/>
              </a:rPr>
              <a:t>//prototype</a:t>
            </a:r>
            <a:endParaRPr lang="en-US" sz="2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FontTx/>
              <a:buNone/>
              <a:defRPr/>
            </a:pP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	Test(</a:t>
            </a: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); </a:t>
            </a:r>
            <a:r>
              <a:rPr lang="en-US" sz="2100" dirty="0">
                <a:solidFill>
                  <a:srgbClr val="008000"/>
                </a:solidFill>
                <a:latin typeface="Consolas" panose="020B0609020204030204" pitchFamily="49" charset="0"/>
              </a:rPr>
              <a:t>//prototype</a:t>
            </a:r>
            <a:endParaRPr lang="en-US" sz="2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FontTx/>
              <a:buNone/>
              <a:defRPr/>
            </a:pP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 err="1">
                <a:solidFill>
                  <a:srgbClr val="000000"/>
                </a:solidFill>
                <a:latin typeface="Consolas" panose="020B0609020204030204" pitchFamily="49" charset="0"/>
              </a:rPr>
              <a:t>getMarks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Tx/>
              <a:buNone/>
              <a:defRPr/>
            </a:pP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	return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marks;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Tx/>
              <a:buNone/>
              <a:defRPr/>
            </a:pPr>
            <a:r>
              <a:rPr lang="en-PK" sz="21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Tx/>
              <a:buNone/>
              <a:defRPr/>
            </a:pP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 err="1">
                <a:solidFill>
                  <a:srgbClr val="000000"/>
                </a:solidFill>
                <a:latin typeface="Consolas" panose="020B0609020204030204" pitchFamily="49" charset="0"/>
              </a:rPr>
              <a:t>getTotal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Tx/>
              <a:buNone/>
              <a:defRPr/>
            </a:pP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	return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total;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Tx/>
              <a:buNone/>
              <a:defRPr/>
            </a:pP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PK" sz="21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Tx/>
              <a:buNone/>
              <a:defRPr/>
            </a:pPr>
            <a:r>
              <a:rPr lang="en-PK" sz="21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Tx/>
              <a:buNone/>
              <a:defRPr/>
            </a:pPr>
            <a:r>
              <a:rPr lang="en-US" sz="2100" dirty="0">
                <a:solidFill>
                  <a:srgbClr val="008000"/>
                </a:solidFill>
                <a:latin typeface="Consolas" panose="020B0609020204030204" pitchFamily="49" charset="0"/>
              </a:rPr>
              <a:t>//out of line with initializer list</a:t>
            </a:r>
            <a:endParaRPr lang="en-US" sz="2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FontTx/>
              <a:buNone/>
              <a:defRPr/>
            </a:pPr>
            <a:r>
              <a:rPr lang="en-US" sz="2100" dirty="0">
                <a:solidFill>
                  <a:srgbClr val="2B91AF"/>
                </a:solidFill>
                <a:latin typeface="Consolas" panose="020B0609020204030204" pitchFamily="49" charset="0"/>
              </a:rPr>
              <a:t>Test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::Test() :</a:t>
            </a:r>
            <a:r>
              <a:rPr lang="en-US" sz="2100" b="1" dirty="0">
                <a:solidFill>
                  <a:srgbClr val="FF0000"/>
                </a:solidFill>
                <a:latin typeface="Consolas" panose="020B0609020204030204" pitchFamily="49" charset="0"/>
              </a:rPr>
              <a:t>marks(0), total(0) 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{}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Tx/>
              <a:buNone/>
              <a:defRPr/>
            </a:pPr>
            <a:r>
              <a:rPr lang="en-US" sz="2100" dirty="0">
                <a:solidFill>
                  <a:srgbClr val="2B91AF"/>
                </a:solidFill>
                <a:latin typeface="Consolas" panose="020B0609020204030204" pitchFamily="49" charset="0"/>
              </a:rPr>
              <a:t>Test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::Test(</a:t>
            </a: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 err="1">
                <a:solidFill>
                  <a:srgbClr val="808080"/>
                </a:solidFill>
                <a:latin typeface="Consolas" panose="020B0609020204030204" pitchFamily="49" charset="0"/>
              </a:rPr>
              <a:t>m</a:t>
            </a:r>
            <a:r>
              <a:rPr lang="en-US" sz="2100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21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808080"/>
                </a:solidFill>
                <a:latin typeface="Consolas" panose="020B0609020204030204" pitchFamily="49" charset="0"/>
              </a:rPr>
              <a:t>t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): </a:t>
            </a:r>
            <a:r>
              <a:rPr lang="en-US" sz="2100" b="1" dirty="0">
                <a:solidFill>
                  <a:srgbClr val="FF0000"/>
                </a:solidFill>
                <a:latin typeface="Consolas" panose="020B0609020204030204" pitchFamily="49" charset="0"/>
              </a:rPr>
              <a:t>marks(m), total(t) 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{}</a:t>
            </a:r>
          </a:p>
        </p:txBody>
      </p:sp>
      <p:sp>
        <p:nvSpPr>
          <p:cNvPr id="88068" name="Slide Number Placeholder 4">
            <a:extLst>
              <a:ext uri="{FF2B5EF4-FFF2-40B4-BE49-F238E27FC236}">
                <a16:creationId xmlns:a16="http://schemas.microsoft.com/office/drawing/2014/main" id="{B9ED8F24-2AD6-967B-DFCB-43C8C49BBC3A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19161014-7FE0-FE42-97DF-622A90B5CF77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Title 1">
            <a:extLst>
              <a:ext uri="{FF2B5EF4-FFF2-40B4-BE49-F238E27FC236}">
                <a16:creationId xmlns:a16="http://schemas.microsoft.com/office/drawing/2014/main" id="{6E833474-D287-8715-6E94-1167E212EB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When to use Member Initializer List</a:t>
            </a:r>
          </a:p>
        </p:txBody>
      </p:sp>
      <p:sp>
        <p:nvSpPr>
          <p:cNvPr id="90114" name="Content Placeholder 2">
            <a:extLst>
              <a:ext uri="{FF2B5EF4-FFF2-40B4-BE49-F238E27FC236}">
                <a16:creationId xmlns:a16="http://schemas.microsoft.com/office/drawing/2014/main" id="{E5B81D7E-18D8-6F5C-2A36-00A219D956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1295400"/>
            <a:ext cx="8763000" cy="5105400"/>
          </a:xfrm>
        </p:spPr>
        <p:txBody>
          <a:bodyPr/>
          <a:lstStyle/>
          <a:p>
            <a:r>
              <a:rPr lang="en-US" altLang="en-US"/>
              <a:t>You </a:t>
            </a:r>
            <a:r>
              <a:rPr lang="en-US" altLang="en-US">
                <a:solidFill>
                  <a:srgbClr val="0070C0"/>
                </a:solidFill>
              </a:rPr>
              <a:t>can use </a:t>
            </a:r>
            <a:r>
              <a:rPr lang="en-US" altLang="en-US"/>
              <a:t>initializer list to initialize member variables  but it is not necessary</a:t>
            </a:r>
          </a:p>
          <a:p>
            <a:endParaRPr lang="en-US" altLang="en-US"/>
          </a:p>
          <a:p>
            <a:r>
              <a:rPr lang="en-US" altLang="en-US"/>
              <a:t>But you </a:t>
            </a:r>
            <a:r>
              <a:rPr lang="en-US" altLang="en-US" b="1" u="sng">
                <a:solidFill>
                  <a:srgbClr val="FF0000"/>
                </a:solidFill>
              </a:rPr>
              <a:t>must use</a:t>
            </a:r>
            <a:r>
              <a:rPr lang="en-US" altLang="en-US" b="1">
                <a:solidFill>
                  <a:srgbClr val="FF0000"/>
                </a:solidFill>
              </a:rPr>
              <a:t> </a:t>
            </a:r>
            <a:r>
              <a:rPr lang="en-US" altLang="en-US"/>
              <a:t>an initializer list for</a:t>
            </a:r>
          </a:p>
          <a:p>
            <a:pPr lvl="1">
              <a:buFontTx/>
              <a:buChar char="•"/>
            </a:pPr>
            <a:r>
              <a:rPr lang="en-US" altLang="en-US"/>
              <a:t>Initializing a </a:t>
            </a:r>
            <a:r>
              <a:rPr lang="en-US" altLang="en-US">
                <a:solidFill>
                  <a:srgbClr val="0070C0"/>
                </a:solidFill>
              </a:rPr>
              <a:t>constant data member</a:t>
            </a:r>
          </a:p>
          <a:p>
            <a:pPr lvl="1">
              <a:buFontTx/>
              <a:buChar char="•"/>
            </a:pPr>
            <a:r>
              <a:rPr lang="en-US" altLang="en-US"/>
              <a:t>Initializing a </a:t>
            </a:r>
            <a:r>
              <a:rPr lang="en-US" altLang="en-US">
                <a:solidFill>
                  <a:srgbClr val="0070C0"/>
                </a:solidFill>
              </a:rPr>
              <a:t>reference member</a:t>
            </a:r>
          </a:p>
        </p:txBody>
      </p:sp>
      <p:sp>
        <p:nvSpPr>
          <p:cNvPr id="90115" name="Footer Placeholder 3">
            <a:extLst>
              <a:ext uri="{FF2B5EF4-FFF2-40B4-BE49-F238E27FC236}">
                <a16:creationId xmlns:a16="http://schemas.microsoft.com/office/drawing/2014/main" id="{3E8FE077-7C64-365D-DCB7-4FC7CEE0CC0A}"/>
              </a:ext>
            </a:extLst>
          </p:cNvPr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Object Oriented Programming-Spring 23</a:t>
            </a:r>
          </a:p>
        </p:txBody>
      </p:sp>
      <p:sp>
        <p:nvSpPr>
          <p:cNvPr id="90116" name="Slide Number Placeholder 4">
            <a:extLst>
              <a:ext uri="{FF2B5EF4-FFF2-40B4-BE49-F238E27FC236}">
                <a16:creationId xmlns:a16="http://schemas.microsoft.com/office/drawing/2014/main" id="{761C3591-0D67-263C-C726-06158343F617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DFE18479-546F-0A4D-B327-F7E197B767AF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Title 1">
            <a:extLst>
              <a:ext uri="{FF2B5EF4-FFF2-40B4-BE49-F238E27FC236}">
                <a16:creationId xmlns:a16="http://schemas.microsoft.com/office/drawing/2014/main" id="{BB4871A9-2F49-7BAA-A5D9-8EEF8B3F10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FF0000"/>
                </a:solidFill>
                <a:latin typeface="Courier" panose="02070309020205020404" pitchFamily="49" charset="0"/>
              </a:rPr>
              <a:t>const</a:t>
            </a:r>
            <a:r>
              <a:rPr lang="en-US" altLang="en-US"/>
              <a:t> Class Members</a:t>
            </a:r>
          </a:p>
        </p:txBody>
      </p:sp>
      <p:sp>
        <p:nvSpPr>
          <p:cNvPr id="91138" name="Content Placeholder 2">
            <a:extLst>
              <a:ext uri="{FF2B5EF4-FFF2-40B4-BE49-F238E27FC236}">
                <a16:creationId xmlns:a16="http://schemas.microsoft.com/office/drawing/2014/main" id="{462B17F1-B0EF-C9BC-F909-A4D94345F1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As with member functions, </a:t>
            </a:r>
            <a:r>
              <a:rPr lang="en-US" altLang="en-US" dirty="0">
                <a:solidFill>
                  <a:srgbClr val="0070C0"/>
                </a:solidFill>
              </a:rPr>
              <a:t>data members </a:t>
            </a:r>
            <a:r>
              <a:rPr lang="en-US" altLang="en-US" dirty="0"/>
              <a:t>can also be </a:t>
            </a:r>
            <a:r>
              <a:rPr lang="en-US" altLang="en-US" b="1" i="1" dirty="0">
                <a:solidFill>
                  <a:srgbClr val="0070C0"/>
                </a:solidFill>
              </a:rPr>
              <a:t>const</a:t>
            </a:r>
          </a:p>
          <a:p>
            <a:pPr algn="just"/>
            <a:endParaRPr lang="en-US" altLang="en-US" dirty="0"/>
          </a:p>
          <a:p>
            <a:pPr algn="just"/>
            <a:r>
              <a:rPr lang="en-US" altLang="en-US" dirty="0"/>
              <a:t>Constant members </a:t>
            </a:r>
            <a:r>
              <a:rPr lang="en-US" altLang="en-US" b="1" dirty="0">
                <a:solidFill>
                  <a:srgbClr val="0070C0"/>
                </a:solidFill>
              </a:rPr>
              <a:t>must be initialized using member initializer list</a:t>
            </a:r>
          </a:p>
          <a:p>
            <a:endParaRPr lang="en-US" altLang="en-US" dirty="0"/>
          </a:p>
        </p:txBody>
      </p:sp>
      <p:sp>
        <p:nvSpPr>
          <p:cNvPr id="91140" name="Slide Number Placeholder 4">
            <a:extLst>
              <a:ext uri="{FF2B5EF4-FFF2-40B4-BE49-F238E27FC236}">
                <a16:creationId xmlns:a16="http://schemas.microsoft.com/office/drawing/2014/main" id="{80D4820F-1298-33CA-547F-176A8459B883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1FADFD6E-1121-6F49-B66D-91DF7F13284F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Title 1">
            <a:extLst>
              <a:ext uri="{FF2B5EF4-FFF2-40B4-BE49-F238E27FC236}">
                <a16:creationId xmlns:a16="http://schemas.microsoft.com/office/drawing/2014/main" id="{47490326-DC2A-16A9-5250-F7F3F57CF2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Member Initializer List (non-static const)</a:t>
            </a:r>
          </a:p>
        </p:txBody>
      </p:sp>
      <p:sp>
        <p:nvSpPr>
          <p:cNvPr id="92162" name="Slide Number Placeholder 4">
            <a:extLst>
              <a:ext uri="{FF2B5EF4-FFF2-40B4-BE49-F238E27FC236}">
                <a16:creationId xmlns:a16="http://schemas.microsoft.com/office/drawing/2014/main" id="{2C348B72-089B-E292-5D30-2C80F7674ACC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679BD66E-9597-4C40-AC9A-C2CB1B6B8055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92163" name="Content Placeholder 5">
            <a:extLst>
              <a:ext uri="{FF2B5EF4-FFF2-40B4-BE49-F238E27FC236}">
                <a16:creationId xmlns:a16="http://schemas.microsoft.com/office/drawing/2014/main" id="{9142BACA-AD2A-3A33-43C4-3CD3C95A541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71600" y="1600200"/>
            <a:ext cx="6856413" cy="3856038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Title 1">
            <a:extLst>
              <a:ext uri="{FF2B5EF4-FFF2-40B4-BE49-F238E27FC236}">
                <a16:creationId xmlns:a16="http://schemas.microsoft.com/office/drawing/2014/main" id="{CEF051B5-AB93-F1C8-FF86-F9F950D141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Member Initializer List (References)</a:t>
            </a:r>
          </a:p>
        </p:txBody>
      </p:sp>
      <p:sp>
        <p:nvSpPr>
          <p:cNvPr id="93186" name="Slide Number Placeholder 4">
            <a:extLst>
              <a:ext uri="{FF2B5EF4-FFF2-40B4-BE49-F238E27FC236}">
                <a16:creationId xmlns:a16="http://schemas.microsoft.com/office/drawing/2014/main" id="{22B19686-7036-8B0C-715A-19AD8A0FA2DB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702B88C5-C16C-9849-96BB-6D5FA08A93B3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93187" name="Picture 2">
            <a:extLst>
              <a:ext uri="{FF2B5EF4-FFF2-40B4-BE49-F238E27FC236}">
                <a16:creationId xmlns:a16="http://schemas.microsoft.com/office/drawing/2014/main" id="{44A07D88-4DE0-239A-AECE-6FB60808BFC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20788" y="1600200"/>
            <a:ext cx="6702425" cy="4056063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Title 1">
            <a:extLst>
              <a:ext uri="{FF2B5EF4-FFF2-40B4-BE49-F238E27FC236}">
                <a16:creationId xmlns:a16="http://schemas.microsoft.com/office/drawing/2014/main" id="{0B9A4438-2968-7E23-1A92-65E090BB11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Member Initializer List </a:t>
            </a:r>
            <a:br>
              <a:rPr lang="en-US" altLang="en-US"/>
            </a:br>
            <a:r>
              <a:rPr lang="en-US" altLang="en-US"/>
              <a:t>(parameter name same as data member)</a:t>
            </a:r>
          </a:p>
        </p:txBody>
      </p:sp>
      <p:sp>
        <p:nvSpPr>
          <p:cNvPr id="94210" name="Slide Number Placeholder 4">
            <a:extLst>
              <a:ext uri="{FF2B5EF4-FFF2-40B4-BE49-F238E27FC236}">
                <a16:creationId xmlns:a16="http://schemas.microsoft.com/office/drawing/2014/main" id="{3FA42766-7155-CD54-1B99-18ECD0BE28DF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09F53A49-64B1-3D48-9B4B-0244013F2EE1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94211" name="Picture 4">
            <a:extLst>
              <a:ext uri="{FF2B5EF4-FFF2-40B4-BE49-F238E27FC236}">
                <a16:creationId xmlns:a16="http://schemas.microsoft.com/office/drawing/2014/main" id="{DFC1E4B8-CB7E-DEE0-C2AD-336EBE75C3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752600"/>
            <a:ext cx="6929438" cy="41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Title 1">
            <a:extLst>
              <a:ext uri="{FF2B5EF4-FFF2-40B4-BE49-F238E27FC236}">
                <a16:creationId xmlns:a16="http://schemas.microsoft.com/office/drawing/2014/main" id="{E094B542-195A-9A9C-C513-F5BC2C3260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altLang="en-US"/>
              <a:t> Objects</a:t>
            </a:r>
          </a:p>
        </p:txBody>
      </p:sp>
      <p:sp>
        <p:nvSpPr>
          <p:cNvPr id="95234" name="Content Placeholder 2">
            <a:extLst>
              <a:ext uri="{FF2B5EF4-FFF2-40B4-BE49-F238E27FC236}">
                <a16:creationId xmlns:a16="http://schemas.microsoft.com/office/drawing/2014/main" id="{77D32BB2-28B5-F168-773C-25DF817D70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1295400"/>
            <a:ext cx="8763000" cy="5105400"/>
          </a:xfrm>
        </p:spPr>
        <p:txBody>
          <a:bodyPr/>
          <a:lstStyle/>
          <a:p>
            <a:pPr>
              <a:spcBef>
                <a:spcPct val="0"/>
              </a:spcBef>
              <a:spcAft>
                <a:spcPts val="900"/>
              </a:spcAft>
            </a:pPr>
            <a:r>
              <a:rPr lang="en-US" altLang="en-US">
                <a:solidFill>
                  <a:srgbClr val="FF0000"/>
                </a:solidFill>
              </a:rPr>
              <a:t>Read-only</a:t>
            </a:r>
            <a:r>
              <a:rPr lang="en-US" altLang="en-US"/>
              <a:t> objects</a:t>
            </a:r>
          </a:p>
          <a:p>
            <a:pPr lvl="1" algn="just">
              <a:spcBef>
                <a:spcPts val="1800"/>
              </a:spcBef>
            </a:pPr>
            <a:r>
              <a:rPr lang="en-US" altLang="en-US"/>
              <a:t>Object data members can only be read, </a:t>
            </a:r>
            <a:r>
              <a:rPr lang="en-US" altLang="en-US">
                <a:solidFill>
                  <a:srgbClr val="0070C0"/>
                </a:solidFill>
              </a:rPr>
              <a:t>NO write/update of data member allowed</a:t>
            </a:r>
          </a:p>
          <a:p>
            <a:pPr lvl="1" algn="just">
              <a:spcBef>
                <a:spcPts val="1800"/>
              </a:spcBef>
            </a:pPr>
            <a:r>
              <a:rPr lang="en-US" altLang="en-US"/>
              <a:t>Requires </a:t>
            </a:r>
            <a:r>
              <a:rPr lang="en-US" altLang="en-US">
                <a:solidFill>
                  <a:srgbClr val="0070C0"/>
                </a:solidFill>
              </a:rPr>
              <a:t>all member functions be const</a:t>
            </a:r>
            <a:r>
              <a:rPr lang="en-US" altLang="en-US"/>
              <a:t> (except constructors and destructors)</a:t>
            </a:r>
          </a:p>
          <a:p>
            <a:pPr lvl="1" algn="just">
              <a:spcBef>
                <a:spcPts val="1800"/>
              </a:spcBef>
            </a:pPr>
            <a:r>
              <a:rPr lang="en-US" altLang="en-US"/>
              <a:t>const object must be initialized (using constructors) at the </a:t>
            </a:r>
            <a:r>
              <a:rPr lang="en-US" altLang="en-US">
                <a:solidFill>
                  <a:srgbClr val="0070C0"/>
                </a:solidFill>
              </a:rPr>
              <a:t>time of object creation</a:t>
            </a:r>
          </a:p>
          <a:p>
            <a:endParaRPr lang="en-US" altLang="en-US"/>
          </a:p>
        </p:txBody>
      </p:sp>
      <p:sp>
        <p:nvSpPr>
          <p:cNvPr id="95235" name="Slide Number Placeholder 4">
            <a:extLst>
              <a:ext uri="{FF2B5EF4-FFF2-40B4-BE49-F238E27FC236}">
                <a16:creationId xmlns:a16="http://schemas.microsoft.com/office/drawing/2014/main" id="{FF75993E-35D3-4F48-FA0A-A140FC875BED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555BBACA-FBAC-9549-9746-14093F126BF8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6" name="Picture 1">
            <a:extLst>
              <a:ext uri="{FF2B5EF4-FFF2-40B4-BE49-F238E27FC236}">
                <a16:creationId xmlns:a16="http://schemas.microsoft.com/office/drawing/2014/main" id="{339FB925-EF50-9FF1-5C51-6C080379BA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875" y="5189538"/>
            <a:ext cx="657225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Title 1">
            <a:extLst>
              <a:ext uri="{FF2B5EF4-FFF2-40B4-BE49-F238E27FC236}">
                <a16:creationId xmlns:a16="http://schemas.microsoft.com/office/drawing/2014/main" id="{72EE73FF-D52E-D969-D729-132BE4E6EF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const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0EC3E-2FA6-FCAA-9485-2FC4FF89B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295400"/>
            <a:ext cx="8915400" cy="5105400"/>
          </a:xfrm>
        </p:spPr>
        <p:txBody>
          <a:bodyPr/>
          <a:lstStyle/>
          <a:p>
            <a:pPr algn="just">
              <a:spcBef>
                <a:spcPct val="0"/>
              </a:spcBef>
              <a:spcAft>
                <a:spcPts val="900"/>
              </a:spcAft>
              <a:defRPr/>
            </a:pPr>
            <a:r>
              <a:rPr lang="en-US" altLang="en-PK" dirty="0">
                <a:solidFill>
                  <a:srgbClr val="0070C0"/>
                </a:solidFill>
              </a:rPr>
              <a:t>const </a:t>
            </a:r>
            <a:r>
              <a:rPr lang="en-US" altLang="en-PK" dirty="0"/>
              <a:t>property of an object goes into effect </a:t>
            </a:r>
            <a:r>
              <a:rPr lang="en-US" altLang="en-PK" dirty="0">
                <a:solidFill>
                  <a:srgbClr val="0070C0"/>
                </a:solidFill>
              </a:rPr>
              <a:t>after the constructor finishes executing</a:t>
            </a:r>
            <a:r>
              <a:rPr lang="en-US" altLang="en-PK" dirty="0"/>
              <a:t> and ends </a:t>
            </a:r>
            <a:r>
              <a:rPr lang="en-US" altLang="en-PK" dirty="0">
                <a:solidFill>
                  <a:srgbClr val="0070C0"/>
                </a:solidFill>
              </a:rPr>
              <a:t>before the class's destructor executes</a:t>
            </a:r>
          </a:p>
          <a:p>
            <a:pPr lvl="1">
              <a:spcBef>
                <a:spcPct val="0"/>
              </a:spcBef>
              <a:spcAft>
                <a:spcPts val="900"/>
              </a:spcAft>
              <a:defRPr/>
            </a:pPr>
            <a:r>
              <a:rPr lang="en-US" altLang="en-PK" dirty="0"/>
              <a:t>So the constructor and destructor can modify the object</a:t>
            </a:r>
          </a:p>
          <a:p>
            <a:pPr lvl="1" algn="just">
              <a:spcBef>
                <a:spcPct val="0"/>
              </a:spcBef>
              <a:spcAft>
                <a:spcPts val="900"/>
              </a:spcAft>
              <a:defRPr/>
            </a:pPr>
            <a:endParaRPr lang="en-US" altLang="en-PK" sz="1950" b="1" dirty="0"/>
          </a:p>
          <a:p>
            <a:pPr marL="342892" lvl="1" indent="0" algn="just">
              <a:spcBef>
                <a:spcPct val="0"/>
              </a:spcBef>
              <a:spcAft>
                <a:spcPts val="900"/>
              </a:spcAft>
              <a:buFontTx/>
              <a:buNone/>
              <a:defRPr/>
            </a:pPr>
            <a:endParaRPr lang="en-US" altLang="en-PK" b="1" dirty="0"/>
          </a:p>
        </p:txBody>
      </p:sp>
      <p:sp>
        <p:nvSpPr>
          <p:cNvPr id="97283" name="Slide Number Placeholder 4">
            <a:extLst>
              <a:ext uri="{FF2B5EF4-FFF2-40B4-BE49-F238E27FC236}">
                <a16:creationId xmlns:a16="http://schemas.microsoft.com/office/drawing/2014/main" id="{AAF482DC-C92B-1A16-1349-5853B271B0AC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74D07D19-8E5C-0347-B3DB-97EB24AA51EF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4DFB2-2596-4691-3FD0-066FE383D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i="1" dirty="0">
                <a:solidFill>
                  <a:srgbClr val="FF0000"/>
                </a:solidFill>
                <a:ea typeface="+mn-ea"/>
                <a:cs typeface="+mn-cs"/>
              </a:rPr>
              <a:t>friend</a:t>
            </a:r>
            <a:r>
              <a:rPr lang="en-US" altLang="en-US" dirty="0"/>
              <a:t> Functions</a:t>
            </a:r>
            <a:endParaRPr lang="en-PK" dirty="0"/>
          </a:p>
        </p:txBody>
      </p:sp>
      <p:sp>
        <p:nvSpPr>
          <p:cNvPr id="98306" name="Content Placeholder 2">
            <a:extLst>
              <a:ext uri="{FF2B5EF4-FFF2-40B4-BE49-F238E27FC236}">
                <a16:creationId xmlns:a16="http://schemas.microsoft.com/office/drawing/2014/main" id="{3355880D-134A-D7E1-B917-6B6819CE19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295400"/>
            <a:ext cx="8839200" cy="5105400"/>
          </a:xfrm>
        </p:spPr>
        <p:txBody>
          <a:bodyPr/>
          <a:lstStyle/>
          <a:p>
            <a:r>
              <a:rPr lang="en-US" altLang="en-US"/>
              <a:t>A </a:t>
            </a:r>
            <a:r>
              <a:rPr lang="en-US" altLang="en-US" b="1" i="1"/>
              <a:t>friend</a:t>
            </a:r>
            <a:r>
              <a:rPr lang="en-US" altLang="en-US"/>
              <a:t> function is a </a:t>
            </a:r>
            <a:r>
              <a:rPr lang="en-US" altLang="en-US">
                <a:solidFill>
                  <a:srgbClr val="0070C0"/>
                </a:solidFill>
              </a:rPr>
              <a:t>function</a:t>
            </a:r>
            <a:r>
              <a:rPr lang="en-US" altLang="en-US"/>
              <a:t> that is </a:t>
            </a:r>
            <a:r>
              <a:rPr lang="en-US" altLang="en-US">
                <a:solidFill>
                  <a:srgbClr val="FF0000"/>
                </a:solidFill>
              </a:rPr>
              <a:t>not a member of a class</a:t>
            </a:r>
            <a:r>
              <a:rPr lang="en-US" altLang="en-US"/>
              <a:t>, but </a:t>
            </a:r>
            <a:r>
              <a:rPr lang="en-US" altLang="en-US">
                <a:solidFill>
                  <a:srgbClr val="0070C0"/>
                </a:solidFill>
              </a:rPr>
              <a:t>has access to the private members </a:t>
            </a:r>
            <a:r>
              <a:rPr lang="en-US" altLang="en-US"/>
              <a:t>of the class</a:t>
            </a:r>
          </a:p>
          <a:p>
            <a:endParaRPr lang="en-US" altLang="en-US" sz="2100"/>
          </a:p>
          <a:p>
            <a:r>
              <a:rPr lang="en-US" altLang="en-US"/>
              <a:t>In other words, a friend function is treated as if it </a:t>
            </a:r>
            <a:r>
              <a:rPr lang="en-US" altLang="en-US">
                <a:solidFill>
                  <a:srgbClr val="0070C0"/>
                </a:solidFill>
              </a:rPr>
              <a:t>were a member of the class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A friend function can be a </a:t>
            </a:r>
            <a:r>
              <a:rPr lang="en-US" altLang="en-US">
                <a:solidFill>
                  <a:srgbClr val="0070C0"/>
                </a:solidFill>
              </a:rPr>
              <a:t>regular stand-alone function</a:t>
            </a:r>
            <a:r>
              <a:rPr lang="en-US" altLang="en-US"/>
              <a:t>, or it can be a </a:t>
            </a:r>
            <a:r>
              <a:rPr lang="en-US" altLang="en-US">
                <a:solidFill>
                  <a:srgbClr val="0070C0"/>
                </a:solidFill>
              </a:rPr>
              <a:t>member of another class</a:t>
            </a:r>
            <a:r>
              <a:rPr lang="en-US" altLang="en-US"/>
              <a:t>.</a:t>
            </a:r>
          </a:p>
          <a:p>
            <a:endParaRPr lang="en-US" altLang="en-US" sz="2100"/>
          </a:p>
          <a:p>
            <a:r>
              <a:rPr lang="en-US" altLang="en-US"/>
              <a:t>An entire class can also be declared a friend of another class</a:t>
            </a:r>
            <a:endParaRPr lang="en-US" altLang="en-US" sz="2100"/>
          </a:p>
        </p:txBody>
      </p:sp>
      <p:sp>
        <p:nvSpPr>
          <p:cNvPr id="98307" name="Slide Number Placeholder 4">
            <a:extLst>
              <a:ext uri="{FF2B5EF4-FFF2-40B4-BE49-F238E27FC236}">
                <a16:creationId xmlns:a16="http://schemas.microsoft.com/office/drawing/2014/main" id="{12B670CE-F6FD-E467-7FFA-CBF75C0926C2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7BA077A1-3EE6-AF42-90C0-2FFA36984EED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77C4E-B12B-2332-017D-8694C30D6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i="1" dirty="0">
                <a:solidFill>
                  <a:srgbClr val="FF0000"/>
                </a:solidFill>
                <a:ea typeface="+mn-ea"/>
                <a:cs typeface="+mn-cs"/>
              </a:rPr>
              <a:t>friend</a:t>
            </a:r>
            <a:r>
              <a:rPr lang="en-US" altLang="en-US" dirty="0"/>
              <a:t> Functions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46B80-9411-405B-95D1-9D6C66C75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295400"/>
            <a:ext cx="8915400" cy="51054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To declare a </a:t>
            </a:r>
            <a:r>
              <a:rPr lang="en-US" altLang="en-US" b="1" dirty="0">
                <a:solidFill>
                  <a:srgbClr val="0070C0"/>
                </a:solidFill>
                <a:latin typeface="Courier New" panose="02070309020205020404" pitchFamily="49" charset="0"/>
              </a:rPr>
              <a:t>friend</a:t>
            </a:r>
            <a:r>
              <a:rPr lang="en-US" altLang="en-US" dirty="0"/>
              <a:t> function</a:t>
            </a:r>
          </a:p>
          <a:p>
            <a:pPr lvl="2">
              <a:defRPr/>
            </a:pPr>
            <a:r>
              <a:rPr lang="en-US" altLang="en-US" dirty="0"/>
              <a:t>Type </a:t>
            </a:r>
            <a:r>
              <a:rPr lang="en-US" altLang="en-US" b="1" dirty="0">
                <a:latin typeface="Courier New" panose="02070309020205020404" pitchFamily="49" charset="0"/>
              </a:rPr>
              <a:t>friend</a:t>
            </a:r>
            <a:r>
              <a:rPr lang="en-US" altLang="en-US" dirty="0"/>
              <a:t> before the function prototype in the class that is giving friendship</a:t>
            </a:r>
          </a:p>
          <a:p>
            <a:pPr lvl="2">
              <a:defRPr/>
            </a:pPr>
            <a:endParaRPr lang="en-US" altLang="en-US" sz="2100" dirty="0"/>
          </a:p>
          <a:p>
            <a:pPr lvl="4">
              <a:buFontTx/>
              <a:buNone/>
              <a:defRPr/>
            </a:pP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</a:rPr>
              <a:t>friend</a:t>
            </a:r>
            <a:r>
              <a:rPr lang="en-US" altLang="en-US" sz="1800" b="1" dirty="0">
                <a:latin typeface="Courier New" panose="02070309020205020404" pitchFamily="49" charset="0"/>
              </a:rPr>
              <a:t> int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myFunction</a:t>
            </a:r>
            <a:r>
              <a:rPr lang="en-US" altLang="en-US" sz="1800" b="1" dirty="0">
                <a:latin typeface="Courier New" panose="02070309020205020404" pitchFamily="49" charset="0"/>
              </a:rPr>
              <a:t>( int );</a:t>
            </a:r>
          </a:p>
          <a:p>
            <a:pPr lvl="4">
              <a:buFontTx/>
              <a:buNone/>
              <a:defRPr/>
            </a:pPr>
            <a:endParaRPr lang="en-US" altLang="en-US" sz="1800" dirty="0"/>
          </a:p>
          <a:p>
            <a:pPr lvl="2">
              <a:defRPr/>
            </a:pPr>
            <a:r>
              <a:rPr lang="en-US" altLang="en-US" dirty="0"/>
              <a:t>should appear in the </a:t>
            </a:r>
            <a:r>
              <a:rPr lang="en-US" altLang="en-US" dirty="0">
                <a:solidFill>
                  <a:srgbClr val="0070C0"/>
                </a:solidFill>
              </a:rPr>
              <a:t>class giving friendship</a:t>
            </a:r>
          </a:p>
          <a:p>
            <a:pPr marL="685800" lvl="2" indent="0">
              <a:buFontTx/>
              <a:buNone/>
              <a:defRPr/>
            </a:pPr>
            <a:endParaRPr lang="en-US" altLang="en-US" sz="1500" dirty="0"/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endParaRPr lang="en-PK" dirty="0"/>
          </a:p>
        </p:txBody>
      </p:sp>
      <p:sp>
        <p:nvSpPr>
          <p:cNvPr id="99331" name="Slide Number Placeholder 4">
            <a:extLst>
              <a:ext uri="{FF2B5EF4-FFF2-40B4-BE49-F238E27FC236}">
                <a16:creationId xmlns:a16="http://schemas.microsoft.com/office/drawing/2014/main" id="{552708B4-B31D-24E9-5D61-E952CD1D690E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D3737544-5317-D84C-97AF-C1F8E6BAE334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14445-4DFB-C3B4-3CC5-D25322C7D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i="1" dirty="0">
                <a:solidFill>
                  <a:srgbClr val="FF0000"/>
                </a:solidFill>
                <a:ea typeface="+mn-ea"/>
                <a:cs typeface="+mn-cs"/>
              </a:rPr>
              <a:t>friend</a:t>
            </a:r>
            <a:r>
              <a:rPr lang="en-US" altLang="en-US" dirty="0"/>
              <a:t> Functions</a:t>
            </a:r>
            <a:endParaRPr lang="en-PK" dirty="0"/>
          </a:p>
        </p:txBody>
      </p:sp>
      <p:sp>
        <p:nvSpPr>
          <p:cNvPr id="100354" name="Content Placeholder 2">
            <a:extLst>
              <a:ext uri="{FF2B5EF4-FFF2-40B4-BE49-F238E27FC236}">
                <a16:creationId xmlns:a16="http://schemas.microsoft.com/office/drawing/2014/main" id="{1783370B-27AC-699B-1273-FAAC2ACF6D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295400"/>
            <a:ext cx="8839200" cy="5105400"/>
          </a:xfrm>
        </p:spPr>
        <p:txBody>
          <a:bodyPr/>
          <a:lstStyle/>
          <a:p>
            <a:pPr algn="just"/>
            <a:r>
              <a:rPr lang="en-US" altLang="en-US" b="1">
                <a:latin typeface="Courier New" panose="02070309020205020404" pitchFamily="49" charset="0"/>
              </a:rPr>
              <a:t>friend</a:t>
            </a:r>
            <a:r>
              <a:rPr lang="en-US" altLang="en-US"/>
              <a:t> functions</a:t>
            </a:r>
          </a:p>
          <a:p>
            <a:pPr lvl="1" algn="just"/>
            <a:r>
              <a:rPr lang="en-US" altLang="en-US"/>
              <a:t>Can access </a:t>
            </a:r>
            <a:r>
              <a:rPr lang="en-US" altLang="en-US" b="1">
                <a:solidFill>
                  <a:srgbClr val="0070C0"/>
                </a:solidFill>
                <a:latin typeface="Courier New" panose="02070309020205020404" pitchFamily="49" charset="0"/>
              </a:rPr>
              <a:t>private</a:t>
            </a:r>
            <a:r>
              <a:rPr lang="en-US" altLang="en-US"/>
              <a:t> members of another class</a:t>
            </a:r>
          </a:p>
          <a:p>
            <a:pPr algn="just"/>
            <a:endParaRPr lang="en-US" altLang="en-US" sz="2100"/>
          </a:p>
          <a:p>
            <a:pPr algn="just"/>
            <a:r>
              <a:rPr lang="en-US" altLang="en-US" u="sng"/>
              <a:t>Properties of friendship</a:t>
            </a:r>
          </a:p>
          <a:p>
            <a:pPr lvl="1" algn="just"/>
            <a:r>
              <a:rPr lang="en-US" altLang="en-US" sz="1800"/>
              <a:t>Friendship is granted, not taken</a:t>
            </a:r>
          </a:p>
          <a:p>
            <a:pPr lvl="1" algn="just"/>
            <a:r>
              <a:rPr lang="en-US" altLang="en-US" sz="1800">
                <a:solidFill>
                  <a:srgbClr val="0070C0"/>
                </a:solidFill>
              </a:rPr>
              <a:t>Not symmetric </a:t>
            </a:r>
            <a:r>
              <a:rPr lang="en-US" altLang="en-US" sz="1800"/>
              <a:t>(if </a:t>
            </a:r>
            <a:r>
              <a:rPr lang="en-US" altLang="en-US" sz="1800" b="1">
                <a:latin typeface="Courier New" panose="02070309020205020404" pitchFamily="49" charset="0"/>
              </a:rPr>
              <a:t>B</a:t>
            </a:r>
            <a:r>
              <a:rPr lang="en-US" altLang="en-US" sz="1800"/>
              <a:t> a </a:t>
            </a:r>
            <a:r>
              <a:rPr lang="en-US" altLang="en-US" sz="1800" b="1">
                <a:latin typeface="Courier New" panose="02070309020205020404" pitchFamily="49" charset="0"/>
              </a:rPr>
              <a:t>friend</a:t>
            </a:r>
            <a:r>
              <a:rPr lang="en-US" altLang="en-US" sz="1800"/>
              <a:t> of </a:t>
            </a:r>
            <a:r>
              <a:rPr lang="en-US" altLang="en-US" sz="1800" b="1">
                <a:latin typeface="Courier New" panose="02070309020205020404" pitchFamily="49" charset="0"/>
              </a:rPr>
              <a:t>A</a:t>
            </a:r>
            <a:r>
              <a:rPr lang="en-US" altLang="en-US" sz="1800"/>
              <a:t>, </a:t>
            </a:r>
            <a:r>
              <a:rPr lang="en-US" altLang="en-US" sz="1800" b="1">
                <a:latin typeface="Courier New" panose="02070309020205020404" pitchFamily="49" charset="0"/>
              </a:rPr>
              <a:t>A</a:t>
            </a:r>
            <a:r>
              <a:rPr lang="en-US" altLang="en-US" sz="1800"/>
              <a:t> not necessarily a </a:t>
            </a:r>
            <a:r>
              <a:rPr lang="en-US" altLang="en-US" sz="1800" b="1">
                <a:latin typeface="Courier New" panose="02070309020205020404" pitchFamily="49" charset="0"/>
              </a:rPr>
              <a:t>friend</a:t>
            </a:r>
            <a:r>
              <a:rPr lang="en-US" altLang="en-US" sz="1800"/>
              <a:t> of </a:t>
            </a:r>
            <a:r>
              <a:rPr lang="en-US" altLang="en-US" sz="1800" b="1">
                <a:latin typeface="Courier New" panose="02070309020205020404" pitchFamily="49" charset="0"/>
              </a:rPr>
              <a:t>B</a:t>
            </a:r>
            <a:r>
              <a:rPr lang="en-US" altLang="en-US" sz="1800"/>
              <a:t>) </a:t>
            </a:r>
          </a:p>
          <a:p>
            <a:pPr lvl="1" algn="just"/>
            <a:r>
              <a:rPr lang="en-US" altLang="en-US" sz="1800">
                <a:solidFill>
                  <a:srgbClr val="0070C0"/>
                </a:solidFill>
              </a:rPr>
              <a:t>Not transitive </a:t>
            </a:r>
            <a:r>
              <a:rPr lang="en-US" altLang="en-US" sz="1800"/>
              <a:t>(if </a:t>
            </a:r>
            <a:r>
              <a:rPr lang="en-US" altLang="en-US" sz="1800" b="1">
                <a:latin typeface="Courier New" panose="02070309020205020404" pitchFamily="49" charset="0"/>
              </a:rPr>
              <a:t>A</a:t>
            </a:r>
            <a:r>
              <a:rPr lang="en-US" altLang="en-US" sz="1800"/>
              <a:t> a </a:t>
            </a:r>
            <a:r>
              <a:rPr lang="en-US" altLang="en-US" sz="1800" b="1">
                <a:latin typeface="Courier New" panose="02070309020205020404" pitchFamily="49" charset="0"/>
              </a:rPr>
              <a:t>friend</a:t>
            </a:r>
            <a:r>
              <a:rPr lang="en-US" altLang="en-US" sz="1800"/>
              <a:t> of </a:t>
            </a:r>
            <a:r>
              <a:rPr lang="en-US" altLang="en-US" sz="1800" b="1">
                <a:latin typeface="Courier New" panose="02070309020205020404" pitchFamily="49" charset="0"/>
              </a:rPr>
              <a:t>B</a:t>
            </a:r>
            <a:r>
              <a:rPr lang="en-US" altLang="en-US" sz="1800"/>
              <a:t>, </a:t>
            </a:r>
            <a:r>
              <a:rPr lang="en-US" altLang="en-US" sz="1800" b="1">
                <a:latin typeface="Courier New" panose="02070309020205020404" pitchFamily="49" charset="0"/>
              </a:rPr>
              <a:t>B</a:t>
            </a:r>
            <a:r>
              <a:rPr lang="en-US" altLang="en-US" sz="1800"/>
              <a:t> a </a:t>
            </a:r>
            <a:r>
              <a:rPr lang="en-US" altLang="en-US" sz="1800" b="1">
                <a:latin typeface="Courier New" panose="02070309020205020404" pitchFamily="49" charset="0"/>
              </a:rPr>
              <a:t>friend</a:t>
            </a:r>
            <a:r>
              <a:rPr lang="en-US" altLang="en-US" sz="1800"/>
              <a:t> of </a:t>
            </a:r>
            <a:r>
              <a:rPr lang="en-US" altLang="en-US" sz="1800" b="1">
                <a:latin typeface="Courier New" panose="02070309020205020404" pitchFamily="49" charset="0"/>
              </a:rPr>
              <a:t>C</a:t>
            </a:r>
            <a:r>
              <a:rPr lang="en-US" altLang="en-US" sz="1800"/>
              <a:t>, </a:t>
            </a:r>
            <a:r>
              <a:rPr lang="en-US" altLang="en-US" sz="1800" b="1">
                <a:latin typeface="Courier New" panose="02070309020205020404" pitchFamily="49" charset="0"/>
              </a:rPr>
              <a:t>A</a:t>
            </a:r>
            <a:r>
              <a:rPr lang="en-US" altLang="en-US" sz="1800"/>
              <a:t> not necessarily a </a:t>
            </a:r>
            <a:r>
              <a:rPr lang="en-US" altLang="en-US" sz="1800" b="1">
                <a:latin typeface="Courier New" panose="02070309020205020404" pitchFamily="49" charset="0"/>
              </a:rPr>
              <a:t>friend</a:t>
            </a:r>
            <a:r>
              <a:rPr lang="en-US" altLang="en-US" sz="1800"/>
              <a:t> of </a:t>
            </a:r>
            <a:r>
              <a:rPr lang="en-US" altLang="en-US" sz="1800" b="1">
                <a:latin typeface="Courier New" panose="02070309020205020404" pitchFamily="49" charset="0"/>
              </a:rPr>
              <a:t>C</a:t>
            </a:r>
            <a:r>
              <a:rPr lang="en-US" altLang="en-US" sz="1800"/>
              <a:t>)</a:t>
            </a:r>
          </a:p>
        </p:txBody>
      </p:sp>
      <p:sp>
        <p:nvSpPr>
          <p:cNvPr id="100355" name="Slide Number Placeholder 4">
            <a:extLst>
              <a:ext uri="{FF2B5EF4-FFF2-40B4-BE49-F238E27FC236}">
                <a16:creationId xmlns:a16="http://schemas.microsoft.com/office/drawing/2014/main" id="{F97411F5-B3E1-E69D-F7C1-4731262972F7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7EB7C085-1C6C-8C48-AC1F-2E812A1A65C5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1807897-ED5B-9319-D5EA-12BC02C38601}"/>
              </a:ext>
            </a:extLst>
          </p:cNvPr>
          <p:cNvGrpSpPr>
            <a:grpSpLocks/>
          </p:cNvGrpSpPr>
          <p:nvPr/>
        </p:nvGrpSpPr>
        <p:grpSpPr bwMode="auto">
          <a:xfrm>
            <a:off x="971550" y="913648"/>
            <a:ext cx="5086350" cy="5031164"/>
            <a:chOff x="0" y="-65"/>
            <a:chExt cx="3072" cy="10976"/>
          </a:xfrm>
          <a:solidFill>
            <a:schemeClr val="bg1"/>
          </a:solidFill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F84406D-7851-480F-8ADA-1C82014F0B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-65"/>
              <a:ext cx="3072" cy="504"/>
              <a:chOff x="0" y="-65"/>
              <a:chExt cx="3072" cy="504"/>
            </a:xfrm>
            <a:grpFill/>
          </p:grpSpPr>
          <p:sp>
            <p:nvSpPr>
              <p:cNvPr id="93" name="Rectangle 5">
                <a:extLst>
                  <a:ext uri="{FF2B5EF4-FFF2-40B4-BE49-F238E27FC236}">
                    <a16:creationId xmlns:a16="http://schemas.microsoft.com/office/drawing/2014/main" id="{79CC2CD1-E601-0D7B-7BAE-FF454B3A3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-65"/>
                <a:ext cx="3072" cy="50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900"/>
              </a:p>
            </p:txBody>
          </p:sp>
          <p:sp>
            <p:nvSpPr>
              <p:cNvPr id="94" name="Rectangle 6">
                <a:extLst>
                  <a:ext uri="{FF2B5EF4-FFF2-40B4-BE49-F238E27FC236}">
                    <a16:creationId xmlns:a16="http://schemas.microsoft.com/office/drawing/2014/main" id="{0F7F3BFD-D260-4554-531F-0153D001A2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3072" cy="37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r>
                  <a:rPr lang="en-US" altLang="en-US" sz="9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	</a:t>
                </a:r>
                <a:r>
                  <a:rPr lang="en-US" altLang="en-US" sz="9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Fig. 7.5: fig07_05.cpp  </a:t>
                </a:r>
                <a:endParaRPr lang="en-US" altLang="en-US" sz="900" b="1">
                  <a:latin typeface="Courier New" panose="02070309020205020404" pitchFamily="49" charset="0"/>
                </a:endParaRPr>
              </a:p>
              <a:p>
                <a:pPr eaLnBrk="1" hangingPunct="1">
                  <a:defRPr/>
                </a:pPr>
                <a:endParaRPr lang="en-US" altLang="en-US" sz="9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6" name="Group 7">
              <a:extLst>
                <a:ext uri="{FF2B5EF4-FFF2-40B4-BE49-F238E27FC236}">
                  <a16:creationId xmlns:a16="http://schemas.microsoft.com/office/drawing/2014/main" id="{F42772DB-A3BF-DD9E-535F-6754E1AD20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309"/>
              <a:ext cx="3072" cy="504"/>
              <a:chOff x="0" y="309"/>
              <a:chExt cx="3072" cy="504"/>
            </a:xfrm>
            <a:grpFill/>
          </p:grpSpPr>
          <p:sp>
            <p:nvSpPr>
              <p:cNvPr id="91" name="Rectangle 8">
                <a:extLst>
                  <a:ext uri="{FF2B5EF4-FFF2-40B4-BE49-F238E27FC236}">
                    <a16:creationId xmlns:a16="http://schemas.microsoft.com/office/drawing/2014/main" id="{DC190E36-3432-34C0-058D-96E5EFC9C8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309"/>
                <a:ext cx="3072" cy="50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900"/>
              </a:p>
            </p:txBody>
          </p:sp>
          <p:sp>
            <p:nvSpPr>
              <p:cNvPr id="92" name="Rectangle 9">
                <a:extLst>
                  <a:ext uri="{FF2B5EF4-FFF2-40B4-BE49-F238E27FC236}">
                    <a16:creationId xmlns:a16="http://schemas.microsoft.com/office/drawing/2014/main" id="{DF146359-6697-0023-F3C2-0C3E8A3053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374"/>
                <a:ext cx="3072" cy="37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r>
                  <a:rPr lang="en-US" altLang="en-US" sz="9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2	</a:t>
                </a:r>
                <a:r>
                  <a:rPr lang="en-US" altLang="en-US" sz="9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Friends can access private members of a class.</a:t>
                </a:r>
                <a:endParaRPr lang="en-US" altLang="en-US" sz="900" b="1">
                  <a:latin typeface="Courier New" panose="02070309020205020404" pitchFamily="49" charset="0"/>
                </a:endParaRPr>
              </a:p>
              <a:p>
                <a:pPr eaLnBrk="1" hangingPunct="1">
                  <a:defRPr/>
                </a:pPr>
                <a:endParaRPr lang="en-US" altLang="en-US" sz="9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7" name="Group 10">
              <a:extLst>
                <a:ext uri="{FF2B5EF4-FFF2-40B4-BE49-F238E27FC236}">
                  <a16:creationId xmlns:a16="http://schemas.microsoft.com/office/drawing/2014/main" id="{1285A91E-D90B-1790-8529-301D583F5D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683"/>
              <a:ext cx="3072" cy="504"/>
              <a:chOff x="0" y="683"/>
              <a:chExt cx="3072" cy="504"/>
            </a:xfrm>
            <a:grpFill/>
          </p:grpSpPr>
          <p:sp>
            <p:nvSpPr>
              <p:cNvPr id="89" name="Rectangle 11">
                <a:extLst>
                  <a:ext uri="{FF2B5EF4-FFF2-40B4-BE49-F238E27FC236}">
                    <a16:creationId xmlns:a16="http://schemas.microsoft.com/office/drawing/2014/main" id="{E5AA642C-08DD-0A41-62DD-FFB67D436C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683"/>
                <a:ext cx="3072" cy="50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900"/>
              </a:p>
            </p:txBody>
          </p:sp>
          <p:sp>
            <p:nvSpPr>
              <p:cNvPr id="90" name="Rectangle 12">
                <a:extLst>
                  <a:ext uri="{FF2B5EF4-FFF2-40B4-BE49-F238E27FC236}">
                    <a16:creationId xmlns:a16="http://schemas.microsoft.com/office/drawing/2014/main" id="{B502F92A-E6D2-EC45-3D6A-3E57B4E5C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748"/>
                <a:ext cx="3072" cy="37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r>
                  <a:rPr lang="en-US" altLang="en-US" sz="9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3	</a:t>
                </a:r>
                <a:r>
                  <a:rPr lang="en-US" altLang="en-US" sz="9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#include</a:t>
                </a:r>
                <a:r>
                  <a:rPr lang="en-US" altLang="en-US" sz="900" b="1">
                    <a:latin typeface="Courier New" panose="02070309020205020404" pitchFamily="49" charset="0"/>
                  </a:rPr>
                  <a:t> &lt;iostream&gt;</a:t>
                </a:r>
              </a:p>
              <a:p>
                <a:pPr eaLnBrk="1" hangingPunct="1">
                  <a:defRPr/>
                </a:pPr>
                <a:endParaRPr lang="en-US" altLang="en-US" sz="9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8" name="Group 13">
              <a:extLst>
                <a:ext uri="{FF2B5EF4-FFF2-40B4-BE49-F238E27FC236}">
                  <a16:creationId xmlns:a16="http://schemas.microsoft.com/office/drawing/2014/main" id="{6075D39D-78A3-7C4C-5A4E-22F275C701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1057"/>
              <a:ext cx="3072" cy="504"/>
              <a:chOff x="0" y="1057"/>
              <a:chExt cx="3072" cy="504"/>
            </a:xfrm>
            <a:grpFill/>
          </p:grpSpPr>
          <p:sp>
            <p:nvSpPr>
              <p:cNvPr id="87" name="Rectangle 14">
                <a:extLst>
                  <a:ext uri="{FF2B5EF4-FFF2-40B4-BE49-F238E27FC236}">
                    <a16:creationId xmlns:a16="http://schemas.microsoft.com/office/drawing/2014/main" id="{8A2FDC12-C2A5-16A2-0CC2-9B6023553F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057"/>
                <a:ext cx="3072" cy="50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900"/>
              </a:p>
            </p:txBody>
          </p:sp>
          <p:sp>
            <p:nvSpPr>
              <p:cNvPr id="88" name="Rectangle 15">
                <a:extLst>
                  <a:ext uri="{FF2B5EF4-FFF2-40B4-BE49-F238E27FC236}">
                    <a16:creationId xmlns:a16="http://schemas.microsoft.com/office/drawing/2014/main" id="{B4C02293-6B27-716A-D022-9F57E22C4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122"/>
                <a:ext cx="3072" cy="37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r>
                  <a:rPr lang="en-US" altLang="en-US" sz="9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4	</a:t>
                </a:r>
                <a:endParaRPr lang="en-US" altLang="en-US" sz="900" b="1">
                  <a:latin typeface="Courier New" panose="02070309020205020404" pitchFamily="49" charset="0"/>
                </a:endParaRPr>
              </a:p>
              <a:p>
                <a:pPr eaLnBrk="1" hangingPunct="1">
                  <a:defRPr/>
                </a:pPr>
                <a:endParaRPr lang="en-US" altLang="en-US" sz="9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9" name="Group 16">
              <a:extLst>
                <a:ext uri="{FF2B5EF4-FFF2-40B4-BE49-F238E27FC236}">
                  <a16:creationId xmlns:a16="http://schemas.microsoft.com/office/drawing/2014/main" id="{04668100-BEA8-D714-C261-3E549E3802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1431"/>
              <a:ext cx="3072" cy="504"/>
              <a:chOff x="0" y="1431"/>
              <a:chExt cx="3072" cy="504"/>
            </a:xfrm>
            <a:grpFill/>
          </p:grpSpPr>
          <p:sp>
            <p:nvSpPr>
              <p:cNvPr id="85" name="Rectangle 17">
                <a:extLst>
                  <a:ext uri="{FF2B5EF4-FFF2-40B4-BE49-F238E27FC236}">
                    <a16:creationId xmlns:a16="http://schemas.microsoft.com/office/drawing/2014/main" id="{FB91A7AD-8611-18F6-9968-9C5949CD52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431"/>
                <a:ext cx="3072" cy="50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900"/>
              </a:p>
            </p:txBody>
          </p:sp>
          <p:sp>
            <p:nvSpPr>
              <p:cNvPr id="86" name="Rectangle 18">
                <a:extLst>
                  <a:ext uri="{FF2B5EF4-FFF2-40B4-BE49-F238E27FC236}">
                    <a16:creationId xmlns:a16="http://schemas.microsoft.com/office/drawing/2014/main" id="{CD4A9DF4-4938-FE84-27A1-0E32D2AED2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496"/>
                <a:ext cx="3072" cy="37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r>
                  <a:rPr lang="en-US" altLang="en-US" sz="9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5	</a:t>
                </a:r>
                <a:r>
                  <a:rPr lang="en-US" altLang="en-US" sz="9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using</a:t>
                </a:r>
                <a:r>
                  <a:rPr lang="en-US" altLang="en-US" sz="900" b="1">
                    <a:latin typeface="Courier New" panose="02070309020205020404" pitchFamily="49" charset="0"/>
                  </a:rPr>
                  <a:t> std::cout;</a:t>
                </a:r>
              </a:p>
              <a:p>
                <a:pPr eaLnBrk="1" hangingPunct="1">
                  <a:defRPr/>
                </a:pPr>
                <a:endParaRPr lang="en-US" altLang="en-US" sz="9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0" name="Group 19">
              <a:extLst>
                <a:ext uri="{FF2B5EF4-FFF2-40B4-BE49-F238E27FC236}">
                  <a16:creationId xmlns:a16="http://schemas.microsoft.com/office/drawing/2014/main" id="{04A21E21-F0B7-5C1D-47E1-210EE4740A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1805"/>
              <a:ext cx="3072" cy="504"/>
              <a:chOff x="0" y="1805"/>
              <a:chExt cx="3072" cy="504"/>
            </a:xfrm>
            <a:grpFill/>
          </p:grpSpPr>
          <p:sp>
            <p:nvSpPr>
              <p:cNvPr id="83" name="Rectangle 20">
                <a:extLst>
                  <a:ext uri="{FF2B5EF4-FFF2-40B4-BE49-F238E27FC236}">
                    <a16:creationId xmlns:a16="http://schemas.microsoft.com/office/drawing/2014/main" id="{641C32FA-9FE0-EBE1-62AF-4BE8575710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805"/>
                <a:ext cx="3072" cy="50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900"/>
              </a:p>
            </p:txBody>
          </p:sp>
          <p:sp>
            <p:nvSpPr>
              <p:cNvPr id="84" name="Rectangle 21">
                <a:extLst>
                  <a:ext uri="{FF2B5EF4-FFF2-40B4-BE49-F238E27FC236}">
                    <a16:creationId xmlns:a16="http://schemas.microsoft.com/office/drawing/2014/main" id="{0A64F77A-6746-02B0-F3A0-6DB0990EE0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870"/>
                <a:ext cx="3072" cy="37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r>
                  <a:rPr lang="en-US" altLang="en-US" sz="9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6	</a:t>
                </a:r>
                <a:r>
                  <a:rPr lang="en-US" altLang="en-US" sz="9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using</a:t>
                </a:r>
                <a:r>
                  <a:rPr lang="en-US" altLang="en-US" sz="900" b="1">
                    <a:latin typeface="Courier New" panose="02070309020205020404" pitchFamily="49" charset="0"/>
                  </a:rPr>
                  <a:t> std::endl;</a:t>
                </a:r>
              </a:p>
              <a:p>
                <a:pPr eaLnBrk="1" hangingPunct="1">
                  <a:defRPr/>
                </a:pPr>
                <a:endParaRPr lang="en-US" altLang="en-US" sz="9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" name="Group 22">
              <a:extLst>
                <a:ext uri="{FF2B5EF4-FFF2-40B4-BE49-F238E27FC236}">
                  <a16:creationId xmlns:a16="http://schemas.microsoft.com/office/drawing/2014/main" id="{25A778CC-5D0C-D901-829A-70A46C5EE4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2179"/>
              <a:ext cx="3072" cy="504"/>
              <a:chOff x="0" y="2179"/>
              <a:chExt cx="3072" cy="504"/>
            </a:xfrm>
            <a:grpFill/>
          </p:grpSpPr>
          <p:sp>
            <p:nvSpPr>
              <p:cNvPr id="81" name="Rectangle 23">
                <a:extLst>
                  <a:ext uri="{FF2B5EF4-FFF2-40B4-BE49-F238E27FC236}">
                    <a16:creationId xmlns:a16="http://schemas.microsoft.com/office/drawing/2014/main" id="{D0924698-D8DC-E39D-930F-554D436AE5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179"/>
                <a:ext cx="3072" cy="50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900"/>
              </a:p>
            </p:txBody>
          </p:sp>
          <p:sp>
            <p:nvSpPr>
              <p:cNvPr id="82" name="Rectangle 24">
                <a:extLst>
                  <a:ext uri="{FF2B5EF4-FFF2-40B4-BE49-F238E27FC236}">
                    <a16:creationId xmlns:a16="http://schemas.microsoft.com/office/drawing/2014/main" id="{FC5BCB53-1E3F-514E-7F14-DF52D762FD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244"/>
                <a:ext cx="3072" cy="37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r>
                  <a:rPr lang="en-US" altLang="en-US" sz="900" b="1" dirty="0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7</a:t>
                </a:r>
                <a:endParaRPr lang="en-US" altLang="en-US" sz="900" b="1" dirty="0">
                  <a:latin typeface="Courier New" panose="02070309020205020404" pitchFamily="49" charset="0"/>
                </a:endParaRPr>
              </a:p>
              <a:p>
                <a:pPr eaLnBrk="1" hangingPunct="1">
                  <a:defRPr/>
                </a:pPr>
                <a:endParaRPr lang="en-US" altLang="en-US" sz="900" b="1" dirty="0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2" name="Group 25">
              <a:extLst>
                <a:ext uri="{FF2B5EF4-FFF2-40B4-BE49-F238E27FC236}">
                  <a16:creationId xmlns:a16="http://schemas.microsoft.com/office/drawing/2014/main" id="{13F21636-209E-52A1-E8D1-83B259C4AE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2553"/>
              <a:ext cx="3072" cy="504"/>
              <a:chOff x="0" y="2553"/>
              <a:chExt cx="3072" cy="504"/>
            </a:xfrm>
            <a:grpFill/>
          </p:grpSpPr>
          <p:sp>
            <p:nvSpPr>
              <p:cNvPr id="79" name="Rectangle 26">
                <a:extLst>
                  <a:ext uri="{FF2B5EF4-FFF2-40B4-BE49-F238E27FC236}">
                    <a16:creationId xmlns:a16="http://schemas.microsoft.com/office/drawing/2014/main" id="{9ABF2E83-9DC6-125F-3896-FD32E04941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553"/>
                <a:ext cx="3072" cy="50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900"/>
              </a:p>
            </p:txBody>
          </p:sp>
          <p:sp>
            <p:nvSpPr>
              <p:cNvPr id="80" name="Rectangle 27">
                <a:extLst>
                  <a:ext uri="{FF2B5EF4-FFF2-40B4-BE49-F238E27FC236}">
                    <a16:creationId xmlns:a16="http://schemas.microsoft.com/office/drawing/2014/main" id="{5C45E468-3A7A-71DA-936F-8AEFA626AB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618"/>
                <a:ext cx="3072" cy="37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r>
                  <a:rPr lang="en-US" altLang="en-US" sz="9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8	</a:t>
                </a:r>
                <a:r>
                  <a:rPr lang="en-US" altLang="en-US" sz="9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Modified Count class</a:t>
                </a:r>
                <a:endParaRPr lang="en-US" altLang="en-US" sz="900" b="1">
                  <a:latin typeface="Courier New" panose="02070309020205020404" pitchFamily="49" charset="0"/>
                </a:endParaRPr>
              </a:p>
              <a:p>
                <a:pPr eaLnBrk="1" hangingPunct="1">
                  <a:defRPr/>
                </a:pPr>
                <a:endParaRPr lang="en-US" altLang="en-US" sz="9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3" name="Group 28">
              <a:extLst>
                <a:ext uri="{FF2B5EF4-FFF2-40B4-BE49-F238E27FC236}">
                  <a16:creationId xmlns:a16="http://schemas.microsoft.com/office/drawing/2014/main" id="{6F96206C-1DE2-3D7D-2C59-09293BDE2F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2927"/>
              <a:ext cx="3072" cy="504"/>
              <a:chOff x="0" y="2927"/>
              <a:chExt cx="3072" cy="504"/>
            </a:xfrm>
            <a:grpFill/>
          </p:grpSpPr>
          <p:sp>
            <p:nvSpPr>
              <p:cNvPr id="77" name="Rectangle 29">
                <a:extLst>
                  <a:ext uri="{FF2B5EF4-FFF2-40B4-BE49-F238E27FC236}">
                    <a16:creationId xmlns:a16="http://schemas.microsoft.com/office/drawing/2014/main" id="{F182CE2D-AC1E-D758-6684-1D5084C3CD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927"/>
                <a:ext cx="3072" cy="50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900"/>
              </a:p>
            </p:txBody>
          </p:sp>
          <p:sp>
            <p:nvSpPr>
              <p:cNvPr id="78" name="Rectangle 30">
                <a:extLst>
                  <a:ext uri="{FF2B5EF4-FFF2-40B4-BE49-F238E27FC236}">
                    <a16:creationId xmlns:a16="http://schemas.microsoft.com/office/drawing/2014/main" id="{B36FC672-090C-62A1-EC42-B8642A9A00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992"/>
                <a:ext cx="3072" cy="37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r>
                  <a:rPr lang="en-US" altLang="en-US" sz="9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9	</a:t>
                </a:r>
                <a:r>
                  <a:rPr lang="en-US" altLang="en-US" sz="9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class</a:t>
                </a:r>
                <a:r>
                  <a:rPr lang="en-US" altLang="en-US" sz="900" b="1">
                    <a:latin typeface="Courier New" panose="02070309020205020404" pitchFamily="49" charset="0"/>
                  </a:rPr>
                  <a:t> Count {</a:t>
                </a:r>
              </a:p>
              <a:p>
                <a:pPr eaLnBrk="1" hangingPunct="1">
                  <a:defRPr/>
                </a:pPr>
                <a:endParaRPr lang="en-US" altLang="en-US" sz="9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4" name="Group 31">
              <a:extLst>
                <a:ext uri="{FF2B5EF4-FFF2-40B4-BE49-F238E27FC236}">
                  <a16:creationId xmlns:a16="http://schemas.microsoft.com/office/drawing/2014/main" id="{7A67B7B8-6EB0-B343-FA1D-BF6FB09384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3301"/>
              <a:ext cx="3072" cy="504"/>
              <a:chOff x="0" y="3301"/>
              <a:chExt cx="3072" cy="504"/>
            </a:xfrm>
            <a:grpFill/>
          </p:grpSpPr>
          <p:sp>
            <p:nvSpPr>
              <p:cNvPr id="75" name="Rectangle 32">
                <a:extLst>
                  <a:ext uri="{FF2B5EF4-FFF2-40B4-BE49-F238E27FC236}">
                    <a16:creationId xmlns:a16="http://schemas.microsoft.com/office/drawing/2014/main" id="{2E12F7BE-275D-7E6E-AEAC-2DD2D0B544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3301"/>
                <a:ext cx="3072" cy="50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900"/>
              </a:p>
            </p:txBody>
          </p:sp>
          <p:sp>
            <p:nvSpPr>
              <p:cNvPr id="76" name="Rectangle 33">
                <a:extLst>
                  <a:ext uri="{FF2B5EF4-FFF2-40B4-BE49-F238E27FC236}">
                    <a16:creationId xmlns:a16="http://schemas.microsoft.com/office/drawing/2014/main" id="{EDD91D74-A520-0006-A62A-B178D84986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3366"/>
                <a:ext cx="3072" cy="37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r>
                  <a:rPr lang="en-US" altLang="en-US" sz="900" b="1" dirty="0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10	</a:t>
                </a:r>
                <a:r>
                  <a:rPr lang="en-US" altLang="en-US" sz="900" b="1" dirty="0">
                    <a:latin typeface="Courier New" panose="02070309020205020404" pitchFamily="49" charset="0"/>
                  </a:rPr>
                  <a:t>   </a:t>
                </a:r>
                <a:r>
                  <a:rPr lang="en-US" altLang="en-US" sz="900" b="1" dirty="0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friend</a:t>
                </a:r>
                <a:r>
                  <a:rPr lang="en-US" altLang="en-US" sz="900" b="1" dirty="0">
                    <a:latin typeface="Courier New" panose="02070309020205020404" pitchFamily="49" charset="0"/>
                  </a:rPr>
                  <a:t> </a:t>
                </a:r>
                <a:r>
                  <a:rPr lang="en-US" altLang="en-US" sz="900" b="1" dirty="0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void</a:t>
                </a:r>
                <a:r>
                  <a:rPr lang="en-US" altLang="en-US" sz="900" b="1" dirty="0">
                    <a:latin typeface="Courier New" panose="02070309020205020404" pitchFamily="49" charset="0"/>
                  </a:rPr>
                  <a:t> </a:t>
                </a:r>
                <a:r>
                  <a:rPr lang="en-US" altLang="en-US" sz="900" b="1" dirty="0" err="1">
                    <a:latin typeface="Courier New" panose="02070309020205020404" pitchFamily="49" charset="0"/>
                  </a:rPr>
                  <a:t>setA</a:t>
                </a:r>
                <a:r>
                  <a:rPr lang="en-US" altLang="en-US" sz="900" b="1" dirty="0">
                    <a:latin typeface="Courier New" panose="02070309020205020404" pitchFamily="49" charset="0"/>
                  </a:rPr>
                  <a:t>( Count &amp;, </a:t>
                </a:r>
                <a:r>
                  <a:rPr lang="en-US" altLang="en-US" sz="900" b="1" dirty="0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int</a:t>
                </a:r>
                <a:r>
                  <a:rPr lang="en-US" altLang="en-US" sz="900" b="1" dirty="0">
                    <a:latin typeface="Courier New" panose="02070309020205020404" pitchFamily="49" charset="0"/>
                  </a:rPr>
                  <a:t> ); </a:t>
                </a:r>
                <a:r>
                  <a:rPr lang="en-US" altLang="en-US" sz="900" b="1" dirty="0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friend function declaration</a:t>
                </a:r>
                <a:endParaRPr lang="en-US" altLang="en-US" sz="900" b="1" dirty="0">
                  <a:latin typeface="Courier New" panose="02070309020205020404" pitchFamily="49" charset="0"/>
                </a:endParaRPr>
              </a:p>
              <a:p>
                <a:pPr eaLnBrk="1" hangingPunct="1">
                  <a:defRPr/>
                </a:pPr>
                <a:endParaRPr lang="en-US" altLang="en-US" sz="900" b="1" dirty="0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5" name="Group 34">
              <a:extLst>
                <a:ext uri="{FF2B5EF4-FFF2-40B4-BE49-F238E27FC236}">
                  <a16:creationId xmlns:a16="http://schemas.microsoft.com/office/drawing/2014/main" id="{2AAF1866-B995-E2AD-EB61-43F3EF195C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3675"/>
              <a:ext cx="3072" cy="504"/>
              <a:chOff x="0" y="3675"/>
              <a:chExt cx="3072" cy="504"/>
            </a:xfrm>
            <a:grpFill/>
          </p:grpSpPr>
          <p:sp>
            <p:nvSpPr>
              <p:cNvPr id="73" name="Rectangle 35">
                <a:extLst>
                  <a:ext uri="{FF2B5EF4-FFF2-40B4-BE49-F238E27FC236}">
                    <a16:creationId xmlns:a16="http://schemas.microsoft.com/office/drawing/2014/main" id="{325AE2EF-3A3E-D009-21A0-7D39B945C2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3675"/>
                <a:ext cx="3072" cy="50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900"/>
              </a:p>
            </p:txBody>
          </p:sp>
          <p:sp>
            <p:nvSpPr>
              <p:cNvPr id="74" name="Rectangle 36">
                <a:extLst>
                  <a:ext uri="{FF2B5EF4-FFF2-40B4-BE49-F238E27FC236}">
                    <a16:creationId xmlns:a16="http://schemas.microsoft.com/office/drawing/2014/main" id="{CC0E79D9-D57F-AF0E-5791-09C8902991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3740"/>
                <a:ext cx="3072" cy="37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r>
                  <a:rPr lang="en-US" altLang="en-US" sz="9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11	</a:t>
                </a:r>
                <a:r>
                  <a:rPr lang="en-US" altLang="en-US" sz="9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public:</a:t>
                </a:r>
                <a:endParaRPr lang="en-US" altLang="en-US" sz="900" b="1">
                  <a:latin typeface="Courier New" panose="02070309020205020404" pitchFamily="49" charset="0"/>
                </a:endParaRPr>
              </a:p>
              <a:p>
                <a:pPr eaLnBrk="1" hangingPunct="1">
                  <a:defRPr/>
                </a:pPr>
                <a:endParaRPr lang="en-US" altLang="en-US" sz="9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6" name="Group 37">
              <a:extLst>
                <a:ext uri="{FF2B5EF4-FFF2-40B4-BE49-F238E27FC236}">
                  <a16:creationId xmlns:a16="http://schemas.microsoft.com/office/drawing/2014/main" id="{691A01C8-9794-F900-BB41-AED7926CCD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4049"/>
              <a:ext cx="3072" cy="504"/>
              <a:chOff x="0" y="4049"/>
              <a:chExt cx="3072" cy="504"/>
            </a:xfrm>
            <a:grpFill/>
          </p:grpSpPr>
          <p:sp>
            <p:nvSpPr>
              <p:cNvPr id="71" name="Rectangle 38">
                <a:extLst>
                  <a:ext uri="{FF2B5EF4-FFF2-40B4-BE49-F238E27FC236}">
                    <a16:creationId xmlns:a16="http://schemas.microsoft.com/office/drawing/2014/main" id="{244A4885-8F8F-A31C-A80F-43E62C7426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4049"/>
                <a:ext cx="3072" cy="50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900"/>
              </a:p>
            </p:txBody>
          </p:sp>
          <p:sp>
            <p:nvSpPr>
              <p:cNvPr id="72" name="Rectangle 39">
                <a:extLst>
                  <a:ext uri="{FF2B5EF4-FFF2-40B4-BE49-F238E27FC236}">
                    <a16:creationId xmlns:a16="http://schemas.microsoft.com/office/drawing/2014/main" id="{FD610FF0-0E7E-7D48-0D72-0340D35763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4114"/>
                <a:ext cx="3072" cy="37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r>
                  <a:rPr lang="en-US" altLang="en-US" sz="900" b="1" dirty="0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12	</a:t>
                </a:r>
                <a:r>
                  <a:rPr lang="en-US" altLang="en-US" sz="900" b="1" dirty="0">
                    <a:latin typeface="Courier New" panose="02070309020205020404" pitchFamily="49" charset="0"/>
                  </a:rPr>
                  <a:t>   Count() { a = 0; }               </a:t>
                </a:r>
                <a:r>
                  <a:rPr lang="en-US" altLang="en-US" sz="900" b="1" dirty="0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 // constructor</a:t>
                </a:r>
                <a:endParaRPr lang="en-US" altLang="en-US" sz="900" b="1" dirty="0">
                  <a:latin typeface="Courier New" panose="02070309020205020404" pitchFamily="49" charset="0"/>
                </a:endParaRPr>
              </a:p>
              <a:p>
                <a:pPr eaLnBrk="1" hangingPunct="1">
                  <a:defRPr/>
                </a:pPr>
                <a:endParaRPr lang="en-US" altLang="en-US" sz="900" b="1" dirty="0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7" name="Group 40">
              <a:extLst>
                <a:ext uri="{FF2B5EF4-FFF2-40B4-BE49-F238E27FC236}">
                  <a16:creationId xmlns:a16="http://schemas.microsoft.com/office/drawing/2014/main" id="{3BD787A5-0910-C105-E183-12338158E7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4423"/>
              <a:ext cx="3072" cy="504"/>
              <a:chOff x="0" y="4423"/>
              <a:chExt cx="3072" cy="504"/>
            </a:xfrm>
            <a:grpFill/>
          </p:grpSpPr>
          <p:sp>
            <p:nvSpPr>
              <p:cNvPr id="69" name="Rectangle 41">
                <a:extLst>
                  <a:ext uri="{FF2B5EF4-FFF2-40B4-BE49-F238E27FC236}">
                    <a16:creationId xmlns:a16="http://schemas.microsoft.com/office/drawing/2014/main" id="{E82124CC-25C5-43BB-71B5-23D2F79852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4423"/>
                <a:ext cx="3072" cy="50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900"/>
              </a:p>
            </p:txBody>
          </p:sp>
          <p:sp>
            <p:nvSpPr>
              <p:cNvPr id="70" name="Rectangle 42">
                <a:extLst>
                  <a:ext uri="{FF2B5EF4-FFF2-40B4-BE49-F238E27FC236}">
                    <a16:creationId xmlns:a16="http://schemas.microsoft.com/office/drawing/2014/main" id="{D44605BD-C238-9A8F-1644-34BE99152B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4488"/>
                <a:ext cx="3072" cy="37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r>
                  <a:rPr lang="en-US" altLang="en-US" sz="9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13	</a:t>
                </a:r>
                <a:r>
                  <a:rPr lang="en-US" altLang="en-US" sz="900" b="1">
                    <a:latin typeface="Courier New" panose="02070309020205020404" pitchFamily="49" charset="0"/>
                  </a:rPr>
                  <a:t>   </a:t>
                </a:r>
                <a:r>
                  <a:rPr lang="en-US" altLang="en-US" sz="9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void</a:t>
                </a:r>
                <a:r>
                  <a:rPr lang="en-US" altLang="en-US" sz="900" b="1">
                    <a:latin typeface="Courier New" panose="02070309020205020404" pitchFamily="49" charset="0"/>
                  </a:rPr>
                  <a:t> print() </a:t>
                </a:r>
                <a:r>
                  <a:rPr lang="en-US" altLang="en-US" sz="9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const</a:t>
                </a:r>
                <a:r>
                  <a:rPr lang="en-US" altLang="en-US" sz="900" b="1">
                    <a:latin typeface="Courier New" panose="02070309020205020404" pitchFamily="49" charset="0"/>
                  </a:rPr>
                  <a:t> { cout &lt;&lt; x &lt;&lt; endl; }  </a:t>
                </a:r>
                <a:r>
                  <a:rPr lang="en-US" altLang="en-US" sz="9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output</a:t>
                </a:r>
                <a:endParaRPr lang="en-US" altLang="en-US" sz="900" b="1">
                  <a:latin typeface="Courier New" panose="02070309020205020404" pitchFamily="49" charset="0"/>
                </a:endParaRPr>
              </a:p>
              <a:p>
                <a:pPr eaLnBrk="1" hangingPunct="1">
                  <a:defRPr/>
                </a:pPr>
                <a:endParaRPr lang="en-US" altLang="en-US" sz="9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8" name="Group 43">
              <a:extLst>
                <a:ext uri="{FF2B5EF4-FFF2-40B4-BE49-F238E27FC236}">
                  <a16:creationId xmlns:a16="http://schemas.microsoft.com/office/drawing/2014/main" id="{452188B3-ACFC-8EDB-E242-FE5FF6161C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4797"/>
              <a:ext cx="3072" cy="504"/>
              <a:chOff x="0" y="4797"/>
              <a:chExt cx="3072" cy="504"/>
            </a:xfrm>
            <a:grpFill/>
          </p:grpSpPr>
          <p:sp>
            <p:nvSpPr>
              <p:cNvPr id="67" name="Rectangle 44">
                <a:extLst>
                  <a:ext uri="{FF2B5EF4-FFF2-40B4-BE49-F238E27FC236}">
                    <a16:creationId xmlns:a16="http://schemas.microsoft.com/office/drawing/2014/main" id="{6457BDA5-3E08-15BE-A19E-460A57D761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4797"/>
                <a:ext cx="3072" cy="50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900"/>
              </a:p>
            </p:txBody>
          </p:sp>
          <p:sp>
            <p:nvSpPr>
              <p:cNvPr id="68" name="Rectangle 45">
                <a:extLst>
                  <a:ext uri="{FF2B5EF4-FFF2-40B4-BE49-F238E27FC236}">
                    <a16:creationId xmlns:a16="http://schemas.microsoft.com/office/drawing/2014/main" id="{E528B898-D8BE-555F-C978-40B5D40198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4862"/>
                <a:ext cx="3072" cy="37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r>
                  <a:rPr lang="en-US" altLang="en-US" sz="9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14	</a:t>
                </a:r>
                <a:r>
                  <a:rPr lang="en-US" altLang="en-US" sz="9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private:</a:t>
                </a:r>
                <a:endParaRPr lang="en-US" altLang="en-US" sz="900" b="1">
                  <a:latin typeface="Courier New" panose="02070309020205020404" pitchFamily="49" charset="0"/>
                </a:endParaRPr>
              </a:p>
              <a:p>
                <a:pPr eaLnBrk="1" hangingPunct="1">
                  <a:defRPr/>
                </a:pPr>
                <a:endParaRPr lang="en-US" altLang="en-US" sz="9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9" name="Group 46">
              <a:extLst>
                <a:ext uri="{FF2B5EF4-FFF2-40B4-BE49-F238E27FC236}">
                  <a16:creationId xmlns:a16="http://schemas.microsoft.com/office/drawing/2014/main" id="{A6EB20FD-1281-B3BA-8724-C4F9B9F2D8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5171"/>
              <a:ext cx="3072" cy="504"/>
              <a:chOff x="0" y="5171"/>
              <a:chExt cx="3072" cy="504"/>
            </a:xfrm>
            <a:grpFill/>
          </p:grpSpPr>
          <p:sp>
            <p:nvSpPr>
              <p:cNvPr id="65" name="Rectangle 47">
                <a:extLst>
                  <a:ext uri="{FF2B5EF4-FFF2-40B4-BE49-F238E27FC236}">
                    <a16:creationId xmlns:a16="http://schemas.microsoft.com/office/drawing/2014/main" id="{10A7088A-A41D-F260-AA2F-BA8E2797A5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5171"/>
                <a:ext cx="3072" cy="50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900"/>
              </a:p>
            </p:txBody>
          </p:sp>
          <p:sp>
            <p:nvSpPr>
              <p:cNvPr id="66" name="Rectangle 48">
                <a:extLst>
                  <a:ext uri="{FF2B5EF4-FFF2-40B4-BE49-F238E27FC236}">
                    <a16:creationId xmlns:a16="http://schemas.microsoft.com/office/drawing/2014/main" id="{CCAD8F7F-D0A8-F4C1-2DD6-D726E2075D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5236"/>
                <a:ext cx="3072" cy="37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r>
                  <a:rPr lang="en-US" altLang="en-US" sz="900" b="1" dirty="0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15	</a:t>
                </a:r>
                <a:r>
                  <a:rPr lang="en-US" altLang="en-US" sz="900" b="1" dirty="0">
                    <a:latin typeface="Courier New" panose="02070309020205020404" pitchFamily="49" charset="0"/>
                  </a:rPr>
                  <a:t>   </a:t>
                </a:r>
                <a:r>
                  <a:rPr lang="en-US" altLang="en-US" sz="900" b="1" dirty="0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int</a:t>
                </a:r>
                <a:r>
                  <a:rPr lang="en-US" altLang="en-US" sz="900" b="1" dirty="0">
                    <a:latin typeface="Courier New" panose="02070309020205020404" pitchFamily="49" charset="0"/>
                  </a:rPr>
                  <a:t> a;  // data member</a:t>
                </a:r>
              </a:p>
              <a:p>
                <a:pPr eaLnBrk="1" hangingPunct="1">
                  <a:defRPr/>
                </a:pPr>
                <a:endParaRPr lang="en-US" altLang="en-US" sz="900" b="1" dirty="0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20" name="Group 49">
              <a:extLst>
                <a:ext uri="{FF2B5EF4-FFF2-40B4-BE49-F238E27FC236}">
                  <a16:creationId xmlns:a16="http://schemas.microsoft.com/office/drawing/2014/main" id="{F9DC5AC5-7FB9-A517-A6F6-258C410C38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5545"/>
              <a:ext cx="3072" cy="504"/>
              <a:chOff x="0" y="5545"/>
              <a:chExt cx="3072" cy="504"/>
            </a:xfrm>
            <a:grpFill/>
          </p:grpSpPr>
          <p:sp>
            <p:nvSpPr>
              <p:cNvPr id="63" name="Rectangle 50">
                <a:extLst>
                  <a:ext uri="{FF2B5EF4-FFF2-40B4-BE49-F238E27FC236}">
                    <a16:creationId xmlns:a16="http://schemas.microsoft.com/office/drawing/2014/main" id="{3937974A-8839-1817-3161-C5335B5AD8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5545"/>
                <a:ext cx="3072" cy="50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900"/>
              </a:p>
            </p:txBody>
          </p:sp>
          <p:sp>
            <p:nvSpPr>
              <p:cNvPr id="64" name="Rectangle 51">
                <a:extLst>
                  <a:ext uri="{FF2B5EF4-FFF2-40B4-BE49-F238E27FC236}">
                    <a16:creationId xmlns:a16="http://schemas.microsoft.com/office/drawing/2014/main" id="{9BACCD69-0E82-CE10-3786-5144B3B001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5610"/>
                <a:ext cx="3072" cy="37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r>
                  <a:rPr lang="en-US" altLang="en-US" sz="9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16	</a:t>
                </a:r>
                <a:r>
                  <a:rPr lang="en-US" altLang="en-US" sz="900" b="1">
                    <a:latin typeface="Courier New" panose="02070309020205020404" pitchFamily="49" charset="0"/>
                  </a:rPr>
                  <a:t>};</a:t>
                </a:r>
              </a:p>
              <a:p>
                <a:pPr eaLnBrk="1" hangingPunct="1">
                  <a:defRPr/>
                </a:pPr>
                <a:endParaRPr lang="en-US" altLang="en-US" sz="9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21" name="Group 52">
              <a:extLst>
                <a:ext uri="{FF2B5EF4-FFF2-40B4-BE49-F238E27FC236}">
                  <a16:creationId xmlns:a16="http://schemas.microsoft.com/office/drawing/2014/main" id="{EC92E54A-37AD-F510-8D9B-3A094CE50E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5919"/>
              <a:ext cx="3072" cy="504"/>
              <a:chOff x="0" y="5919"/>
              <a:chExt cx="3072" cy="504"/>
            </a:xfrm>
            <a:grpFill/>
          </p:grpSpPr>
          <p:sp>
            <p:nvSpPr>
              <p:cNvPr id="61" name="Rectangle 53">
                <a:extLst>
                  <a:ext uri="{FF2B5EF4-FFF2-40B4-BE49-F238E27FC236}">
                    <a16:creationId xmlns:a16="http://schemas.microsoft.com/office/drawing/2014/main" id="{8840718C-B5CD-7CB9-48D6-F319F4BC72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5919"/>
                <a:ext cx="3072" cy="50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900"/>
              </a:p>
            </p:txBody>
          </p:sp>
          <p:sp>
            <p:nvSpPr>
              <p:cNvPr id="62" name="Rectangle 54">
                <a:extLst>
                  <a:ext uri="{FF2B5EF4-FFF2-40B4-BE49-F238E27FC236}">
                    <a16:creationId xmlns:a16="http://schemas.microsoft.com/office/drawing/2014/main" id="{EC850180-8D95-0A6C-11CF-576866CBCE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5984"/>
                <a:ext cx="3072" cy="37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r>
                  <a:rPr lang="en-US" altLang="en-US" sz="9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17	</a:t>
                </a:r>
                <a:endParaRPr lang="en-US" altLang="en-US" sz="900" b="1">
                  <a:latin typeface="Courier New" panose="02070309020205020404" pitchFamily="49" charset="0"/>
                </a:endParaRPr>
              </a:p>
              <a:p>
                <a:pPr eaLnBrk="1" hangingPunct="1">
                  <a:defRPr/>
                </a:pPr>
                <a:endParaRPr lang="en-US" altLang="en-US" sz="9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22" name="Group 55">
              <a:extLst>
                <a:ext uri="{FF2B5EF4-FFF2-40B4-BE49-F238E27FC236}">
                  <a16:creationId xmlns:a16="http://schemas.microsoft.com/office/drawing/2014/main" id="{08C785BF-555E-170D-D405-F3E7AEA1C9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6293"/>
              <a:ext cx="3072" cy="504"/>
              <a:chOff x="0" y="6293"/>
              <a:chExt cx="3072" cy="504"/>
            </a:xfrm>
            <a:grpFill/>
          </p:grpSpPr>
          <p:sp>
            <p:nvSpPr>
              <p:cNvPr id="59" name="Rectangle 56">
                <a:extLst>
                  <a:ext uri="{FF2B5EF4-FFF2-40B4-BE49-F238E27FC236}">
                    <a16:creationId xmlns:a16="http://schemas.microsoft.com/office/drawing/2014/main" id="{A9104B4F-648A-FD19-BFE7-8526221AF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6293"/>
                <a:ext cx="3072" cy="50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900"/>
              </a:p>
            </p:txBody>
          </p:sp>
          <p:sp>
            <p:nvSpPr>
              <p:cNvPr id="60" name="Rectangle 57">
                <a:extLst>
                  <a:ext uri="{FF2B5EF4-FFF2-40B4-BE49-F238E27FC236}">
                    <a16:creationId xmlns:a16="http://schemas.microsoft.com/office/drawing/2014/main" id="{EEFE2438-0D8E-7878-7A2B-5284BF0F97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6358"/>
                <a:ext cx="3072" cy="37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r>
                  <a:rPr lang="en-US" altLang="en-US" sz="9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18	</a:t>
                </a:r>
                <a:r>
                  <a:rPr lang="en-US" altLang="en-US" sz="9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Can modify private data of Count because</a:t>
                </a:r>
                <a:endParaRPr lang="en-US" altLang="en-US" sz="900" b="1">
                  <a:latin typeface="Courier New" panose="02070309020205020404" pitchFamily="49" charset="0"/>
                </a:endParaRPr>
              </a:p>
              <a:p>
                <a:pPr eaLnBrk="1" hangingPunct="1">
                  <a:defRPr/>
                </a:pPr>
                <a:endParaRPr lang="en-US" altLang="en-US" sz="9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23" name="Group 58">
              <a:extLst>
                <a:ext uri="{FF2B5EF4-FFF2-40B4-BE49-F238E27FC236}">
                  <a16:creationId xmlns:a16="http://schemas.microsoft.com/office/drawing/2014/main" id="{0D337015-85AE-EA8A-CA43-0D5DA7B7C7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6667"/>
              <a:ext cx="3072" cy="504"/>
              <a:chOff x="0" y="6667"/>
              <a:chExt cx="3072" cy="504"/>
            </a:xfrm>
            <a:grpFill/>
          </p:grpSpPr>
          <p:sp>
            <p:nvSpPr>
              <p:cNvPr id="57" name="Rectangle 59">
                <a:extLst>
                  <a:ext uri="{FF2B5EF4-FFF2-40B4-BE49-F238E27FC236}">
                    <a16:creationId xmlns:a16="http://schemas.microsoft.com/office/drawing/2014/main" id="{D86A960D-B7B4-E83A-1F8E-7636B185E9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6667"/>
                <a:ext cx="3072" cy="50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900"/>
              </a:p>
            </p:txBody>
          </p:sp>
          <p:sp>
            <p:nvSpPr>
              <p:cNvPr id="58" name="Rectangle 60">
                <a:extLst>
                  <a:ext uri="{FF2B5EF4-FFF2-40B4-BE49-F238E27FC236}">
                    <a16:creationId xmlns:a16="http://schemas.microsoft.com/office/drawing/2014/main" id="{7B5E7498-0355-E835-4143-A7B8B99E34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6732"/>
                <a:ext cx="3072" cy="37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r>
                  <a:rPr lang="en-US" altLang="en-US" sz="9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19	</a:t>
                </a:r>
                <a:r>
                  <a:rPr lang="en-US" altLang="en-US" sz="9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setX is declared as a friend function of Count</a:t>
                </a:r>
                <a:endParaRPr lang="en-US" altLang="en-US" sz="900" b="1">
                  <a:latin typeface="Courier New" panose="02070309020205020404" pitchFamily="49" charset="0"/>
                </a:endParaRPr>
              </a:p>
              <a:p>
                <a:pPr eaLnBrk="1" hangingPunct="1">
                  <a:defRPr/>
                </a:pPr>
                <a:endParaRPr lang="en-US" altLang="en-US" sz="9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24" name="Group 61">
              <a:extLst>
                <a:ext uri="{FF2B5EF4-FFF2-40B4-BE49-F238E27FC236}">
                  <a16:creationId xmlns:a16="http://schemas.microsoft.com/office/drawing/2014/main" id="{869F912D-46AA-6ACA-538A-33808FB833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7041"/>
              <a:ext cx="3072" cy="504"/>
              <a:chOff x="0" y="7041"/>
              <a:chExt cx="3072" cy="504"/>
            </a:xfrm>
            <a:grpFill/>
          </p:grpSpPr>
          <p:sp>
            <p:nvSpPr>
              <p:cNvPr id="55" name="Rectangle 62">
                <a:extLst>
                  <a:ext uri="{FF2B5EF4-FFF2-40B4-BE49-F238E27FC236}">
                    <a16:creationId xmlns:a16="http://schemas.microsoft.com/office/drawing/2014/main" id="{66C19B23-EB79-9ABC-8369-D24469FCF5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7041"/>
                <a:ext cx="3072" cy="50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900"/>
              </a:p>
            </p:txBody>
          </p:sp>
          <p:sp>
            <p:nvSpPr>
              <p:cNvPr id="56" name="Rectangle 63">
                <a:extLst>
                  <a:ext uri="{FF2B5EF4-FFF2-40B4-BE49-F238E27FC236}">
                    <a16:creationId xmlns:a16="http://schemas.microsoft.com/office/drawing/2014/main" id="{93A4C7EA-1950-8BB1-A7D9-77EBD2F43C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7106"/>
                <a:ext cx="3072" cy="37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r>
                  <a:rPr lang="en-US" altLang="en-US" sz="900" b="1" dirty="0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20	</a:t>
                </a:r>
                <a:r>
                  <a:rPr lang="en-US" altLang="en-US" sz="900" b="1" dirty="0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void</a:t>
                </a:r>
                <a:r>
                  <a:rPr lang="en-US" altLang="en-US" sz="900" b="1" dirty="0">
                    <a:latin typeface="Courier New" panose="02070309020205020404" pitchFamily="49" charset="0"/>
                  </a:rPr>
                  <a:t> </a:t>
                </a:r>
                <a:r>
                  <a:rPr lang="en-US" altLang="en-US" sz="900" b="1" dirty="0" err="1">
                    <a:latin typeface="Courier New" panose="02070309020205020404" pitchFamily="49" charset="0"/>
                  </a:rPr>
                  <a:t>setA</a:t>
                </a:r>
                <a:r>
                  <a:rPr lang="en-US" altLang="en-US" sz="900" b="1" dirty="0">
                    <a:latin typeface="Courier New" panose="02070309020205020404" pitchFamily="49" charset="0"/>
                  </a:rPr>
                  <a:t>( Count &amp;c, </a:t>
                </a:r>
                <a:r>
                  <a:rPr lang="en-US" altLang="en-US" sz="900" b="1" dirty="0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int</a:t>
                </a:r>
                <a:r>
                  <a:rPr lang="en-US" altLang="en-US" sz="900" b="1" dirty="0">
                    <a:latin typeface="Courier New" panose="02070309020205020404" pitchFamily="49" charset="0"/>
                  </a:rPr>
                  <a:t> </a:t>
                </a:r>
                <a:r>
                  <a:rPr lang="en-US" altLang="en-US" sz="900" b="1" dirty="0" err="1">
                    <a:latin typeface="Courier New" panose="02070309020205020404" pitchFamily="49" charset="0"/>
                  </a:rPr>
                  <a:t>val</a:t>
                </a:r>
                <a:r>
                  <a:rPr lang="en-US" altLang="en-US" sz="900" b="1" dirty="0">
                    <a:latin typeface="Courier New" panose="02070309020205020404" pitchFamily="49" charset="0"/>
                  </a:rPr>
                  <a:t> )</a:t>
                </a:r>
              </a:p>
              <a:p>
                <a:pPr eaLnBrk="1" hangingPunct="1">
                  <a:defRPr/>
                </a:pPr>
                <a:endParaRPr lang="en-US" altLang="en-US" sz="900" b="1" dirty="0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25" name="Group 64">
              <a:extLst>
                <a:ext uri="{FF2B5EF4-FFF2-40B4-BE49-F238E27FC236}">
                  <a16:creationId xmlns:a16="http://schemas.microsoft.com/office/drawing/2014/main" id="{FE4BC9EE-2E82-537E-5034-93C8CFEECC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7415"/>
              <a:ext cx="3072" cy="504"/>
              <a:chOff x="0" y="7415"/>
              <a:chExt cx="3072" cy="504"/>
            </a:xfrm>
            <a:grpFill/>
          </p:grpSpPr>
          <p:sp>
            <p:nvSpPr>
              <p:cNvPr id="53" name="Rectangle 65">
                <a:extLst>
                  <a:ext uri="{FF2B5EF4-FFF2-40B4-BE49-F238E27FC236}">
                    <a16:creationId xmlns:a16="http://schemas.microsoft.com/office/drawing/2014/main" id="{B37204C6-42AA-490D-C918-C48DBAB6C1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7415"/>
                <a:ext cx="3072" cy="50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900"/>
              </a:p>
            </p:txBody>
          </p:sp>
          <p:sp>
            <p:nvSpPr>
              <p:cNvPr id="54" name="Rectangle 66">
                <a:extLst>
                  <a:ext uri="{FF2B5EF4-FFF2-40B4-BE49-F238E27FC236}">
                    <a16:creationId xmlns:a16="http://schemas.microsoft.com/office/drawing/2014/main" id="{9AA64D68-C842-20C1-18AB-006C541168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7480"/>
                <a:ext cx="3072" cy="37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r>
                  <a:rPr lang="en-US" altLang="en-US" sz="9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21	</a:t>
                </a:r>
                <a:r>
                  <a:rPr lang="en-US" altLang="en-US" sz="900" b="1">
                    <a:latin typeface="Courier New" panose="02070309020205020404" pitchFamily="49" charset="0"/>
                  </a:rPr>
                  <a:t>{</a:t>
                </a:r>
              </a:p>
              <a:p>
                <a:pPr eaLnBrk="1" hangingPunct="1">
                  <a:defRPr/>
                </a:pPr>
                <a:endParaRPr lang="en-US" altLang="en-US" sz="9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26" name="Group 67">
              <a:extLst>
                <a:ext uri="{FF2B5EF4-FFF2-40B4-BE49-F238E27FC236}">
                  <a16:creationId xmlns:a16="http://schemas.microsoft.com/office/drawing/2014/main" id="{C5881FA4-4C2A-F413-7687-7E2A6E9E5B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7789"/>
              <a:ext cx="3072" cy="504"/>
              <a:chOff x="0" y="7789"/>
              <a:chExt cx="3072" cy="504"/>
            </a:xfrm>
            <a:grpFill/>
          </p:grpSpPr>
          <p:sp>
            <p:nvSpPr>
              <p:cNvPr id="51" name="Rectangle 68">
                <a:extLst>
                  <a:ext uri="{FF2B5EF4-FFF2-40B4-BE49-F238E27FC236}">
                    <a16:creationId xmlns:a16="http://schemas.microsoft.com/office/drawing/2014/main" id="{ADD064EC-9702-221B-F107-AE3D086365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7789"/>
                <a:ext cx="3072" cy="50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900"/>
              </a:p>
            </p:txBody>
          </p:sp>
          <p:sp>
            <p:nvSpPr>
              <p:cNvPr id="52" name="Rectangle 69">
                <a:extLst>
                  <a:ext uri="{FF2B5EF4-FFF2-40B4-BE49-F238E27FC236}">
                    <a16:creationId xmlns:a16="http://schemas.microsoft.com/office/drawing/2014/main" id="{0C696559-36FB-EA8D-1E36-F67CE2F381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7854"/>
                <a:ext cx="3072" cy="37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r>
                  <a:rPr lang="en-US" altLang="en-US" sz="900" b="1" dirty="0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22	</a:t>
                </a:r>
                <a:r>
                  <a:rPr lang="en-US" altLang="en-US" sz="900" b="1" dirty="0">
                    <a:latin typeface="Courier New" panose="02070309020205020404" pitchFamily="49" charset="0"/>
                  </a:rPr>
                  <a:t>   </a:t>
                </a:r>
                <a:r>
                  <a:rPr lang="en-US" altLang="en-US" sz="900" b="1" dirty="0" err="1">
                    <a:latin typeface="Courier New" panose="02070309020205020404" pitchFamily="49" charset="0"/>
                  </a:rPr>
                  <a:t>c.x</a:t>
                </a:r>
                <a:r>
                  <a:rPr lang="en-US" altLang="en-US" sz="900" b="1" dirty="0">
                    <a:latin typeface="Courier New" panose="02070309020205020404" pitchFamily="49" charset="0"/>
                  </a:rPr>
                  <a:t> = </a:t>
                </a:r>
                <a:r>
                  <a:rPr lang="en-US" altLang="en-US" sz="900" b="1" dirty="0" err="1">
                    <a:latin typeface="Courier New" panose="02070309020205020404" pitchFamily="49" charset="0"/>
                  </a:rPr>
                  <a:t>val</a:t>
                </a:r>
                <a:r>
                  <a:rPr lang="en-US" altLang="en-US" sz="900" b="1" dirty="0">
                    <a:latin typeface="Courier New" panose="02070309020205020404" pitchFamily="49" charset="0"/>
                  </a:rPr>
                  <a:t>; </a:t>
                </a:r>
                <a:r>
                  <a:rPr lang="en-US" altLang="en-US" sz="900" b="1" dirty="0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 // legal: </a:t>
                </a:r>
                <a:r>
                  <a:rPr lang="en-US" altLang="en-US" sz="900" b="1" dirty="0" err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setX</a:t>
                </a:r>
                <a:r>
                  <a:rPr lang="en-US" altLang="en-US" sz="900" b="1" dirty="0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 is a friend of Count</a:t>
                </a:r>
                <a:endParaRPr lang="en-US" altLang="en-US" sz="900" b="1" dirty="0">
                  <a:latin typeface="Courier New" panose="02070309020205020404" pitchFamily="49" charset="0"/>
                </a:endParaRPr>
              </a:p>
              <a:p>
                <a:pPr eaLnBrk="1" hangingPunct="1">
                  <a:defRPr/>
                </a:pPr>
                <a:endParaRPr lang="en-US" altLang="en-US" sz="900" b="1" dirty="0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27" name="Group 70">
              <a:extLst>
                <a:ext uri="{FF2B5EF4-FFF2-40B4-BE49-F238E27FC236}">
                  <a16:creationId xmlns:a16="http://schemas.microsoft.com/office/drawing/2014/main" id="{868C34D6-375E-214D-267B-F0BAB1C65E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8163"/>
              <a:ext cx="3072" cy="504"/>
              <a:chOff x="0" y="8163"/>
              <a:chExt cx="3072" cy="504"/>
            </a:xfrm>
            <a:grpFill/>
          </p:grpSpPr>
          <p:sp>
            <p:nvSpPr>
              <p:cNvPr id="49" name="Rectangle 71">
                <a:extLst>
                  <a:ext uri="{FF2B5EF4-FFF2-40B4-BE49-F238E27FC236}">
                    <a16:creationId xmlns:a16="http://schemas.microsoft.com/office/drawing/2014/main" id="{AAE02072-02A4-8E0B-3A0D-F6B457B456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8163"/>
                <a:ext cx="3072" cy="50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900"/>
              </a:p>
            </p:txBody>
          </p:sp>
          <p:sp>
            <p:nvSpPr>
              <p:cNvPr id="50" name="Rectangle 72">
                <a:extLst>
                  <a:ext uri="{FF2B5EF4-FFF2-40B4-BE49-F238E27FC236}">
                    <a16:creationId xmlns:a16="http://schemas.microsoft.com/office/drawing/2014/main" id="{376303D5-363E-F05D-DC69-4B6AC97AB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8228"/>
                <a:ext cx="3072" cy="37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r>
                  <a:rPr lang="en-US" altLang="en-US" sz="9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23	</a:t>
                </a:r>
                <a:r>
                  <a:rPr lang="en-US" altLang="en-US" sz="900" b="1">
                    <a:latin typeface="Courier New" panose="02070309020205020404" pitchFamily="49" charset="0"/>
                  </a:rPr>
                  <a:t>}</a:t>
                </a:r>
              </a:p>
              <a:p>
                <a:pPr eaLnBrk="1" hangingPunct="1">
                  <a:defRPr/>
                </a:pPr>
                <a:endParaRPr lang="en-US" altLang="en-US" sz="9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28" name="Group 73">
              <a:extLst>
                <a:ext uri="{FF2B5EF4-FFF2-40B4-BE49-F238E27FC236}">
                  <a16:creationId xmlns:a16="http://schemas.microsoft.com/office/drawing/2014/main" id="{BF7F029F-598A-4A71-C41D-2295714092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8537"/>
              <a:ext cx="3072" cy="504"/>
              <a:chOff x="0" y="8537"/>
              <a:chExt cx="3072" cy="504"/>
            </a:xfrm>
            <a:grpFill/>
          </p:grpSpPr>
          <p:sp>
            <p:nvSpPr>
              <p:cNvPr id="47" name="Rectangle 74">
                <a:extLst>
                  <a:ext uri="{FF2B5EF4-FFF2-40B4-BE49-F238E27FC236}">
                    <a16:creationId xmlns:a16="http://schemas.microsoft.com/office/drawing/2014/main" id="{48241DF6-E671-DE07-FBFA-84ADE58B23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8537"/>
                <a:ext cx="3072" cy="50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900"/>
              </a:p>
            </p:txBody>
          </p:sp>
          <p:sp>
            <p:nvSpPr>
              <p:cNvPr id="48" name="Rectangle 75">
                <a:extLst>
                  <a:ext uri="{FF2B5EF4-FFF2-40B4-BE49-F238E27FC236}">
                    <a16:creationId xmlns:a16="http://schemas.microsoft.com/office/drawing/2014/main" id="{8EB8B096-7423-6404-E55E-8288F6E5B9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8602"/>
                <a:ext cx="3072" cy="37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r>
                  <a:rPr lang="en-US" altLang="en-US" sz="900" b="1" dirty="0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24 </a:t>
                </a:r>
                <a:r>
                  <a:rPr lang="en-US" altLang="en-US" sz="900" b="1" dirty="0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int</a:t>
                </a:r>
                <a:r>
                  <a:rPr lang="en-US" altLang="en-US" sz="900" b="1" dirty="0">
                    <a:latin typeface="Courier New" panose="02070309020205020404" pitchFamily="49" charset="0"/>
                  </a:rPr>
                  <a:t> main()</a:t>
                </a:r>
                <a:r>
                  <a:rPr lang="en-US" altLang="en-US" sz="900" b="1" dirty="0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</a:t>
                </a:r>
                <a:endParaRPr lang="en-US" altLang="en-US" sz="900" b="1" dirty="0">
                  <a:latin typeface="Courier New" panose="02070309020205020404" pitchFamily="49" charset="0"/>
                </a:endParaRPr>
              </a:p>
              <a:p>
                <a:pPr eaLnBrk="1" hangingPunct="1">
                  <a:defRPr/>
                </a:pPr>
                <a:endParaRPr lang="en-US" altLang="en-US" sz="900" b="1" dirty="0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29" name="Group 76">
              <a:extLst>
                <a:ext uri="{FF2B5EF4-FFF2-40B4-BE49-F238E27FC236}">
                  <a16:creationId xmlns:a16="http://schemas.microsoft.com/office/drawing/2014/main" id="{E67F9A4F-0837-98E8-3965-C79D9F4995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8911"/>
              <a:ext cx="3072" cy="504"/>
              <a:chOff x="0" y="8911"/>
              <a:chExt cx="3072" cy="504"/>
            </a:xfrm>
            <a:grpFill/>
          </p:grpSpPr>
          <p:sp>
            <p:nvSpPr>
              <p:cNvPr id="45" name="Rectangle 77">
                <a:extLst>
                  <a:ext uri="{FF2B5EF4-FFF2-40B4-BE49-F238E27FC236}">
                    <a16:creationId xmlns:a16="http://schemas.microsoft.com/office/drawing/2014/main" id="{15B849AC-3B96-F353-3E1E-2B47F9065D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8911"/>
                <a:ext cx="3072" cy="50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900"/>
              </a:p>
            </p:txBody>
          </p:sp>
          <p:sp>
            <p:nvSpPr>
              <p:cNvPr id="46" name="Rectangle 78">
                <a:extLst>
                  <a:ext uri="{FF2B5EF4-FFF2-40B4-BE49-F238E27FC236}">
                    <a16:creationId xmlns:a16="http://schemas.microsoft.com/office/drawing/2014/main" id="{CF882C3F-67A9-7379-DE30-CF3F8845F8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8976"/>
                <a:ext cx="3072" cy="37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r>
                  <a:rPr lang="en-US" altLang="en-US" sz="900" b="1" dirty="0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25 </a:t>
                </a:r>
                <a:r>
                  <a:rPr lang="en-US" altLang="en-US" sz="900" b="1" dirty="0">
                    <a:latin typeface="Courier New" panose="02070309020205020404" pitchFamily="49" charset="0"/>
                  </a:rPr>
                  <a:t>{</a:t>
                </a:r>
              </a:p>
              <a:p>
                <a:pPr eaLnBrk="1" hangingPunct="1">
                  <a:defRPr/>
                </a:pPr>
                <a:r>
                  <a:rPr lang="en-US" altLang="en-US" sz="900" b="1" dirty="0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</a:t>
                </a:r>
                <a:endParaRPr lang="en-US" altLang="en-US" sz="900" b="1" dirty="0">
                  <a:latin typeface="Courier New" panose="02070309020205020404" pitchFamily="49" charset="0"/>
                </a:endParaRPr>
              </a:p>
              <a:p>
                <a:pPr eaLnBrk="1" hangingPunct="1">
                  <a:defRPr/>
                </a:pPr>
                <a:endParaRPr lang="en-US" altLang="en-US" sz="900" b="1" dirty="0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30" name="Group 79">
              <a:extLst>
                <a:ext uri="{FF2B5EF4-FFF2-40B4-BE49-F238E27FC236}">
                  <a16:creationId xmlns:a16="http://schemas.microsoft.com/office/drawing/2014/main" id="{70480DCD-FA27-A684-D4FC-093487FC81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9285"/>
              <a:ext cx="3072" cy="504"/>
              <a:chOff x="0" y="9285"/>
              <a:chExt cx="3072" cy="504"/>
            </a:xfrm>
            <a:grpFill/>
          </p:grpSpPr>
          <p:sp>
            <p:nvSpPr>
              <p:cNvPr id="43" name="Rectangle 80">
                <a:extLst>
                  <a:ext uri="{FF2B5EF4-FFF2-40B4-BE49-F238E27FC236}">
                    <a16:creationId xmlns:a16="http://schemas.microsoft.com/office/drawing/2014/main" id="{15767A6F-453E-C182-8A52-4734814DC7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9285"/>
                <a:ext cx="3072" cy="50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900"/>
              </a:p>
            </p:txBody>
          </p:sp>
          <p:sp>
            <p:nvSpPr>
              <p:cNvPr id="44" name="Rectangle 81">
                <a:extLst>
                  <a:ext uri="{FF2B5EF4-FFF2-40B4-BE49-F238E27FC236}">
                    <a16:creationId xmlns:a16="http://schemas.microsoft.com/office/drawing/2014/main" id="{1DEB0DE8-4432-80C8-1C74-EF779E8BD7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9350"/>
                <a:ext cx="3072" cy="37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r>
                  <a:rPr lang="en-US" altLang="en-US" sz="900" b="1" dirty="0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26	</a:t>
                </a:r>
                <a:r>
                  <a:rPr lang="en-US" altLang="en-US" sz="900" b="1" dirty="0">
                    <a:latin typeface="Courier New" panose="02070309020205020404" pitchFamily="49" charset="0"/>
                  </a:rPr>
                  <a:t>Count counter;</a:t>
                </a:r>
              </a:p>
              <a:p>
                <a:pPr eaLnBrk="1" hangingPunct="1">
                  <a:defRPr/>
                </a:pPr>
                <a:endParaRPr lang="en-US" altLang="en-US" sz="900" b="1" dirty="0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31" name="Group 82">
              <a:extLst>
                <a:ext uri="{FF2B5EF4-FFF2-40B4-BE49-F238E27FC236}">
                  <a16:creationId xmlns:a16="http://schemas.microsoft.com/office/drawing/2014/main" id="{BB6B7623-0B17-7520-3A8C-70C9153F64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9659"/>
              <a:ext cx="3072" cy="504"/>
              <a:chOff x="0" y="9659"/>
              <a:chExt cx="3072" cy="504"/>
            </a:xfrm>
            <a:grpFill/>
          </p:grpSpPr>
          <p:sp>
            <p:nvSpPr>
              <p:cNvPr id="41" name="Rectangle 83">
                <a:extLst>
                  <a:ext uri="{FF2B5EF4-FFF2-40B4-BE49-F238E27FC236}">
                    <a16:creationId xmlns:a16="http://schemas.microsoft.com/office/drawing/2014/main" id="{E7A20B6B-670A-1BBC-DF14-F3010583FD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9659"/>
                <a:ext cx="3072" cy="50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900"/>
              </a:p>
            </p:txBody>
          </p:sp>
          <p:sp>
            <p:nvSpPr>
              <p:cNvPr id="42" name="Rectangle 84">
                <a:extLst>
                  <a:ext uri="{FF2B5EF4-FFF2-40B4-BE49-F238E27FC236}">
                    <a16:creationId xmlns:a16="http://schemas.microsoft.com/office/drawing/2014/main" id="{13D685F4-152B-8EDF-0023-32994A654E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9724"/>
                <a:ext cx="3072" cy="37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r>
                  <a:rPr lang="en-US" altLang="en-US" sz="900" b="1" dirty="0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27	</a:t>
                </a:r>
                <a:r>
                  <a:rPr lang="en-US" altLang="en-US" sz="900" b="1" dirty="0" err="1">
                    <a:latin typeface="Courier New" panose="02070309020205020404" pitchFamily="49" charset="0"/>
                  </a:rPr>
                  <a:t>cout</a:t>
                </a:r>
                <a:r>
                  <a:rPr lang="en-US" altLang="en-US" sz="900" b="1" dirty="0">
                    <a:latin typeface="Courier New" panose="02070309020205020404" pitchFamily="49" charset="0"/>
                  </a:rPr>
                  <a:t> &lt;&lt; "</a:t>
                </a:r>
                <a:r>
                  <a:rPr lang="en-US" altLang="en-US" sz="900" b="1" dirty="0" err="1">
                    <a:latin typeface="Courier New" panose="02070309020205020404" pitchFamily="49" charset="0"/>
                  </a:rPr>
                  <a:t>counter.a</a:t>
                </a:r>
                <a:r>
                  <a:rPr lang="en-US" altLang="en-US" sz="900" b="1" dirty="0">
                    <a:latin typeface="Courier New" panose="02070309020205020404" pitchFamily="49" charset="0"/>
                  </a:rPr>
                  <a:t> after instantiation: ";</a:t>
                </a:r>
              </a:p>
              <a:p>
                <a:pPr eaLnBrk="1" hangingPunct="1">
                  <a:defRPr/>
                </a:pPr>
                <a:endParaRPr lang="en-US" altLang="en-US" sz="900" b="1" dirty="0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32" name="Group 85">
              <a:extLst>
                <a:ext uri="{FF2B5EF4-FFF2-40B4-BE49-F238E27FC236}">
                  <a16:creationId xmlns:a16="http://schemas.microsoft.com/office/drawing/2014/main" id="{7802AE92-BA3D-2EB9-678B-7CB500D0CE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10033"/>
              <a:ext cx="3072" cy="504"/>
              <a:chOff x="0" y="10033"/>
              <a:chExt cx="3072" cy="504"/>
            </a:xfrm>
            <a:grpFill/>
          </p:grpSpPr>
          <p:sp>
            <p:nvSpPr>
              <p:cNvPr id="39" name="Rectangle 86">
                <a:extLst>
                  <a:ext uri="{FF2B5EF4-FFF2-40B4-BE49-F238E27FC236}">
                    <a16:creationId xmlns:a16="http://schemas.microsoft.com/office/drawing/2014/main" id="{37A7CEEC-43DB-EC4C-2D09-8CBCDEEF1A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0033"/>
                <a:ext cx="3072" cy="50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900"/>
              </a:p>
            </p:txBody>
          </p:sp>
          <p:sp>
            <p:nvSpPr>
              <p:cNvPr id="40" name="Rectangle 87">
                <a:extLst>
                  <a:ext uri="{FF2B5EF4-FFF2-40B4-BE49-F238E27FC236}">
                    <a16:creationId xmlns:a16="http://schemas.microsoft.com/office/drawing/2014/main" id="{7D69AF79-7D9B-1B73-E743-BDA9C791BE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0098"/>
                <a:ext cx="3072" cy="37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r>
                  <a:rPr lang="en-US" altLang="en-US" sz="900" b="1" dirty="0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28 </a:t>
                </a:r>
                <a:r>
                  <a:rPr lang="en-US" altLang="en-US" sz="900" b="1" dirty="0" err="1">
                    <a:latin typeface="Courier New" panose="02070309020205020404" pitchFamily="49" charset="0"/>
                  </a:rPr>
                  <a:t>counter.print</a:t>
                </a:r>
                <a:r>
                  <a:rPr lang="en-US" altLang="en-US" sz="900" b="1" dirty="0">
                    <a:latin typeface="Courier New" panose="02070309020205020404" pitchFamily="49" charset="0"/>
                  </a:rPr>
                  <a:t>();</a:t>
                </a:r>
              </a:p>
              <a:p>
                <a:pPr eaLnBrk="1" hangingPunct="1">
                  <a:defRPr/>
                </a:pPr>
                <a:endParaRPr lang="en-US" altLang="en-US" sz="900" b="1" dirty="0">
                  <a:latin typeface="Courier New" panose="02070309020205020404" pitchFamily="49" charset="0"/>
                </a:endParaRPr>
              </a:p>
            </p:txBody>
          </p:sp>
        </p:grpSp>
        <p:sp>
          <p:nvSpPr>
            <p:cNvPr id="37" name="Rectangle 89">
              <a:extLst>
                <a:ext uri="{FF2B5EF4-FFF2-40B4-BE49-F238E27FC236}">
                  <a16:creationId xmlns:a16="http://schemas.microsoft.com/office/drawing/2014/main" id="{7F433F2C-7E2A-8385-3EEC-388D270A69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0407"/>
              <a:ext cx="3072" cy="504"/>
            </a:xfrm>
            <a:prstGeom prst="rect">
              <a:avLst/>
            </a:prstGeom>
            <a:grpFill/>
            <a:ln>
              <a:noFill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z="900"/>
            </a:p>
          </p:txBody>
        </p:sp>
      </p:grpSp>
      <p:sp>
        <p:nvSpPr>
          <p:cNvPr id="101378" name="Slide Number Placeholder 2">
            <a:extLst>
              <a:ext uri="{FF2B5EF4-FFF2-40B4-BE49-F238E27FC236}">
                <a16:creationId xmlns:a16="http://schemas.microsoft.com/office/drawing/2014/main" id="{A827E541-C3F5-15C7-B955-7146E9170FCD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D568BAD9-F168-D047-A1ED-AB9F4B719E1D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grpSp>
        <p:nvGrpSpPr>
          <p:cNvPr id="95" name="Group 104">
            <a:extLst>
              <a:ext uri="{FF2B5EF4-FFF2-40B4-BE49-F238E27FC236}">
                <a16:creationId xmlns:a16="http://schemas.microsoft.com/office/drawing/2014/main" id="{5A93D539-0300-D86D-57B3-087E5B778B35}"/>
              </a:ext>
            </a:extLst>
          </p:cNvPr>
          <p:cNvGrpSpPr>
            <a:grpSpLocks/>
          </p:cNvGrpSpPr>
          <p:nvPr/>
        </p:nvGrpSpPr>
        <p:grpSpPr bwMode="auto">
          <a:xfrm>
            <a:off x="2914650" y="3571867"/>
            <a:ext cx="3143250" cy="628650"/>
            <a:chOff x="1584" y="1920"/>
            <a:chExt cx="2640" cy="528"/>
          </a:xfrm>
          <a:solidFill>
            <a:schemeClr val="bg1">
              <a:lumMod val="85000"/>
            </a:schemeClr>
          </a:solidFill>
        </p:grpSpPr>
        <p:sp>
          <p:nvSpPr>
            <p:cNvPr id="96" name="Text Box 95">
              <a:extLst>
                <a:ext uri="{FF2B5EF4-FFF2-40B4-BE49-F238E27FC236}">
                  <a16:creationId xmlns:a16="http://schemas.microsoft.com/office/drawing/2014/main" id="{E7C58320-F19D-B795-8D2A-8A88730157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" y="1920"/>
              <a:ext cx="1488" cy="42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r>
                <a:rPr lang="en-US" altLang="en-US" sz="900" b="1" dirty="0" err="1">
                  <a:latin typeface="Courier New" panose="02070309020205020404" pitchFamily="49" charset="0"/>
                </a:rPr>
                <a:t>setA</a:t>
              </a:r>
              <a:r>
                <a:rPr lang="en-US" altLang="en-US" sz="900" dirty="0"/>
                <a:t> is defined normally and is not a member function of </a:t>
              </a:r>
              <a:r>
                <a:rPr lang="en-US" altLang="en-US" sz="900" b="1" dirty="0">
                  <a:latin typeface="Courier New" panose="02070309020205020404" pitchFamily="49" charset="0"/>
                </a:rPr>
                <a:t>Count</a:t>
              </a:r>
              <a:r>
                <a:rPr lang="en-US" altLang="en-US" sz="900" dirty="0"/>
                <a:t>.</a:t>
              </a:r>
            </a:p>
          </p:txBody>
        </p:sp>
        <p:sp>
          <p:nvSpPr>
            <p:cNvPr id="97" name="Line 101">
              <a:extLst>
                <a:ext uri="{FF2B5EF4-FFF2-40B4-BE49-F238E27FC236}">
                  <a16:creationId xmlns:a16="http://schemas.microsoft.com/office/drawing/2014/main" id="{9BB0F156-A837-C58E-4309-9DAD20B6EC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84" y="2256"/>
              <a:ext cx="1152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en-US"/>
            </a:p>
          </p:txBody>
        </p:sp>
      </p:grpSp>
      <p:grpSp>
        <p:nvGrpSpPr>
          <p:cNvPr id="98" name="Group 105">
            <a:extLst>
              <a:ext uri="{FF2B5EF4-FFF2-40B4-BE49-F238E27FC236}">
                <a16:creationId xmlns:a16="http://schemas.microsoft.com/office/drawing/2014/main" id="{BC34F9EF-B57B-2476-0A50-8738299E9557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1343017"/>
            <a:ext cx="2743200" cy="1200150"/>
            <a:chOff x="1680" y="336"/>
            <a:chExt cx="2304" cy="1008"/>
          </a:xfrm>
          <a:solidFill>
            <a:schemeClr val="bg1">
              <a:lumMod val="85000"/>
            </a:schemeClr>
          </a:solidFill>
        </p:grpSpPr>
        <p:sp>
          <p:nvSpPr>
            <p:cNvPr id="99" name="Text Box 94">
              <a:extLst>
                <a:ext uri="{FF2B5EF4-FFF2-40B4-BE49-F238E27FC236}">
                  <a16:creationId xmlns:a16="http://schemas.microsoft.com/office/drawing/2014/main" id="{36F12C87-5F9D-DD69-4A2F-F71C82E1AF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336"/>
              <a:ext cx="1584" cy="31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r>
                <a:rPr lang="en-US" altLang="en-US" sz="900" b="1" dirty="0" err="1">
                  <a:latin typeface="Courier New" panose="02070309020205020404" pitchFamily="49" charset="0"/>
                </a:rPr>
                <a:t>setA</a:t>
              </a:r>
              <a:r>
                <a:rPr lang="en-US" altLang="en-US" sz="900" dirty="0"/>
                <a:t> a </a:t>
              </a:r>
              <a:r>
                <a:rPr lang="en-US" altLang="en-US" sz="900" b="1" dirty="0">
                  <a:latin typeface="Courier New" panose="02070309020205020404" pitchFamily="49" charset="0"/>
                </a:rPr>
                <a:t>friend</a:t>
              </a:r>
              <a:r>
                <a:rPr lang="en-US" altLang="en-US" sz="900" dirty="0"/>
                <a:t> of class </a:t>
              </a:r>
              <a:r>
                <a:rPr lang="en-US" altLang="en-US" sz="900" b="1" dirty="0">
                  <a:latin typeface="Courier New" panose="02070309020205020404" pitchFamily="49" charset="0"/>
                </a:rPr>
                <a:t>Count</a:t>
              </a:r>
              <a:r>
                <a:rPr lang="en-US" altLang="en-US" sz="900" dirty="0"/>
                <a:t> (can access </a:t>
              </a:r>
              <a:r>
                <a:rPr lang="en-US" altLang="en-US" sz="900" b="1" dirty="0">
                  <a:latin typeface="Courier New" panose="02070309020205020404" pitchFamily="49" charset="0"/>
                </a:rPr>
                <a:t>private</a:t>
              </a:r>
              <a:r>
                <a:rPr lang="en-US" altLang="en-US" sz="900" dirty="0"/>
                <a:t> data).</a:t>
              </a:r>
              <a:endParaRPr lang="en-US" altLang="en-US" sz="900" b="1" dirty="0"/>
            </a:p>
          </p:txBody>
        </p:sp>
        <p:sp>
          <p:nvSpPr>
            <p:cNvPr id="100" name="Line 102">
              <a:extLst>
                <a:ext uri="{FF2B5EF4-FFF2-40B4-BE49-F238E27FC236}">
                  <a16:creationId xmlns:a16="http://schemas.microsoft.com/office/drawing/2014/main" id="{5934B24B-45C6-2105-B59E-C9103100AA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80" y="720"/>
              <a:ext cx="720" cy="624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en-US"/>
            </a:p>
          </p:txBody>
        </p:sp>
      </p:grpSp>
      <p:grpSp>
        <p:nvGrpSpPr>
          <p:cNvPr id="101" name="Group 107">
            <a:extLst>
              <a:ext uri="{FF2B5EF4-FFF2-40B4-BE49-F238E27FC236}">
                <a16:creationId xmlns:a16="http://schemas.microsoft.com/office/drawing/2014/main" id="{86EBDCD6-8699-8C06-A8A6-1ACC529E63A3}"/>
              </a:ext>
            </a:extLst>
          </p:cNvPr>
          <p:cNvGrpSpPr>
            <a:grpSpLocks/>
          </p:cNvGrpSpPr>
          <p:nvPr/>
        </p:nvGrpSpPr>
        <p:grpSpPr bwMode="auto">
          <a:xfrm>
            <a:off x="1885950" y="3514717"/>
            <a:ext cx="4229100" cy="1085850"/>
            <a:chOff x="768" y="2160"/>
            <a:chExt cx="3552" cy="912"/>
          </a:xfrm>
          <a:solidFill>
            <a:schemeClr val="bg1">
              <a:lumMod val="85000"/>
            </a:schemeClr>
          </a:solidFill>
        </p:grpSpPr>
        <p:grpSp>
          <p:nvGrpSpPr>
            <p:cNvPr id="102" name="Group 103">
              <a:extLst>
                <a:ext uri="{FF2B5EF4-FFF2-40B4-BE49-F238E27FC236}">
                  <a16:creationId xmlns:a16="http://schemas.microsoft.com/office/drawing/2014/main" id="{053F1DD3-22EF-C04B-5507-91DFE9C0FE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8" y="2784"/>
              <a:ext cx="3312" cy="288"/>
              <a:chOff x="912" y="3216"/>
              <a:chExt cx="3312" cy="288"/>
            </a:xfrm>
            <a:grpFill/>
          </p:grpSpPr>
          <p:sp>
            <p:nvSpPr>
              <p:cNvPr id="104" name="Line 99">
                <a:extLst>
                  <a:ext uri="{FF2B5EF4-FFF2-40B4-BE49-F238E27FC236}">
                    <a16:creationId xmlns:a16="http://schemas.microsoft.com/office/drawing/2014/main" id="{68B6DFEC-7B24-33C3-6303-655FAA0643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12" y="3360"/>
                <a:ext cx="1296" cy="144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anchor="ctr">
                <a:spAutoFit/>
              </a:bodyPr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05" name="Text Box 96">
                <a:extLst>
                  <a:ext uri="{FF2B5EF4-FFF2-40B4-BE49-F238E27FC236}">
                    <a16:creationId xmlns:a16="http://schemas.microsoft.com/office/drawing/2014/main" id="{EB89F4A3-2D42-C4F7-8BA7-4F6F15AC05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16" y="3216"/>
                <a:ext cx="2208" cy="194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r>
                  <a:rPr lang="en-US" altLang="en-US" sz="900"/>
                  <a:t>Changing </a:t>
                </a:r>
                <a:r>
                  <a:rPr lang="en-US" altLang="en-US" sz="900" b="1">
                    <a:latin typeface="Courier New" panose="02070309020205020404" pitchFamily="49" charset="0"/>
                  </a:rPr>
                  <a:t>private</a:t>
                </a:r>
                <a:r>
                  <a:rPr lang="en-US" altLang="en-US" sz="900"/>
                  <a:t> variables allowed.</a:t>
                </a:r>
                <a:endParaRPr lang="en-US" altLang="en-US" sz="900" b="1"/>
              </a:p>
            </p:txBody>
          </p:sp>
        </p:grpSp>
        <p:sp>
          <p:nvSpPr>
            <p:cNvPr id="103" name="Line 106">
              <a:extLst>
                <a:ext uri="{FF2B5EF4-FFF2-40B4-BE49-F238E27FC236}">
                  <a16:creationId xmlns:a16="http://schemas.microsoft.com/office/drawing/2014/main" id="{1DD6C2EB-EA02-BD03-673D-8CA75E24C6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68" y="2160"/>
              <a:ext cx="1344" cy="72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Slide Number Placeholder 2">
            <a:extLst>
              <a:ext uri="{FF2B5EF4-FFF2-40B4-BE49-F238E27FC236}">
                <a16:creationId xmlns:a16="http://schemas.microsoft.com/office/drawing/2014/main" id="{F8ED65E7-1656-DF86-F1FF-E8F3E95A55BE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A46502B2-588D-7B45-BA67-2F8FF9533EED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EFAF443-47DB-8FA0-0A4F-32792DBAA899}"/>
              </a:ext>
            </a:extLst>
          </p:cNvPr>
          <p:cNvGrpSpPr>
            <a:grpSpLocks/>
          </p:cNvGrpSpPr>
          <p:nvPr/>
        </p:nvGrpSpPr>
        <p:grpSpPr bwMode="auto">
          <a:xfrm>
            <a:off x="434897" y="1294499"/>
            <a:ext cx="5029200" cy="1485900"/>
            <a:chOff x="0" y="0"/>
            <a:chExt cx="3072" cy="1870"/>
          </a:xfrm>
          <a:solidFill>
            <a:schemeClr val="bg1"/>
          </a:solidFill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858EE4A-E59B-C476-E547-2F33D1809E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3072" cy="374"/>
              <a:chOff x="0" y="0"/>
              <a:chExt cx="3072" cy="374"/>
            </a:xfrm>
            <a:grpFill/>
          </p:grpSpPr>
          <p:sp>
            <p:nvSpPr>
              <p:cNvPr id="18" name="Rectangle 5">
                <a:extLst>
                  <a:ext uri="{FF2B5EF4-FFF2-40B4-BE49-F238E27FC236}">
                    <a16:creationId xmlns:a16="http://schemas.microsoft.com/office/drawing/2014/main" id="{E388EB37-493B-DF5D-4BDB-4D002BBA64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42"/>
                <a:ext cx="3072" cy="291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defTabSz="685800" eaLnBrk="1" hangingPunct="1">
                  <a:defRPr/>
                </a:pPr>
                <a:endParaRPr lang="en-US" altLang="en-US" sz="900" ker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9" name="Rectangle 6">
                <a:extLst>
                  <a:ext uri="{FF2B5EF4-FFF2-40B4-BE49-F238E27FC236}">
                    <a16:creationId xmlns:a16="http://schemas.microsoft.com/office/drawing/2014/main" id="{E307FA04-8F1F-C9AF-15A0-5868446590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3072" cy="37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defTabSz="685800" eaLnBrk="1" hangingPunct="1">
                  <a:tabLst>
                    <a:tab pos="104775" algn="r"/>
                    <a:tab pos="219075" algn="l"/>
                  </a:tabLst>
                  <a:defRPr/>
                </a:pPr>
                <a:r>
                  <a:rPr lang="en-US" altLang="en-US" sz="900" b="1" kern="0" dirty="0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29	</a:t>
                </a:r>
                <a:r>
                  <a:rPr lang="en-US" altLang="en-US" sz="900" b="1" kern="0" dirty="0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   </a:t>
                </a:r>
                <a:r>
                  <a:rPr lang="en-US" altLang="en-US" sz="900" b="1" kern="0" dirty="0" err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cout</a:t>
                </a:r>
                <a:r>
                  <a:rPr lang="en-US" altLang="en-US" sz="900" b="1" kern="0" dirty="0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 &lt;&lt; "</a:t>
                </a:r>
                <a:r>
                  <a:rPr lang="en-US" altLang="en-US" sz="900" b="1" kern="0" dirty="0" err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counter.a</a:t>
                </a:r>
                <a:r>
                  <a:rPr lang="en-US" altLang="en-US" sz="900" b="1" kern="0" dirty="0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 after call to </a:t>
                </a:r>
                <a:r>
                  <a:rPr lang="en-US" altLang="en-US" sz="900" b="1" kern="0" dirty="0" err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setA</a:t>
                </a:r>
                <a:r>
                  <a:rPr lang="en-US" altLang="en-US" sz="900" b="1" kern="0" dirty="0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 friend function: ";</a:t>
                </a:r>
              </a:p>
              <a:p>
                <a:pPr defTabSz="685800" eaLnBrk="1" hangingPunct="1">
                  <a:tabLst>
                    <a:tab pos="104775" algn="r"/>
                    <a:tab pos="219075" algn="l"/>
                  </a:tabLst>
                  <a:defRPr/>
                </a:pPr>
                <a:endParaRPr lang="en-US" altLang="en-US" sz="900" b="1" kern="0" dirty="0">
                  <a:solidFill>
                    <a:srgbClr val="000000"/>
                  </a:solidFill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6" name="Group 7">
              <a:extLst>
                <a:ext uri="{FF2B5EF4-FFF2-40B4-BE49-F238E27FC236}">
                  <a16:creationId xmlns:a16="http://schemas.microsoft.com/office/drawing/2014/main" id="{D3B94E64-71CB-860A-08BE-3CFF6400DF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374"/>
              <a:ext cx="3072" cy="374"/>
              <a:chOff x="0" y="374"/>
              <a:chExt cx="3072" cy="374"/>
            </a:xfrm>
            <a:grpFill/>
          </p:grpSpPr>
          <p:sp>
            <p:nvSpPr>
              <p:cNvPr id="16" name="Rectangle 8">
                <a:extLst>
                  <a:ext uri="{FF2B5EF4-FFF2-40B4-BE49-F238E27FC236}">
                    <a16:creationId xmlns:a16="http://schemas.microsoft.com/office/drawing/2014/main" id="{49B31BA2-BF1B-F1BB-93EC-8B9280FE5E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416"/>
                <a:ext cx="3072" cy="291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defTabSz="685800" eaLnBrk="1" hangingPunct="1">
                  <a:defRPr/>
                </a:pPr>
                <a:endParaRPr lang="en-US" altLang="en-US" sz="900" ker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7" name="Rectangle 9">
                <a:extLst>
                  <a:ext uri="{FF2B5EF4-FFF2-40B4-BE49-F238E27FC236}">
                    <a16:creationId xmlns:a16="http://schemas.microsoft.com/office/drawing/2014/main" id="{7E3D553D-E865-3CEE-556F-50A1FF987C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374"/>
                <a:ext cx="3072" cy="37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defTabSz="685800" eaLnBrk="1" hangingPunct="1">
                  <a:tabLst>
                    <a:tab pos="104775" algn="r"/>
                    <a:tab pos="219075" algn="l"/>
                  </a:tabLst>
                  <a:defRPr/>
                </a:pPr>
                <a:r>
                  <a:rPr lang="en-US" altLang="en-US" sz="900" b="1" kern="0" dirty="0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30	</a:t>
                </a:r>
                <a:r>
                  <a:rPr lang="en-US" altLang="en-US" sz="900" b="1" kern="0" dirty="0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   </a:t>
                </a:r>
                <a:r>
                  <a:rPr lang="en-US" altLang="en-US" sz="900" b="1" kern="0" dirty="0" err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setA</a:t>
                </a:r>
                <a:r>
                  <a:rPr lang="en-US" altLang="en-US" sz="900" b="1" kern="0" dirty="0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( counter, 8 );  </a:t>
                </a:r>
                <a:r>
                  <a:rPr lang="en-US" altLang="en-US" sz="900" b="1" kern="0" dirty="0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set a with a friend</a:t>
                </a:r>
                <a:endParaRPr lang="en-US" altLang="en-US" sz="900" b="1" kern="0" dirty="0">
                  <a:solidFill>
                    <a:srgbClr val="000000"/>
                  </a:solidFill>
                  <a:latin typeface="Courier New" panose="02070309020205020404" pitchFamily="49" charset="0"/>
                </a:endParaRPr>
              </a:p>
              <a:p>
                <a:pPr defTabSz="685800" eaLnBrk="1" hangingPunct="1">
                  <a:tabLst>
                    <a:tab pos="104775" algn="r"/>
                    <a:tab pos="219075" algn="l"/>
                  </a:tabLst>
                  <a:defRPr/>
                </a:pPr>
                <a:endParaRPr lang="en-US" altLang="en-US" sz="900" b="1" kern="0" dirty="0">
                  <a:solidFill>
                    <a:srgbClr val="000000"/>
                  </a:solidFill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7" name="Group 10">
              <a:extLst>
                <a:ext uri="{FF2B5EF4-FFF2-40B4-BE49-F238E27FC236}">
                  <a16:creationId xmlns:a16="http://schemas.microsoft.com/office/drawing/2014/main" id="{28276516-C343-596C-801E-4BD431FCA5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748"/>
              <a:ext cx="3072" cy="374"/>
              <a:chOff x="0" y="748"/>
              <a:chExt cx="3072" cy="374"/>
            </a:xfrm>
            <a:grpFill/>
          </p:grpSpPr>
          <p:sp>
            <p:nvSpPr>
              <p:cNvPr id="14" name="Rectangle 11">
                <a:extLst>
                  <a:ext uri="{FF2B5EF4-FFF2-40B4-BE49-F238E27FC236}">
                    <a16:creationId xmlns:a16="http://schemas.microsoft.com/office/drawing/2014/main" id="{D39C53AC-5B08-C7ED-07D1-0BB6794AE9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790"/>
                <a:ext cx="3072" cy="291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defTabSz="685800" eaLnBrk="1" hangingPunct="1">
                  <a:defRPr/>
                </a:pPr>
                <a:endParaRPr lang="en-US" altLang="en-US" sz="900" ker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5" name="Rectangle 12">
                <a:extLst>
                  <a:ext uri="{FF2B5EF4-FFF2-40B4-BE49-F238E27FC236}">
                    <a16:creationId xmlns:a16="http://schemas.microsoft.com/office/drawing/2014/main" id="{1CA9548F-8FA4-0ABC-BBD3-B2AEFC8D39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748"/>
                <a:ext cx="3072" cy="37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defTabSz="685800" eaLnBrk="1" hangingPunct="1">
                  <a:tabLst>
                    <a:tab pos="104775" algn="r"/>
                    <a:tab pos="219075" algn="l"/>
                  </a:tabLst>
                  <a:defRPr/>
                </a:pPr>
                <a:r>
                  <a:rPr lang="en-US" altLang="en-US" sz="900" b="1" kern="0" dirty="0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31	</a:t>
                </a:r>
                <a:r>
                  <a:rPr lang="en-US" altLang="en-US" sz="900" b="1" kern="0" dirty="0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   </a:t>
                </a:r>
                <a:r>
                  <a:rPr lang="en-US" altLang="en-US" sz="900" b="1" kern="0" dirty="0" err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counter.print</a:t>
                </a:r>
                <a:r>
                  <a:rPr lang="en-US" altLang="en-US" sz="900" b="1" kern="0" dirty="0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();</a:t>
                </a:r>
              </a:p>
              <a:p>
                <a:pPr defTabSz="685800" eaLnBrk="1" hangingPunct="1">
                  <a:tabLst>
                    <a:tab pos="104775" algn="r"/>
                    <a:tab pos="219075" algn="l"/>
                  </a:tabLst>
                  <a:defRPr/>
                </a:pPr>
                <a:endParaRPr lang="en-US" altLang="en-US" sz="900" b="1" kern="0" dirty="0">
                  <a:solidFill>
                    <a:srgbClr val="000000"/>
                  </a:solidFill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8" name="Group 13">
              <a:extLst>
                <a:ext uri="{FF2B5EF4-FFF2-40B4-BE49-F238E27FC236}">
                  <a16:creationId xmlns:a16="http://schemas.microsoft.com/office/drawing/2014/main" id="{1CC7E673-7CDA-F070-3E8F-BE89AC4138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1122"/>
              <a:ext cx="3072" cy="374"/>
              <a:chOff x="0" y="1122"/>
              <a:chExt cx="3072" cy="374"/>
            </a:xfrm>
            <a:grpFill/>
          </p:grpSpPr>
          <p:sp>
            <p:nvSpPr>
              <p:cNvPr id="12" name="Rectangle 14">
                <a:extLst>
                  <a:ext uri="{FF2B5EF4-FFF2-40B4-BE49-F238E27FC236}">
                    <a16:creationId xmlns:a16="http://schemas.microsoft.com/office/drawing/2014/main" id="{44B65C17-2A1A-4B06-6825-D193C786DB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164"/>
                <a:ext cx="3072" cy="291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defTabSz="685800" eaLnBrk="1" hangingPunct="1">
                  <a:defRPr/>
                </a:pPr>
                <a:endParaRPr lang="en-US" altLang="en-US" sz="900" ker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9080B46C-3CF0-095C-EE2E-468DB3625F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122"/>
                <a:ext cx="3072" cy="37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defTabSz="685800" eaLnBrk="1" hangingPunct="1">
                  <a:tabLst>
                    <a:tab pos="104775" algn="r"/>
                    <a:tab pos="219075" algn="l"/>
                  </a:tabLst>
                  <a:defRPr/>
                </a:pPr>
                <a:r>
                  <a:rPr lang="en-US" altLang="en-US" sz="900" b="1" kern="0" dirty="0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32	</a:t>
                </a:r>
                <a:r>
                  <a:rPr lang="en-US" altLang="en-US" sz="900" b="1" kern="0" dirty="0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   </a:t>
                </a:r>
                <a:r>
                  <a:rPr lang="en-US" altLang="en-US" sz="900" b="1" kern="0" dirty="0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return</a:t>
                </a:r>
                <a:r>
                  <a:rPr lang="en-US" altLang="en-US" sz="900" b="1" kern="0" dirty="0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 0;</a:t>
                </a:r>
              </a:p>
              <a:p>
                <a:pPr defTabSz="685800" eaLnBrk="1" hangingPunct="1">
                  <a:tabLst>
                    <a:tab pos="104775" algn="r"/>
                    <a:tab pos="219075" algn="l"/>
                  </a:tabLst>
                  <a:defRPr/>
                </a:pPr>
                <a:endParaRPr lang="en-US" altLang="en-US" sz="900" b="1" kern="0" dirty="0">
                  <a:solidFill>
                    <a:srgbClr val="000000"/>
                  </a:solidFill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9" name="Group 16">
              <a:extLst>
                <a:ext uri="{FF2B5EF4-FFF2-40B4-BE49-F238E27FC236}">
                  <a16:creationId xmlns:a16="http://schemas.microsoft.com/office/drawing/2014/main" id="{941F582B-1AB3-E38D-3A1F-D92EB170E5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1496"/>
              <a:ext cx="3072" cy="374"/>
              <a:chOff x="0" y="1496"/>
              <a:chExt cx="3072" cy="374"/>
            </a:xfrm>
            <a:grpFill/>
          </p:grpSpPr>
          <p:sp>
            <p:nvSpPr>
              <p:cNvPr id="10" name="Rectangle 17">
                <a:extLst>
                  <a:ext uri="{FF2B5EF4-FFF2-40B4-BE49-F238E27FC236}">
                    <a16:creationId xmlns:a16="http://schemas.microsoft.com/office/drawing/2014/main" id="{9B190CDD-8B0C-7BAC-6CBB-9E37A707D4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538"/>
                <a:ext cx="3072" cy="291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defTabSz="685800" eaLnBrk="1" hangingPunct="1">
                  <a:defRPr/>
                </a:pPr>
                <a:endParaRPr lang="en-US" altLang="en-US" sz="900" ker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" name="Rectangle 18">
                <a:extLst>
                  <a:ext uri="{FF2B5EF4-FFF2-40B4-BE49-F238E27FC236}">
                    <a16:creationId xmlns:a16="http://schemas.microsoft.com/office/drawing/2014/main" id="{DD733910-9ED9-52FD-C607-797B8613CD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496"/>
                <a:ext cx="3072" cy="37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defTabSz="685800" eaLnBrk="1" hangingPunct="1">
                  <a:tabLst>
                    <a:tab pos="104775" algn="r"/>
                    <a:tab pos="219075" algn="l"/>
                  </a:tabLst>
                  <a:defRPr/>
                </a:pPr>
                <a:r>
                  <a:rPr lang="en-US" altLang="en-US" sz="900" b="1" kern="0" dirty="0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33	</a:t>
                </a:r>
                <a:r>
                  <a:rPr lang="en-US" altLang="en-US" sz="900" b="1" kern="0" dirty="0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}</a:t>
                </a:r>
              </a:p>
              <a:p>
                <a:pPr defTabSz="685800" eaLnBrk="1" hangingPunct="1">
                  <a:tabLst>
                    <a:tab pos="104775" algn="r"/>
                    <a:tab pos="219075" algn="l"/>
                  </a:tabLst>
                  <a:defRPr/>
                </a:pPr>
                <a:endParaRPr lang="en-US" altLang="en-US" sz="900" b="1" kern="0" dirty="0">
                  <a:solidFill>
                    <a:srgbClr val="000000"/>
                  </a:solidFill>
                  <a:latin typeface="Courier New" panose="02070309020205020404" pitchFamily="49" charset="0"/>
                </a:endParaRPr>
              </a:p>
            </p:txBody>
          </p:sp>
        </p:grp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69F2EB01-7FD8-499D-2649-CC2EC5F825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975" y="3065463"/>
            <a:ext cx="5029200" cy="369887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85800" eaLnBrk="1" hangingPunct="1">
              <a:tabLst>
                <a:tab pos="45720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</a:tabLst>
              <a:defRPr/>
            </a:pPr>
            <a:r>
              <a:rPr lang="en-US" altLang="en-US" sz="900" b="1" kern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counter.a</a:t>
            </a:r>
            <a:r>
              <a:rPr lang="en-US" altLang="en-US" sz="900" b="1" kern="0" dirty="0">
                <a:solidFill>
                  <a:srgbClr val="000000"/>
                </a:solidFill>
                <a:latin typeface="Courier New" panose="02070309020205020404" pitchFamily="49" charset="0"/>
              </a:rPr>
              <a:t> after instantiation: 0</a:t>
            </a:r>
          </a:p>
          <a:p>
            <a:pPr defTabSz="685800" eaLnBrk="1" hangingPunct="1">
              <a:tabLst>
                <a:tab pos="45720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</a:tabLst>
              <a:defRPr/>
            </a:pPr>
            <a:r>
              <a:rPr lang="en-US" altLang="en-US" sz="900" b="1" kern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counter.a</a:t>
            </a:r>
            <a:r>
              <a:rPr lang="en-US" altLang="en-US" sz="900" b="1" kern="0" dirty="0">
                <a:solidFill>
                  <a:srgbClr val="000000"/>
                </a:solidFill>
                <a:latin typeface="Courier New" panose="02070309020205020404" pitchFamily="49" charset="0"/>
              </a:rPr>
              <a:t> after call to </a:t>
            </a:r>
            <a:r>
              <a:rPr lang="en-US" altLang="en-US" sz="900" b="1" kern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setA</a:t>
            </a:r>
            <a:r>
              <a:rPr lang="en-US" altLang="en-US" sz="900" b="1" kern="0" dirty="0">
                <a:solidFill>
                  <a:srgbClr val="000000"/>
                </a:solidFill>
                <a:latin typeface="Courier New" panose="02070309020205020404" pitchFamily="49" charset="0"/>
              </a:rPr>
              <a:t> friend function: 8</a:t>
            </a:r>
          </a:p>
        </p:txBody>
      </p:sp>
      <p:grpSp>
        <p:nvGrpSpPr>
          <p:cNvPr id="21" name="Group 22">
            <a:extLst>
              <a:ext uri="{FF2B5EF4-FFF2-40B4-BE49-F238E27FC236}">
                <a16:creationId xmlns:a16="http://schemas.microsoft.com/office/drawing/2014/main" id="{8E37ACE7-473F-D29A-069E-45A9A0B818A7}"/>
              </a:ext>
            </a:extLst>
          </p:cNvPr>
          <p:cNvGrpSpPr>
            <a:grpSpLocks/>
          </p:cNvGrpSpPr>
          <p:nvPr/>
        </p:nvGrpSpPr>
        <p:grpSpPr bwMode="auto">
          <a:xfrm>
            <a:off x="2720897" y="3466201"/>
            <a:ext cx="2686050" cy="802482"/>
            <a:chOff x="1920" y="1824"/>
            <a:chExt cx="2256" cy="674"/>
          </a:xfrm>
          <a:solidFill>
            <a:schemeClr val="bg1">
              <a:lumMod val="75000"/>
            </a:schemeClr>
          </a:solidFill>
        </p:grpSpPr>
        <p:sp>
          <p:nvSpPr>
            <p:cNvPr id="22" name="Text Box 20">
              <a:extLst>
                <a:ext uri="{FF2B5EF4-FFF2-40B4-BE49-F238E27FC236}">
                  <a16:creationId xmlns:a16="http://schemas.microsoft.com/office/drawing/2014/main" id="{0D3E7BEB-0F8C-C80E-0CDB-674F11B5ED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2304"/>
              <a:ext cx="1728" cy="194"/>
            </a:xfrm>
            <a:prstGeom prst="rect">
              <a:avLst/>
            </a:prstGeom>
            <a:grp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685800" eaLnBrk="1" hangingPunct="1">
                <a:defRPr/>
              </a:pPr>
              <a:r>
                <a:rPr lang="en-US" altLang="en-US" sz="900" b="1" kern="0">
                  <a:solidFill>
                    <a:srgbClr val="000000"/>
                  </a:solidFill>
                  <a:latin typeface="Courier New" panose="02070309020205020404" pitchFamily="49" charset="0"/>
                </a:rPr>
                <a:t>private</a:t>
              </a:r>
              <a:r>
                <a:rPr lang="en-US" altLang="en-US" sz="900" kern="0">
                  <a:solidFill>
                    <a:srgbClr val="000000"/>
                  </a:solidFill>
                </a:rPr>
                <a:t> data was changed.</a:t>
              </a:r>
            </a:p>
          </p:txBody>
        </p:sp>
        <p:sp>
          <p:nvSpPr>
            <p:cNvPr id="23" name="Line 21">
              <a:extLst>
                <a:ext uri="{FF2B5EF4-FFF2-40B4-BE49-F238E27FC236}">
                  <a16:creationId xmlns:a16="http://schemas.microsoft.com/office/drawing/2014/main" id="{23C4BEF5-96A2-B2C8-8497-C9171BC022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920" y="1824"/>
              <a:ext cx="528" cy="624"/>
            </a:xfrm>
            <a:prstGeom prst="line">
              <a:avLst/>
            </a:prstGeom>
            <a:grp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pPr defTabSz="685800" eaLnBrk="1" hangingPunct="1">
                <a:defRPr/>
              </a:pPr>
              <a:endParaRPr lang="en-US" sz="1350" kern="0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425" name="Group 105">
            <a:extLst>
              <a:ext uri="{FF2B5EF4-FFF2-40B4-BE49-F238E27FC236}">
                <a16:creationId xmlns:a16="http://schemas.microsoft.com/office/drawing/2014/main" id="{F671807B-CFF3-B5FC-9E8F-42D3E46D37F9}"/>
              </a:ext>
            </a:extLst>
          </p:cNvPr>
          <p:cNvGrpSpPr>
            <a:grpSpLocks/>
          </p:cNvGrpSpPr>
          <p:nvPr/>
        </p:nvGrpSpPr>
        <p:grpSpPr bwMode="auto">
          <a:xfrm>
            <a:off x="552450" y="609600"/>
            <a:ext cx="5086350" cy="5546725"/>
            <a:chOff x="0" y="-15383"/>
            <a:chExt cx="6781800" cy="6945916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50E70D4-D120-FCCE-5ABC-E856F1959B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-15383"/>
              <a:ext cx="6781800" cy="6945916"/>
              <a:chOff x="0" y="-73"/>
              <a:chExt cx="3072" cy="11740"/>
            </a:xfrm>
            <a:solidFill>
              <a:schemeClr val="bg1"/>
            </a:solidFill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D6D05FF6-C48B-C4D6-1B1F-10A0273038A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-73"/>
                <a:ext cx="3072" cy="520"/>
                <a:chOff x="0" y="-73"/>
                <a:chExt cx="3072" cy="520"/>
              </a:xfrm>
              <a:grpFill/>
            </p:grpSpPr>
            <p:sp>
              <p:nvSpPr>
                <p:cNvPr id="96" name="Rectangle 5">
                  <a:extLst>
                    <a:ext uri="{FF2B5EF4-FFF2-40B4-BE49-F238E27FC236}">
                      <a16:creationId xmlns:a16="http://schemas.microsoft.com/office/drawing/2014/main" id="{4C818973-2176-B1B7-8B26-36EC077AA0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-73"/>
                  <a:ext cx="3072" cy="520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anchor="ctr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en-US" altLang="en-US" sz="900"/>
                </a:p>
              </p:txBody>
            </p:sp>
            <p:sp>
              <p:nvSpPr>
                <p:cNvPr id="97" name="Rectangle 6">
                  <a:extLst>
                    <a:ext uri="{FF2B5EF4-FFF2-40B4-BE49-F238E27FC236}">
                      <a16:creationId xmlns:a16="http://schemas.microsoft.com/office/drawing/2014/main" id="{B575C859-B44F-ADF1-0D2F-AC10A9E733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072" cy="374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/>
                <a:lstStyle>
                  <a:lvl1pPr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r>
                    <a:rPr lang="en-US" altLang="en-US" sz="900" b="1" dirty="0">
                      <a:solidFill>
                        <a:srgbClr val="4D8DFF"/>
                      </a:solidFill>
                      <a:latin typeface="Courier New" panose="02070309020205020404" pitchFamily="49" charset="0"/>
                    </a:rPr>
                    <a:t>	1	</a:t>
                  </a:r>
                  <a:r>
                    <a:rPr lang="en-US" altLang="en-US" sz="900" b="1" dirty="0">
                      <a:solidFill>
                        <a:srgbClr val="33CC33"/>
                      </a:solidFill>
                      <a:latin typeface="Courier New" panose="02070309020205020404" pitchFamily="49" charset="0"/>
                    </a:rPr>
                    <a:t>// Fig. 7.6: fig07_06.cpp </a:t>
                  </a:r>
                  <a:endParaRPr lang="en-US" altLang="en-US" sz="900" b="1" dirty="0">
                    <a:latin typeface="Courier New" panose="02070309020205020404" pitchFamily="49" charset="0"/>
                  </a:endParaRPr>
                </a:p>
                <a:p>
                  <a:pPr eaLnBrk="1" hangingPunct="1">
                    <a:defRPr/>
                  </a:pPr>
                  <a:endParaRPr lang="en-US" altLang="en-US" sz="900" b="1" dirty="0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6" name="Group 7">
                <a:extLst>
                  <a:ext uri="{FF2B5EF4-FFF2-40B4-BE49-F238E27FC236}">
                    <a16:creationId xmlns:a16="http://schemas.microsoft.com/office/drawing/2014/main" id="{525F26AA-C3ED-B8F0-26BF-5FAE613868B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301"/>
                <a:ext cx="3072" cy="520"/>
                <a:chOff x="0" y="301"/>
                <a:chExt cx="3072" cy="520"/>
              </a:xfrm>
              <a:grpFill/>
            </p:grpSpPr>
            <p:sp>
              <p:nvSpPr>
                <p:cNvPr id="94" name="Rectangle 8">
                  <a:extLst>
                    <a:ext uri="{FF2B5EF4-FFF2-40B4-BE49-F238E27FC236}">
                      <a16:creationId xmlns:a16="http://schemas.microsoft.com/office/drawing/2014/main" id="{E7917328-BC5B-E75A-53F4-5321F7CAB9D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301"/>
                  <a:ext cx="3072" cy="520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anchor="ctr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en-US" altLang="en-US" sz="900"/>
                </a:p>
              </p:txBody>
            </p:sp>
            <p:sp>
              <p:nvSpPr>
                <p:cNvPr id="95" name="Rectangle 9">
                  <a:extLst>
                    <a:ext uri="{FF2B5EF4-FFF2-40B4-BE49-F238E27FC236}">
                      <a16:creationId xmlns:a16="http://schemas.microsoft.com/office/drawing/2014/main" id="{7B7F3DA4-E268-CB29-96F2-315BA0BDF3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374"/>
                  <a:ext cx="3072" cy="374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/>
                <a:lstStyle>
                  <a:lvl1pPr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r>
                    <a:rPr lang="en-US" altLang="en-US" sz="900" b="1" dirty="0">
                      <a:solidFill>
                        <a:srgbClr val="4D8DFF"/>
                      </a:solidFill>
                      <a:latin typeface="Courier New" panose="02070309020205020404" pitchFamily="49" charset="0"/>
                    </a:rPr>
                    <a:t>	2	</a:t>
                  </a:r>
                  <a:r>
                    <a:rPr lang="en-US" altLang="en-US" sz="900" b="1" dirty="0">
                      <a:solidFill>
                        <a:srgbClr val="33CC33"/>
                      </a:solidFill>
                      <a:latin typeface="Courier New" panose="02070309020205020404" pitchFamily="49" charset="0"/>
                    </a:rPr>
                    <a:t>// Non-friend/non-member functions cannot access</a:t>
                  </a:r>
                  <a:endParaRPr lang="en-US" altLang="en-US" sz="900" b="1" dirty="0">
                    <a:latin typeface="Courier New" panose="02070309020205020404" pitchFamily="49" charset="0"/>
                  </a:endParaRPr>
                </a:p>
                <a:p>
                  <a:pPr eaLnBrk="1" hangingPunct="1">
                    <a:defRPr/>
                  </a:pPr>
                  <a:endParaRPr lang="en-US" altLang="en-US" sz="900" b="1" dirty="0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7" name="Group 10">
                <a:extLst>
                  <a:ext uri="{FF2B5EF4-FFF2-40B4-BE49-F238E27FC236}">
                    <a16:creationId xmlns:a16="http://schemas.microsoft.com/office/drawing/2014/main" id="{2AB890B7-AB63-F2B6-7C4D-A87D5E0BCD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675"/>
                <a:ext cx="3072" cy="520"/>
                <a:chOff x="0" y="675"/>
                <a:chExt cx="3072" cy="520"/>
              </a:xfrm>
              <a:grpFill/>
            </p:grpSpPr>
            <p:sp>
              <p:nvSpPr>
                <p:cNvPr id="92" name="Rectangle 11">
                  <a:extLst>
                    <a:ext uri="{FF2B5EF4-FFF2-40B4-BE49-F238E27FC236}">
                      <a16:creationId xmlns:a16="http://schemas.microsoft.com/office/drawing/2014/main" id="{C074ED04-BB65-7A38-D5BD-6654AB363F4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675"/>
                  <a:ext cx="3072" cy="520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anchor="ctr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en-US" altLang="en-US" sz="900"/>
                </a:p>
              </p:txBody>
            </p:sp>
            <p:sp>
              <p:nvSpPr>
                <p:cNvPr id="93" name="Rectangle 12">
                  <a:extLst>
                    <a:ext uri="{FF2B5EF4-FFF2-40B4-BE49-F238E27FC236}">
                      <a16:creationId xmlns:a16="http://schemas.microsoft.com/office/drawing/2014/main" id="{582D633E-639D-FCE8-341B-D2014360733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748"/>
                  <a:ext cx="3072" cy="374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/>
                <a:lstStyle>
                  <a:lvl1pPr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r>
                    <a:rPr lang="en-US" altLang="en-US" sz="900" b="1" dirty="0">
                      <a:solidFill>
                        <a:srgbClr val="4D8DFF"/>
                      </a:solidFill>
                      <a:latin typeface="Courier New" panose="02070309020205020404" pitchFamily="49" charset="0"/>
                    </a:rPr>
                    <a:t>	3	</a:t>
                  </a:r>
                  <a:r>
                    <a:rPr lang="en-US" altLang="en-US" sz="900" b="1" dirty="0">
                      <a:solidFill>
                        <a:srgbClr val="33CC33"/>
                      </a:solidFill>
                      <a:latin typeface="Courier New" panose="02070309020205020404" pitchFamily="49" charset="0"/>
                    </a:rPr>
                    <a:t>// private data of a class.</a:t>
                  </a:r>
                  <a:endParaRPr lang="en-US" altLang="en-US" sz="900" b="1" dirty="0">
                    <a:latin typeface="Courier New" panose="02070309020205020404" pitchFamily="49" charset="0"/>
                  </a:endParaRPr>
                </a:p>
                <a:p>
                  <a:pPr eaLnBrk="1" hangingPunct="1">
                    <a:defRPr/>
                  </a:pPr>
                  <a:endParaRPr lang="en-US" altLang="en-US" sz="900" b="1" dirty="0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8" name="Group 13">
                <a:extLst>
                  <a:ext uri="{FF2B5EF4-FFF2-40B4-BE49-F238E27FC236}">
                    <a16:creationId xmlns:a16="http://schemas.microsoft.com/office/drawing/2014/main" id="{1FF623F3-7E69-17DD-92F5-41465B8C931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049"/>
                <a:ext cx="3072" cy="520"/>
                <a:chOff x="0" y="1049"/>
                <a:chExt cx="3072" cy="520"/>
              </a:xfrm>
              <a:grpFill/>
            </p:grpSpPr>
            <p:sp>
              <p:nvSpPr>
                <p:cNvPr id="90" name="Rectangle 14">
                  <a:extLst>
                    <a:ext uri="{FF2B5EF4-FFF2-40B4-BE49-F238E27FC236}">
                      <a16:creationId xmlns:a16="http://schemas.microsoft.com/office/drawing/2014/main" id="{D17DE385-7F04-5241-7209-0229CD9B81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049"/>
                  <a:ext cx="3072" cy="520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anchor="ctr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en-US" altLang="en-US" sz="900"/>
                </a:p>
              </p:txBody>
            </p:sp>
            <p:sp>
              <p:nvSpPr>
                <p:cNvPr id="91" name="Rectangle 15">
                  <a:extLst>
                    <a:ext uri="{FF2B5EF4-FFF2-40B4-BE49-F238E27FC236}">
                      <a16:creationId xmlns:a16="http://schemas.microsoft.com/office/drawing/2014/main" id="{20008EAB-0A85-3DB1-24FF-E08F3AE552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122"/>
                  <a:ext cx="3072" cy="374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/>
                <a:lstStyle>
                  <a:lvl1pPr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r>
                    <a:rPr lang="en-US" altLang="en-US" sz="900" b="1">
                      <a:solidFill>
                        <a:srgbClr val="4D8DFF"/>
                      </a:solidFill>
                      <a:latin typeface="Courier New" panose="02070309020205020404" pitchFamily="49" charset="0"/>
                    </a:rPr>
                    <a:t>	4	</a:t>
                  </a:r>
                  <a:r>
                    <a:rPr lang="en-US" altLang="en-US" sz="900" b="1">
                      <a:solidFill>
                        <a:srgbClr val="275AFF"/>
                      </a:solidFill>
                      <a:latin typeface="Courier New" panose="02070309020205020404" pitchFamily="49" charset="0"/>
                    </a:rPr>
                    <a:t>#include</a:t>
                  </a:r>
                  <a:r>
                    <a:rPr lang="en-US" altLang="en-US" sz="900" b="1">
                      <a:latin typeface="Courier New" panose="02070309020205020404" pitchFamily="49" charset="0"/>
                    </a:rPr>
                    <a:t> &lt;iostream&gt;</a:t>
                  </a:r>
                </a:p>
                <a:p>
                  <a:pPr eaLnBrk="1" hangingPunct="1">
                    <a:defRPr/>
                  </a:pPr>
                  <a:endParaRPr lang="en-US" altLang="en-US" sz="900" b="1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9" name="Group 16">
                <a:extLst>
                  <a:ext uri="{FF2B5EF4-FFF2-40B4-BE49-F238E27FC236}">
                    <a16:creationId xmlns:a16="http://schemas.microsoft.com/office/drawing/2014/main" id="{583CCDB4-4E18-42BA-ED0E-1A443897AD6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423"/>
                <a:ext cx="3072" cy="520"/>
                <a:chOff x="0" y="1423"/>
                <a:chExt cx="3072" cy="520"/>
              </a:xfrm>
              <a:grpFill/>
            </p:grpSpPr>
            <p:sp>
              <p:nvSpPr>
                <p:cNvPr id="88" name="Rectangle 17">
                  <a:extLst>
                    <a:ext uri="{FF2B5EF4-FFF2-40B4-BE49-F238E27FC236}">
                      <a16:creationId xmlns:a16="http://schemas.microsoft.com/office/drawing/2014/main" id="{8A13E675-FAC9-D0FA-7508-13DF849D20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423"/>
                  <a:ext cx="3072" cy="520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anchor="ctr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en-US" altLang="en-US" sz="900"/>
                </a:p>
              </p:txBody>
            </p:sp>
            <p:sp>
              <p:nvSpPr>
                <p:cNvPr id="89" name="Rectangle 18">
                  <a:extLst>
                    <a:ext uri="{FF2B5EF4-FFF2-40B4-BE49-F238E27FC236}">
                      <a16:creationId xmlns:a16="http://schemas.microsoft.com/office/drawing/2014/main" id="{60C50CDF-0F86-A658-D0DC-91A546674F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496"/>
                  <a:ext cx="3072" cy="374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/>
                <a:lstStyle>
                  <a:lvl1pPr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r>
                    <a:rPr lang="en-US" altLang="en-US" sz="900" b="1">
                      <a:solidFill>
                        <a:srgbClr val="4D8DFF"/>
                      </a:solidFill>
                      <a:latin typeface="Courier New" panose="02070309020205020404" pitchFamily="49" charset="0"/>
                    </a:rPr>
                    <a:t>	5	</a:t>
                  </a:r>
                  <a:endParaRPr lang="en-US" altLang="en-US" sz="900" b="1">
                    <a:latin typeface="Courier New" panose="02070309020205020404" pitchFamily="49" charset="0"/>
                  </a:endParaRPr>
                </a:p>
                <a:p>
                  <a:pPr eaLnBrk="1" hangingPunct="1">
                    <a:defRPr/>
                  </a:pPr>
                  <a:endParaRPr lang="en-US" altLang="en-US" sz="900" b="1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10" name="Group 19">
                <a:extLst>
                  <a:ext uri="{FF2B5EF4-FFF2-40B4-BE49-F238E27FC236}">
                    <a16:creationId xmlns:a16="http://schemas.microsoft.com/office/drawing/2014/main" id="{990D2BE6-8662-810D-DB78-B1D1F29A107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797"/>
                <a:ext cx="3072" cy="520"/>
                <a:chOff x="0" y="1797"/>
                <a:chExt cx="3072" cy="520"/>
              </a:xfrm>
              <a:grpFill/>
            </p:grpSpPr>
            <p:sp>
              <p:nvSpPr>
                <p:cNvPr id="86" name="Rectangle 20">
                  <a:extLst>
                    <a:ext uri="{FF2B5EF4-FFF2-40B4-BE49-F238E27FC236}">
                      <a16:creationId xmlns:a16="http://schemas.microsoft.com/office/drawing/2014/main" id="{47BD0088-6436-7428-9876-3FED44C5F6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797"/>
                  <a:ext cx="3072" cy="520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anchor="ctr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en-US" altLang="en-US" sz="900"/>
                </a:p>
              </p:txBody>
            </p:sp>
            <p:sp>
              <p:nvSpPr>
                <p:cNvPr id="87" name="Rectangle 21">
                  <a:extLst>
                    <a:ext uri="{FF2B5EF4-FFF2-40B4-BE49-F238E27FC236}">
                      <a16:creationId xmlns:a16="http://schemas.microsoft.com/office/drawing/2014/main" id="{74963AEB-48E2-A35D-BEB1-4541369EFD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870"/>
                  <a:ext cx="3072" cy="374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/>
                <a:lstStyle>
                  <a:lvl1pPr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r>
                    <a:rPr lang="en-US" altLang="en-US" sz="900" b="1">
                      <a:solidFill>
                        <a:srgbClr val="4D8DFF"/>
                      </a:solidFill>
                      <a:latin typeface="Courier New" panose="02070309020205020404" pitchFamily="49" charset="0"/>
                    </a:rPr>
                    <a:t>	6	</a:t>
                  </a:r>
                  <a:r>
                    <a:rPr lang="en-US" altLang="en-US" sz="900" b="1">
                      <a:solidFill>
                        <a:srgbClr val="275AFF"/>
                      </a:solidFill>
                      <a:latin typeface="Courier New" panose="02070309020205020404" pitchFamily="49" charset="0"/>
                    </a:rPr>
                    <a:t>using</a:t>
                  </a:r>
                  <a:r>
                    <a:rPr lang="en-US" altLang="en-US" sz="900" b="1">
                      <a:latin typeface="Courier New" panose="02070309020205020404" pitchFamily="49" charset="0"/>
                    </a:rPr>
                    <a:t> std::cout;</a:t>
                  </a:r>
                </a:p>
                <a:p>
                  <a:pPr eaLnBrk="1" hangingPunct="1">
                    <a:defRPr/>
                  </a:pPr>
                  <a:endParaRPr lang="en-US" altLang="en-US" sz="900" b="1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11" name="Group 22">
                <a:extLst>
                  <a:ext uri="{FF2B5EF4-FFF2-40B4-BE49-F238E27FC236}">
                    <a16:creationId xmlns:a16="http://schemas.microsoft.com/office/drawing/2014/main" id="{DF5F0555-22C2-1615-5E8C-7C4B3B3F5BC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171"/>
                <a:ext cx="3072" cy="520"/>
                <a:chOff x="0" y="2171"/>
                <a:chExt cx="3072" cy="520"/>
              </a:xfrm>
              <a:grpFill/>
            </p:grpSpPr>
            <p:sp>
              <p:nvSpPr>
                <p:cNvPr id="84" name="Rectangle 23">
                  <a:extLst>
                    <a:ext uri="{FF2B5EF4-FFF2-40B4-BE49-F238E27FC236}">
                      <a16:creationId xmlns:a16="http://schemas.microsoft.com/office/drawing/2014/main" id="{E1B6C553-0298-17FA-F8E5-196876E3DA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171"/>
                  <a:ext cx="3072" cy="520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anchor="ctr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en-US" altLang="en-US" sz="900"/>
                </a:p>
              </p:txBody>
            </p:sp>
            <p:sp>
              <p:nvSpPr>
                <p:cNvPr id="85" name="Rectangle 24">
                  <a:extLst>
                    <a:ext uri="{FF2B5EF4-FFF2-40B4-BE49-F238E27FC236}">
                      <a16:creationId xmlns:a16="http://schemas.microsoft.com/office/drawing/2014/main" id="{41C279E8-458F-34FB-AD2D-278C1C24B1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244"/>
                  <a:ext cx="3072" cy="374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/>
                <a:lstStyle>
                  <a:lvl1pPr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r>
                    <a:rPr lang="en-US" altLang="en-US" sz="900" b="1">
                      <a:solidFill>
                        <a:srgbClr val="4D8DFF"/>
                      </a:solidFill>
                      <a:latin typeface="Courier New" panose="02070309020205020404" pitchFamily="49" charset="0"/>
                    </a:rPr>
                    <a:t>	7	</a:t>
                  </a:r>
                  <a:r>
                    <a:rPr lang="en-US" altLang="en-US" sz="900" b="1">
                      <a:solidFill>
                        <a:srgbClr val="275AFF"/>
                      </a:solidFill>
                      <a:latin typeface="Courier New" panose="02070309020205020404" pitchFamily="49" charset="0"/>
                    </a:rPr>
                    <a:t>using</a:t>
                  </a:r>
                  <a:r>
                    <a:rPr lang="en-US" altLang="en-US" sz="900" b="1">
                      <a:latin typeface="Courier New" panose="02070309020205020404" pitchFamily="49" charset="0"/>
                    </a:rPr>
                    <a:t> std::endl;</a:t>
                  </a:r>
                </a:p>
                <a:p>
                  <a:pPr eaLnBrk="1" hangingPunct="1">
                    <a:defRPr/>
                  </a:pPr>
                  <a:endParaRPr lang="en-US" altLang="en-US" sz="900" b="1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12" name="Group 25">
                <a:extLst>
                  <a:ext uri="{FF2B5EF4-FFF2-40B4-BE49-F238E27FC236}">
                    <a16:creationId xmlns:a16="http://schemas.microsoft.com/office/drawing/2014/main" id="{1BE8AE82-6AB5-5756-BE67-FE1F1BF414E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545"/>
                <a:ext cx="3072" cy="520"/>
                <a:chOff x="0" y="2545"/>
                <a:chExt cx="3072" cy="520"/>
              </a:xfrm>
              <a:grpFill/>
            </p:grpSpPr>
            <p:sp>
              <p:nvSpPr>
                <p:cNvPr id="82" name="Rectangle 26">
                  <a:extLst>
                    <a:ext uri="{FF2B5EF4-FFF2-40B4-BE49-F238E27FC236}">
                      <a16:creationId xmlns:a16="http://schemas.microsoft.com/office/drawing/2014/main" id="{0DA27D72-CCD1-3CBE-B319-732B9CB2DD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545"/>
                  <a:ext cx="3072" cy="520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anchor="ctr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en-US" altLang="en-US" sz="900"/>
                </a:p>
              </p:txBody>
            </p:sp>
            <p:sp>
              <p:nvSpPr>
                <p:cNvPr id="83" name="Rectangle 27">
                  <a:extLst>
                    <a:ext uri="{FF2B5EF4-FFF2-40B4-BE49-F238E27FC236}">
                      <a16:creationId xmlns:a16="http://schemas.microsoft.com/office/drawing/2014/main" id="{7B3BFC41-3A3F-7078-A2CE-8BC49326D7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618"/>
                  <a:ext cx="3072" cy="374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/>
                <a:lstStyle>
                  <a:lvl1pPr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r>
                    <a:rPr lang="en-US" altLang="en-US" sz="900" b="1">
                      <a:solidFill>
                        <a:srgbClr val="4D8DFF"/>
                      </a:solidFill>
                      <a:latin typeface="Courier New" panose="02070309020205020404" pitchFamily="49" charset="0"/>
                    </a:rPr>
                    <a:t>	8	</a:t>
                  </a:r>
                  <a:endParaRPr lang="en-US" altLang="en-US" sz="900" b="1">
                    <a:latin typeface="Courier New" panose="02070309020205020404" pitchFamily="49" charset="0"/>
                  </a:endParaRPr>
                </a:p>
                <a:p>
                  <a:pPr eaLnBrk="1" hangingPunct="1">
                    <a:defRPr/>
                  </a:pPr>
                  <a:endParaRPr lang="en-US" altLang="en-US" sz="900" b="1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13" name="Group 28">
                <a:extLst>
                  <a:ext uri="{FF2B5EF4-FFF2-40B4-BE49-F238E27FC236}">
                    <a16:creationId xmlns:a16="http://schemas.microsoft.com/office/drawing/2014/main" id="{49F34FAC-6A4C-5991-9FC9-7A84B599370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919"/>
                <a:ext cx="3072" cy="520"/>
                <a:chOff x="0" y="2919"/>
                <a:chExt cx="3072" cy="520"/>
              </a:xfrm>
              <a:grpFill/>
            </p:grpSpPr>
            <p:sp>
              <p:nvSpPr>
                <p:cNvPr id="80" name="Rectangle 29">
                  <a:extLst>
                    <a:ext uri="{FF2B5EF4-FFF2-40B4-BE49-F238E27FC236}">
                      <a16:creationId xmlns:a16="http://schemas.microsoft.com/office/drawing/2014/main" id="{96B63790-D81A-A1A6-F9DF-5BFA0A405D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919"/>
                  <a:ext cx="3072" cy="520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anchor="ctr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en-US" altLang="en-US" sz="900"/>
                </a:p>
              </p:txBody>
            </p:sp>
            <p:sp>
              <p:nvSpPr>
                <p:cNvPr id="81" name="Rectangle 30">
                  <a:extLst>
                    <a:ext uri="{FF2B5EF4-FFF2-40B4-BE49-F238E27FC236}">
                      <a16:creationId xmlns:a16="http://schemas.microsoft.com/office/drawing/2014/main" id="{BEBC45BB-2EFE-3492-B301-320B7E92C1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992"/>
                  <a:ext cx="3072" cy="374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/>
                <a:lstStyle>
                  <a:lvl1pPr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r>
                    <a:rPr lang="en-US" altLang="en-US" sz="900" b="1">
                      <a:solidFill>
                        <a:srgbClr val="4D8DFF"/>
                      </a:solidFill>
                      <a:latin typeface="Courier New" panose="02070309020205020404" pitchFamily="49" charset="0"/>
                    </a:rPr>
                    <a:t>	9	</a:t>
                  </a:r>
                  <a:r>
                    <a:rPr lang="en-US" altLang="en-US" sz="900" b="1">
                      <a:solidFill>
                        <a:srgbClr val="33CC33"/>
                      </a:solidFill>
                      <a:latin typeface="Courier New" panose="02070309020205020404" pitchFamily="49" charset="0"/>
                    </a:rPr>
                    <a:t>// Modified Count class</a:t>
                  </a:r>
                  <a:endParaRPr lang="en-US" altLang="en-US" sz="900" b="1">
                    <a:latin typeface="Courier New" panose="02070309020205020404" pitchFamily="49" charset="0"/>
                  </a:endParaRPr>
                </a:p>
                <a:p>
                  <a:pPr eaLnBrk="1" hangingPunct="1">
                    <a:defRPr/>
                  </a:pPr>
                  <a:endParaRPr lang="en-US" altLang="en-US" sz="900" b="1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14" name="Group 31">
                <a:extLst>
                  <a:ext uri="{FF2B5EF4-FFF2-40B4-BE49-F238E27FC236}">
                    <a16:creationId xmlns:a16="http://schemas.microsoft.com/office/drawing/2014/main" id="{FBB7F908-B6CC-BB5A-8E9A-19848454135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3293"/>
                <a:ext cx="3072" cy="520"/>
                <a:chOff x="0" y="3293"/>
                <a:chExt cx="3072" cy="520"/>
              </a:xfrm>
              <a:grpFill/>
            </p:grpSpPr>
            <p:sp>
              <p:nvSpPr>
                <p:cNvPr id="78" name="Rectangle 32">
                  <a:extLst>
                    <a:ext uri="{FF2B5EF4-FFF2-40B4-BE49-F238E27FC236}">
                      <a16:creationId xmlns:a16="http://schemas.microsoft.com/office/drawing/2014/main" id="{D82B6ADA-9E5D-2F8D-8B13-DC9B8D47E0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3293"/>
                  <a:ext cx="3072" cy="520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anchor="ctr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en-US" altLang="en-US" sz="900"/>
                </a:p>
              </p:txBody>
            </p:sp>
            <p:sp>
              <p:nvSpPr>
                <p:cNvPr id="79" name="Rectangle 33">
                  <a:extLst>
                    <a:ext uri="{FF2B5EF4-FFF2-40B4-BE49-F238E27FC236}">
                      <a16:creationId xmlns:a16="http://schemas.microsoft.com/office/drawing/2014/main" id="{42159708-EA51-383E-96B7-A24474233C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3366"/>
                  <a:ext cx="3072" cy="374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/>
                <a:lstStyle>
                  <a:lvl1pPr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r>
                    <a:rPr lang="en-US" altLang="en-US" sz="900" b="1">
                      <a:solidFill>
                        <a:srgbClr val="4D8DFF"/>
                      </a:solidFill>
                      <a:latin typeface="Courier New" panose="02070309020205020404" pitchFamily="49" charset="0"/>
                    </a:rPr>
                    <a:t>	10	</a:t>
                  </a:r>
                  <a:r>
                    <a:rPr lang="en-US" altLang="en-US" sz="900" b="1">
                      <a:solidFill>
                        <a:srgbClr val="275AFF"/>
                      </a:solidFill>
                      <a:latin typeface="Courier New" panose="02070309020205020404" pitchFamily="49" charset="0"/>
                    </a:rPr>
                    <a:t>class</a:t>
                  </a:r>
                  <a:r>
                    <a:rPr lang="en-US" altLang="en-US" sz="900" b="1">
                      <a:latin typeface="Courier New" panose="02070309020205020404" pitchFamily="49" charset="0"/>
                    </a:rPr>
                    <a:t> Count {</a:t>
                  </a:r>
                </a:p>
                <a:p>
                  <a:pPr eaLnBrk="1" hangingPunct="1">
                    <a:defRPr/>
                  </a:pPr>
                  <a:endParaRPr lang="en-US" altLang="en-US" sz="900" b="1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15" name="Group 34">
                <a:extLst>
                  <a:ext uri="{FF2B5EF4-FFF2-40B4-BE49-F238E27FC236}">
                    <a16:creationId xmlns:a16="http://schemas.microsoft.com/office/drawing/2014/main" id="{2AE7BBD9-9327-0405-9542-4E9FA8030C0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3667"/>
                <a:ext cx="3072" cy="520"/>
                <a:chOff x="0" y="3667"/>
                <a:chExt cx="3072" cy="520"/>
              </a:xfrm>
              <a:grpFill/>
            </p:grpSpPr>
            <p:sp>
              <p:nvSpPr>
                <p:cNvPr id="76" name="Rectangle 35">
                  <a:extLst>
                    <a:ext uri="{FF2B5EF4-FFF2-40B4-BE49-F238E27FC236}">
                      <a16:creationId xmlns:a16="http://schemas.microsoft.com/office/drawing/2014/main" id="{FAD91567-6BBE-CC34-EE3F-7E53ED00F9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3667"/>
                  <a:ext cx="3072" cy="520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anchor="ctr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en-US" altLang="en-US" sz="900"/>
                </a:p>
              </p:txBody>
            </p:sp>
            <p:sp>
              <p:nvSpPr>
                <p:cNvPr id="77" name="Rectangle 36">
                  <a:extLst>
                    <a:ext uri="{FF2B5EF4-FFF2-40B4-BE49-F238E27FC236}">
                      <a16:creationId xmlns:a16="http://schemas.microsoft.com/office/drawing/2014/main" id="{A62DC65C-716E-DC4F-500A-488E226AC7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3740"/>
                  <a:ext cx="3072" cy="374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/>
                <a:lstStyle>
                  <a:lvl1pPr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r>
                    <a:rPr lang="en-US" altLang="en-US" sz="900" b="1">
                      <a:solidFill>
                        <a:srgbClr val="4D8DFF"/>
                      </a:solidFill>
                      <a:latin typeface="Courier New" panose="02070309020205020404" pitchFamily="49" charset="0"/>
                    </a:rPr>
                    <a:t>	11	</a:t>
                  </a:r>
                  <a:r>
                    <a:rPr lang="en-US" altLang="en-US" sz="900" b="1">
                      <a:solidFill>
                        <a:srgbClr val="275AFF"/>
                      </a:solidFill>
                      <a:latin typeface="Courier New" panose="02070309020205020404" pitchFamily="49" charset="0"/>
                    </a:rPr>
                    <a:t>public:</a:t>
                  </a:r>
                  <a:endParaRPr lang="en-US" altLang="en-US" sz="900" b="1">
                    <a:latin typeface="Courier New" panose="02070309020205020404" pitchFamily="49" charset="0"/>
                  </a:endParaRPr>
                </a:p>
                <a:p>
                  <a:pPr eaLnBrk="1" hangingPunct="1">
                    <a:defRPr/>
                  </a:pPr>
                  <a:endParaRPr lang="en-US" altLang="en-US" sz="900" b="1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16" name="Group 37">
                <a:extLst>
                  <a:ext uri="{FF2B5EF4-FFF2-40B4-BE49-F238E27FC236}">
                    <a16:creationId xmlns:a16="http://schemas.microsoft.com/office/drawing/2014/main" id="{DF1E657F-2670-7367-3272-2782590E644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4041"/>
                <a:ext cx="3072" cy="520"/>
                <a:chOff x="0" y="4041"/>
                <a:chExt cx="3072" cy="520"/>
              </a:xfrm>
              <a:grpFill/>
            </p:grpSpPr>
            <p:sp>
              <p:nvSpPr>
                <p:cNvPr id="74" name="Rectangle 38">
                  <a:extLst>
                    <a:ext uri="{FF2B5EF4-FFF2-40B4-BE49-F238E27FC236}">
                      <a16:creationId xmlns:a16="http://schemas.microsoft.com/office/drawing/2014/main" id="{56EADBBE-20FB-F7BB-5D20-250AF39DAE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4041"/>
                  <a:ext cx="3072" cy="520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anchor="ctr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en-US" altLang="en-US" sz="900"/>
                </a:p>
              </p:txBody>
            </p:sp>
            <p:sp>
              <p:nvSpPr>
                <p:cNvPr id="75" name="Rectangle 39">
                  <a:extLst>
                    <a:ext uri="{FF2B5EF4-FFF2-40B4-BE49-F238E27FC236}">
                      <a16:creationId xmlns:a16="http://schemas.microsoft.com/office/drawing/2014/main" id="{188B78B9-7111-54C3-5CE2-BEA970A030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4114"/>
                  <a:ext cx="3072" cy="374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/>
                <a:lstStyle>
                  <a:lvl1pPr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r>
                    <a:rPr lang="en-US" altLang="en-US" sz="900" b="1">
                      <a:solidFill>
                        <a:srgbClr val="4D8DFF"/>
                      </a:solidFill>
                      <a:latin typeface="Courier New" panose="02070309020205020404" pitchFamily="49" charset="0"/>
                    </a:rPr>
                    <a:t>	12	</a:t>
                  </a:r>
                  <a:r>
                    <a:rPr lang="en-US" altLang="en-US" sz="900" b="1">
                      <a:latin typeface="Courier New" panose="02070309020205020404" pitchFamily="49" charset="0"/>
                    </a:rPr>
                    <a:t>   Count() { x = 0; }                  </a:t>
                  </a:r>
                  <a:r>
                    <a:rPr lang="en-US" altLang="en-US" sz="900" b="1">
                      <a:solidFill>
                        <a:srgbClr val="33CC33"/>
                      </a:solidFill>
                      <a:latin typeface="Courier New" panose="02070309020205020404" pitchFamily="49" charset="0"/>
                    </a:rPr>
                    <a:t> // constructor</a:t>
                  </a:r>
                  <a:endParaRPr lang="en-US" altLang="en-US" sz="900" b="1">
                    <a:latin typeface="Courier New" panose="02070309020205020404" pitchFamily="49" charset="0"/>
                  </a:endParaRPr>
                </a:p>
                <a:p>
                  <a:pPr eaLnBrk="1" hangingPunct="1">
                    <a:defRPr/>
                  </a:pPr>
                  <a:endParaRPr lang="en-US" altLang="en-US" sz="900" b="1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17" name="Group 40">
                <a:extLst>
                  <a:ext uri="{FF2B5EF4-FFF2-40B4-BE49-F238E27FC236}">
                    <a16:creationId xmlns:a16="http://schemas.microsoft.com/office/drawing/2014/main" id="{04D73535-0F55-E68F-F5D1-345AAB2E1F4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4415"/>
                <a:ext cx="3072" cy="520"/>
                <a:chOff x="0" y="4415"/>
                <a:chExt cx="3072" cy="520"/>
              </a:xfrm>
              <a:grpFill/>
            </p:grpSpPr>
            <p:sp>
              <p:nvSpPr>
                <p:cNvPr id="72" name="Rectangle 41">
                  <a:extLst>
                    <a:ext uri="{FF2B5EF4-FFF2-40B4-BE49-F238E27FC236}">
                      <a16:creationId xmlns:a16="http://schemas.microsoft.com/office/drawing/2014/main" id="{10F5775A-0AE6-C124-FCC8-AABA908666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4415"/>
                  <a:ext cx="3072" cy="520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anchor="ctr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en-US" altLang="en-US" sz="900"/>
                </a:p>
              </p:txBody>
            </p:sp>
            <p:sp>
              <p:nvSpPr>
                <p:cNvPr id="73" name="Rectangle 42">
                  <a:extLst>
                    <a:ext uri="{FF2B5EF4-FFF2-40B4-BE49-F238E27FC236}">
                      <a16:creationId xmlns:a16="http://schemas.microsoft.com/office/drawing/2014/main" id="{1EEB6F35-BEBD-0378-5BE9-87AE5E6766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4488"/>
                  <a:ext cx="3072" cy="374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/>
                <a:lstStyle>
                  <a:lvl1pPr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r>
                    <a:rPr lang="en-US" altLang="en-US" sz="900" b="1">
                      <a:solidFill>
                        <a:srgbClr val="4D8DFF"/>
                      </a:solidFill>
                      <a:latin typeface="Courier New" panose="02070309020205020404" pitchFamily="49" charset="0"/>
                    </a:rPr>
                    <a:t>	13	</a:t>
                  </a:r>
                  <a:r>
                    <a:rPr lang="en-US" altLang="en-US" sz="900" b="1">
                      <a:latin typeface="Courier New" panose="02070309020205020404" pitchFamily="49" charset="0"/>
                    </a:rPr>
                    <a:t>   </a:t>
                  </a:r>
                  <a:r>
                    <a:rPr lang="en-US" altLang="en-US" sz="900" b="1">
                      <a:solidFill>
                        <a:srgbClr val="275AFF"/>
                      </a:solidFill>
                      <a:latin typeface="Courier New" panose="02070309020205020404" pitchFamily="49" charset="0"/>
                    </a:rPr>
                    <a:t>void</a:t>
                  </a:r>
                  <a:r>
                    <a:rPr lang="en-US" altLang="en-US" sz="900" b="1">
                      <a:latin typeface="Courier New" panose="02070309020205020404" pitchFamily="49" charset="0"/>
                    </a:rPr>
                    <a:t> print() </a:t>
                  </a:r>
                  <a:r>
                    <a:rPr lang="en-US" altLang="en-US" sz="900" b="1">
                      <a:solidFill>
                        <a:srgbClr val="275AFF"/>
                      </a:solidFill>
                      <a:latin typeface="Courier New" panose="02070309020205020404" pitchFamily="49" charset="0"/>
                    </a:rPr>
                    <a:t>const</a:t>
                  </a:r>
                  <a:r>
                    <a:rPr lang="en-US" altLang="en-US" sz="900" b="1">
                      <a:latin typeface="Courier New" panose="02070309020205020404" pitchFamily="49" charset="0"/>
                    </a:rPr>
                    <a:t> { cout &lt;&lt; x &lt;&lt; endl; } </a:t>
                  </a:r>
                  <a:r>
                    <a:rPr lang="en-US" altLang="en-US" sz="900" b="1">
                      <a:solidFill>
                        <a:srgbClr val="33CC33"/>
                      </a:solidFill>
                      <a:latin typeface="Courier New" panose="02070309020205020404" pitchFamily="49" charset="0"/>
                    </a:rPr>
                    <a:t> // output</a:t>
                  </a:r>
                  <a:endParaRPr lang="en-US" altLang="en-US" sz="900" b="1">
                    <a:latin typeface="Courier New" panose="02070309020205020404" pitchFamily="49" charset="0"/>
                  </a:endParaRPr>
                </a:p>
                <a:p>
                  <a:pPr eaLnBrk="1" hangingPunct="1">
                    <a:defRPr/>
                  </a:pPr>
                  <a:endParaRPr lang="en-US" altLang="en-US" sz="900" b="1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18" name="Group 43">
                <a:extLst>
                  <a:ext uri="{FF2B5EF4-FFF2-40B4-BE49-F238E27FC236}">
                    <a16:creationId xmlns:a16="http://schemas.microsoft.com/office/drawing/2014/main" id="{60923685-7E29-2E1E-A924-0B93B109F7B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4789"/>
                <a:ext cx="3072" cy="520"/>
                <a:chOff x="0" y="4789"/>
                <a:chExt cx="3072" cy="520"/>
              </a:xfrm>
              <a:grpFill/>
            </p:grpSpPr>
            <p:sp>
              <p:nvSpPr>
                <p:cNvPr id="70" name="Rectangle 44">
                  <a:extLst>
                    <a:ext uri="{FF2B5EF4-FFF2-40B4-BE49-F238E27FC236}">
                      <a16:creationId xmlns:a16="http://schemas.microsoft.com/office/drawing/2014/main" id="{ECBDAFF3-FDE3-1E15-8D8A-1CED3C2157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4789"/>
                  <a:ext cx="3072" cy="520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anchor="ctr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en-US" altLang="en-US" sz="900"/>
                </a:p>
              </p:txBody>
            </p:sp>
            <p:sp>
              <p:nvSpPr>
                <p:cNvPr id="71" name="Rectangle 45">
                  <a:extLst>
                    <a:ext uri="{FF2B5EF4-FFF2-40B4-BE49-F238E27FC236}">
                      <a16:creationId xmlns:a16="http://schemas.microsoft.com/office/drawing/2014/main" id="{DE448727-231F-8E95-1132-059D5B5B92E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4862"/>
                  <a:ext cx="3072" cy="374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/>
                <a:lstStyle>
                  <a:lvl1pPr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r>
                    <a:rPr lang="en-US" altLang="en-US" sz="900" b="1">
                      <a:solidFill>
                        <a:srgbClr val="4D8DFF"/>
                      </a:solidFill>
                      <a:latin typeface="Courier New" panose="02070309020205020404" pitchFamily="49" charset="0"/>
                    </a:rPr>
                    <a:t>	14	</a:t>
                  </a:r>
                  <a:r>
                    <a:rPr lang="en-US" altLang="en-US" sz="900" b="1">
                      <a:solidFill>
                        <a:srgbClr val="275AFF"/>
                      </a:solidFill>
                      <a:latin typeface="Courier New" panose="02070309020205020404" pitchFamily="49" charset="0"/>
                    </a:rPr>
                    <a:t>private:</a:t>
                  </a:r>
                  <a:endParaRPr lang="en-US" altLang="en-US" sz="900" b="1">
                    <a:latin typeface="Courier New" panose="02070309020205020404" pitchFamily="49" charset="0"/>
                  </a:endParaRPr>
                </a:p>
                <a:p>
                  <a:pPr eaLnBrk="1" hangingPunct="1">
                    <a:defRPr/>
                  </a:pPr>
                  <a:endParaRPr lang="en-US" altLang="en-US" sz="900" b="1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19" name="Group 46">
                <a:extLst>
                  <a:ext uri="{FF2B5EF4-FFF2-40B4-BE49-F238E27FC236}">
                    <a16:creationId xmlns:a16="http://schemas.microsoft.com/office/drawing/2014/main" id="{625EB223-DDDE-BB58-FE83-878DDC861F4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5163"/>
                <a:ext cx="3072" cy="520"/>
                <a:chOff x="0" y="5163"/>
                <a:chExt cx="3072" cy="520"/>
              </a:xfrm>
              <a:grpFill/>
            </p:grpSpPr>
            <p:sp>
              <p:nvSpPr>
                <p:cNvPr id="68" name="Rectangle 47">
                  <a:extLst>
                    <a:ext uri="{FF2B5EF4-FFF2-40B4-BE49-F238E27FC236}">
                      <a16:creationId xmlns:a16="http://schemas.microsoft.com/office/drawing/2014/main" id="{E699087D-EF21-1265-5D68-59E43B6975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5163"/>
                  <a:ext cx="3072" cy="520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anchor="ctr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en-US" altLang="en-US" sz="900"/>
                </a:p>
              </p:txBody>
            </p:sp>
            <p:sp>
              <p:nvSpPr>
                <p:cNvPr id="69" name="Rectangle 48">
                  <a:extLst>
                    <a:ext uri="{FF2B5EF4-FFF2-40B4-BE49-F238E27FC236}">
                      <a16:creationId xmlns:a16="http://schemas.microsoft.com/office/drawing/2014/main" id="{D1137E65-9EC3-FA74-E48F-43ED3830BD6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5236"/>
                  <a:ext cx="3072" cy="374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/>
                <a:lstStyle>
                  <a:lvl1pPr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r>
                    <a:rPr lang="en-US" altLang="en-US" sz="900" b="1">
                      <a:solidFill>
                        <a:srgbClr val="4D8DFF"/>
                      </a:solidFill>
                      <a:latin typeface="Courier New" panose="02070309020205020404" pitchFamily="49" charset="0"/>
                    </a:rPr>
                    <a:t>	15	</a:t>
                  </a:r>
                  <a:r>
                    <a:rPr lang="en-US" altLang="en-US" sz="900" b="1">
                      <a:latin typeface="Courier New" panose="02070309020205020404" pitchFamily="49" charset="0"/>
                    </a:rPr>
                    <a:t>   </a:t>
                  </a:r>
                  <a:r>
                    <a:rPr lang="en-US" altLang="en-US" sz="900" b="1">
                      <a:solidFill>
                        <a:srgbClr val="275AFF"/>
                      </a:solidFill>
                      <a:latin typeface="Courier New" panose="02070309020205020404" pitchFamily="49" charset="0"/>
                    </a:rPr>
                    <a:t>int</a:t>
                  </a:r>
                  <a:r>
                    <a:rPr lang="en-US" altLang="en-US" sz="900" b="1">
                      <a:latin typeface="Courier New" panose="02070309020205020404" pitchFamily="49" charset="0"/>
                    </a:rPr>
                    <a:t> x;  </a:t>
                  </a:r>
                  <a:r>
                    <a:rPr lang="en-US" altLang="en-US" sz="900" b="1">
                      <a:solidFill>
                        <a:srgbClr val="33CC33"/>
                      </a:solidFill>
                      <a:latin typeface="Courier New" panose="02070309020205020404" pitchFamily="49" charset="0"/>
                    </a:rPr>
                    <a:t>// data member</a:t>
                  </a:r>
                  <a:endParaRPr lang="en-US" altLang="en-US" sz="900" b="1">
                    <a:latin typeface="Courier New" panose="02070309020205020404" pitchFamily="49" charset="0"/>
                  </a:endParaRPr>
                </a:p>
                <a:p>
                  <a:pPr eaLnBrk="1" hangingPunct="1">
                    <a:defRPr/>
                  </a:pPr>
                  <a:endParaRPr lang="en-US" altLang="en-US" sz="900" b="1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20" name="Group 49">
                <a:extLst>
                  <a:ext uri="{FF2B5EF4-FFF2-40B4-BE49-F238E27FC236}">
                    <a16:creationId xmlns:a16="http://schemas.microsoft.com/office/drawing/2014/main" id="{F3DD7286-0895-94FF-D851-233CAA58521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5537"/>
                <a:ext cx="3072" cy="520"/>
                <a:chOff x="0" y="5537"/>
                <a:chExt cx="3072" cy="520"/>
              </a:xfrm>
              <a:grpFill/>
            </p:grpSpPr>
            <p:sp>
              <p:nvSpPr>
                <p:cNvPr id="66" name="Rectangle 50">
                  <a:extLst>
                    <a:ext uri="{FF2B5EF4-FFF2-40B4-BE49-F238E27FC236}">
                      <a16:creationId xmlns:a16="http://schemas.microsoft.com/office/drawing/2014/main" id="{2C9CF775-4663-8E51-DCB9-13D1F5187E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5537"/>
                  <a:ext cx="3072" cy="520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anchor="ctr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en-US" altLang="en-US" sz="900"/>
                </a:p>
              </p:txBody>
            </p:sp>
            <p:sp>
              <p:nvSpPr>
                <p:cNvPr id="67" name="Rectangle 51">
                  <a:extLst>
                    <a:ext uri="{FF2B5EF4-FFF2-40B4-BE49-F238E27FC236}">
                      <a16:creationId xmlns:a16="http://schemas.microsoft.com/office/drawing/2014/main" id="{19C8B26E-A0FC-E1C0-B65E-F3D4C4D16E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5610"/>
                  <a:ext cx="3072" cy="374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/>
                <a:lstStyle>
                  <a:lvl1pPr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r>
                    <a:rPr lang="en-US" altLang="en-US" sz="900" b="1">
                      <a:solidFill>
                        <a:srgbClr val="4D8DFF"/>
                      </a:solidFill>
                      <a:latin typeface="Courier New" panose="02070309020205020404" pitchFamily="49" charset="0"/>
                    </a:rPr>
                    <a:t>	16	</a:t>
                  </a:r>
                  <a:r>
                    <a:rPr lang="en-US" altLang="en-US" sz="900" b="1">
                      <a:latin typeface="Courier New" panose="02070309020205020404" pitchFamily="49" charset="0"/>
                    </a:rPr>
                    <a:t>};</a:t>
                  </a:r>
                </a:p>
                <a:p>
                  <a:pPr eaLnBrk="1" hangingPunct="1">
                    <a:defRPr/>
                  </a:pPr>
                  <a:endParaRPr lang="en-US" altLang="en-US" sz="900" b="1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21" name="Group 52">
                <a:extLst>
                  <a:ext uri="{FF2B5EF4-FFF2-40B4-BE49-F238E27FC236}">
                    <a16:creationId xmlns:a16="http://schemas.microsoft.com/office/drawing/2014/main" id="{F746712E-8CDD-FE28-5E7D-6BE5EB44E85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5911"/>
                <a:ext cx="3072" cy="520"/>
                <a:chOff x="0" y="5911"/>
                <a:chExt cx="3072" cy="520"/>
              </a:xfrm>
              <a:grpFill/>
            </p:grpSpPr>
            <p:sp>
              <p:nvSpPr>
                <p:cNvPr id="64" name="Rectangle 53">
                  <a:extLst>
                    <a:ext uri="{FF2B5EF4-FFF2-40B4-BE49-F238E27FC236}">
                      <a16:creationId xmlns:a16="http://schemas.microsoft.com/office/drawing/2014/main" id="{6AEA2BF5-A053-09DF-1775-CB5C23FDD8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5911"/>
                  <a:ext cx="3072" cy="520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anchor="ctr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en-US" altLang="en-US" sz="900"/>
                </a:p>
              </p:txBody>
            </p:sp>
            <p:sp>
              <p:nvSpPr>
                <p:cNvPr id="65" name="Rectangle 54">
                  <a:extLst>
                    <a:ext uri="{FF2B5EF4-FFF2-40B4-BE49-F238E27FC236}">
                      <a16:creationId xmlns:a16="http://schemas.microsoft.com/office/drawing/2014/main" id="{3F1734E6-CEE0-CCB1-3C6F-F73BD678C2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5984"/>
                  <a:ext cx="3072" cy="374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/>
                <a:lstStyle>
                  <a:lvl1pPr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r>
                    <a:rPr lang="en-US" altLang="en-US" sz="900" b="1">
                      <a:solidFill>
                        <a:srgbClr val="4D8DFF"/>
                      </a:solidFill>
                      <a:latin typeface="Courier New" panose="02070309020205020404" pitchFamily="49" charset="0"/>
                    </a:rPr>
                    <a:t>	17	</a:t>
                  </a:r>
                  <a:endParaRPr lang="en-US" altLang="en-US" sz="900" b="1">
                    <a:latin typeface="Courier New" panose="02070309020205020404" pitchFamily="49" charset="0"/>
                  </a:endParaRPr>
                </a:p>
                <a:p>
                  <a:pPr eaLnBrk="1" hangingPunct="1">
                    <a:defRPr/>
                  </a:pPr>
                  <a:endParaRPr lang="en-US" altLang="en-US" sz="900" b="1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22" name="Group 55">
                <a:extLst>
                  <a:ext uri="{FF2B5EF4-FFF2-40B4-BE49-F238E27FC236}">
                    <a16:creationId xmlns:a16="http://schemas.microsoft.com/office/drawing/2014/main" id="{25438E3A-7170-3134-FAE9-5ABC1A815E4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6285"/>
                <a:ext cx="3072" cy="520"/>
                <a:chOff x="0" y="6285"/>
                <a:chExt cx="3072" cy="520"/>
              </a:xfrm>
              <a:grpFill/>
            </p:grpSpPr>
            <p:sp>
              <p:nvSpPr>
                <p:cNvPr id="62" name="Rectangle 56">
                  <a:extLst>
                    <a:ext uri="{FF2B5EF4-FFF2-40B4-BE49-F238E27FC236}">
                      <a16:creationId xmlns:a16="http://schemas.microsoft.com/office/drawing/2014/main" id="{D95A0491-A8AD-E91B-3445-CCEEBC50C6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6285"/>
                  <a:ext cx="3072" cy="520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anchor="ctr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en-US" altLang="en-US" sz="900"/>
                </a:p>
              </p:txBody>
            </p:sp>
            <p:sp>
              <p:nvSpPr>
                <p:cNvPr id="63" name="Rectangle 57">
                  <a:extLst>
                    <a:ext uri="{FF2B5EF4-FFF2-40B4-BE49-F238E27FC236}">
                      <a16:creationId xmlns:a16="http://schemas.microsoft.com/office/drawing/2014/main" id="{66FC25A6-4A8F-B32C-D7F3-1DB2832421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6358"/>
                  <a:ext cx="3072" cy="374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/>
                <a:lstStyle>
                  <a:lvl1pPr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r>
                    <a:rPr lang="en-US" altLang="en-US" sz="900" b="1">
                      <a:solidFill>
                        <a:srgbClr val="4D8DFF"/>
                      </a:solidFill>
                      <a:latin typeface="Courier New" panose="02070309020205020404" pitchFamily="49" charset="0"/>
                    </a:rPr>
                    <a:t>	18	</a:t>
                  </a:r>
                  <a:r>
                    <a:rPr lang="en-US" altLang="en-US" sz="900" b="1">
                      <a:solidFill>
                        <a:srgbClr val="33CC33"/>
                      </a:solidFill>
                      <a:latin typeface="Courier New" panose="02070309020205020404" pitchFamily="49" charset="0"/>
                    </a:rPr>
                    <a:t>// Function tries to modify private data of Count,</a:t>
                  </a:r>
                  <a:endParaRPr lang="en-US" altLang="en-US" sz="900" b="1">
                    <a:latin typeface="Courier New" panose="02070309020205020404" pitchFamily="49" charset="0"/>
                  </a:endParaRPr>
                </a:p>
                <a:p>
                  <a:pPr eaLnBrk="1" hangingPunct="1">
                    <a:defRPr/>
                  </a:pPr>
                  <a:endParaRPr lang="en-US" altLang="en-US" sz="900" b="1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23" name="Group 58">
                <a:extLst>
                  <a:ext uri="{FF2B5EF4-FFF2-40B4-BE49-F238E27FC236}">
                    <a16:creationId xmlns:a16="http://schemas.microsoft.com/office/drawing/2014/main" id="{55A1845C-7D5C-98C4-463F-55AF1569EE4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6659"/>
                <a:ext cx="3072" cy="520"/>
                <a:chOff x="0" y="6659"/>
                <a:chExt cx="3072" cy="520"/>
              </a:xfrm>
              <a:grpFill/>
            </p:grpSpPr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E219F472-9514-A393-4605-844031761D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6659"/>
                  <a:ext cx="3072" cy="520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anchor="ctr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en-US" altLang="en-US" sz="900"/>
                </a:p>
              </p:txBody>
            </p:sp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D62C7627-B4AE-AA0F-A2D9-7AD2C05DA0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6732"/>
                  <a:ext cx="3072" cy="374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/>
                <a:lstStyle>
                  <a:lvl1pPr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r>
                    <a:rPr lang="en-US" altLang="en-US" sz="900" b="1">
                      <a:solidFill>
                        <a:srgbClr val="4D8DFF"/>
                      </a:solidFill>
                      <a:latin typeface="Courier New" panose="02070309020205020404" pitchFamily="49" charset="0"/>
                    </a:rPr>
                    <a:t>	19	</a:t>
                  </a:r>
                  <a:r>
                    <a:rPr lang="en-US" altLang="en-US" sz="900" b="1">
                      <a:solidFill>
                        <a:srgbClr val="33CC33"/>
                      </a:solidFill>
                      <a:latin typeface="Courier New" panose="02070309020205020404" pitchFamily="49" charset="0"/>
                    </a:rPr>
                    <a:t>// but cannot because it is not a friend of Count.</a:t>
                  </a:r>
                  <a:endParaRPr lang="en-US" altLang="en-US" sz="900" b="1">
                    <a:latin typeface="Courier New" panose="02070309020205020404" pitchFamily="49" charset="0"/>
                  </a:endParaRPr>
                </a:p>
                <a:p>
                  <a:pPr eaLnBrk="1" hangingPunct="1">
                    <a:defRPr/>
                  </a:pPr>
                  <a:endParaRPr lang="en-US" altLang="en-US" sz="900" b="1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24" name="Group 61">
                <a:extLst>
                  <a:ext uri="{FF2B5EF4-FFF2-40B4-BE49-F238E27FC236}">
                    <a16:creationId xmlns:a16="http://schemas.microsoft.com/office/drawing/2014/main" id="{6E364AEA-99F0-87B1-121E-3A65B225190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7033"/>
                <a:ext cx="3072" cy="520"/>
                <a:chOff x="0" y="7033"/>
                <a:chExt cx="3072" cy="520"/>
              </a:xfrm>
              <a:grpFill/>
            </p:grpSpPr>
            <p:sp>
              <p:nvSpPr>
                <p:cNvPr id="58" name="Rectangle 62">
                  <a:extLst>
                    <a:ext uri="{FF2B5EF4-FFF2-40B4-BE49-F238E27FC236}">
                      <a16:creationId xmlns:a16="http://schemas.microsoft.com/office/drawing/2014/main" id="{C2DD8870-DBDA-BECE-65D3-C6F659C3E5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7033"/>
                  <a:ext cx="3072" cy="520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anchor="ctr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en-US" altLang="en-US" sz="900"/>
                </a:p>
              </p:txBody>
            </p:sp>
            <p:sp>
              <p:nvSpPr>
                <p:cNvPr id="59" name="Rectangle 63">
                  <a:extLst>
                    <a:ext uri="{FF2B5EF4-FFF2-40B4-BE49-F238E27FC236}">
                      <a16:creationId xmlns:a16="http://schemas.microsoft.com/office/drawing/2014/main" id="{5CDDADEB-587B-E1FE-CBB2-17ECE80900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7106"/>
                  <a:ext cx="3072" cy="374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/>
                <a:lstStyle>
                  <a:lvl1pPr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r>
                    <a:rPr lang="en-US" altLang="en-US" sz="900" b="1" dirty="0">
                      <a:solidFill>
                        <a:srgbClr val="4D8DFF"/>
                      </a:solidFill>
                      <a:latin typeface="Courier New" panose="02070309020205020404" pitchFamily="49" charset="0"/>
                    </a:rPr>
                    <a:t>	20	</a:t>
                  </a:r>
                  <a:r>
                    <a:rPr lang="en-US" altLang="en-US" sz="900" b="1" dirty="0">
                      <a:solidFill>
                        <a:srgbClr val="275AFF"/>
                      </a:solidFill>
                      <a:latin typeface="Courier New" panose="02070309020205020404" pitchFamily="49" charset="0"/>
                    </a:rPr>
                    <a:t>void</a:t>
                  </a:r>
                  <a:r>
                    <a:rPr lang="en-US" altLang="en-US" sz="900" b="1" dirty="0">
                      <a:latin typeface="Courier New" panose="02070309020205020404" pitchFamily="49" charset="0"/>
                    </a:rPr>
                    <a:t> </a:t>
                  </a:r>
                  <a:r>
                    <a:rPr lang="en-US" altLang="en-US" sz="900" b="1" dirty="0" err="1">
                      <a:latin typeface="Courier New" panose="02070309020205020404" pitchFamily="49" charset="0"/>
                    </a:rPr>
                    <a:t>cannotSetA</a:t>
                  </a:r>
                  <a:r>
                    <a:rPr lang="en-US" altLang="en-US" sz="900" b="1" dirty="0">
                      <a:latin typeface="Courier New" panose="02070309020205020404" pitchFamily="49" charset="0"/>
                    </a:rPr>
                    <a:t>( Count &amp;c, </a:t>
                  </a:r>
                  <a:r>
                    <a:rPr lang="en-US" altLang="en-US" sz="900" b="1" dirty="0">
                      <a:solidFill>
                        <a:srgbClr val="275AFF"/>
                      </a:solidFill>
                      <a:latin typeface="Courier New" panose="02070309020205020404" pitchFamily="49" charset="0"/>
                    </a:rPr>
                    <a:t>int</a:t>
                  </a:r>
                  <a:r>
                    <a:rPr lang="en-US" altLang="en-US" sz="900" b="1" dirty="0">
                      <a:latin typeface="Courier New" panose="02070309020205020404" pitchFamily="49" charset="0"/>
                    </a:rPr>
                    <a:t> </a:t>
                  </a:r>
                  <a:r>
                    <a:rPr lang="en-US" altLang="en-US" sz="900" b="1" dirty="0" err="1">
                      <a:latin typeface="Courier New" panose="02070309020205020404" pitchFamily="49" charset="0"/>
                    </a:rPr>
                    <a:t>val</a:t>
                  </a:r>
                  <a:r>
                    <a:rPr lang="en-US" altLang="en-US" sz="900" b="1" dirty="0">
                      <a:latin typeface="Courier New" panose="02070309020205020404" pitchFamily="49" charset="0"/>
                    </a:rPr>
                    <a:t> )</a:t>
                  </a:r>
                </a:p>
                <a:p>
                  <a:pPr eaLnBrk="1" hangingPunct="1">
                    <a:defRPr/>
                  </a:pPr>
                  <a:endParaRPr lang="en-US" altLang="en-US" sz="900" b="1" dirty="0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25" name="Group 64">
                <a:extLst>
                  <a:ext uri="{FF2B5EF4-FFF2-40B4-BE49-F238E27FC236}">
                    <a16:creationId xmlns:a16="http://schemas.microsoft.com/office/drawing/2014/main" id="{6CAAE584-2E21-1657-4C49-26A1D8EB313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7407"/>
                <a:ext cx="3072" cy="520"/>
                <a:chOff x="0" y="7407"/>
                <a:chExt cx="3072" cy="520"/>
              </a:xfrm>
              <a:grpFill/>
            </p:grpSpPr>
            <p:sp>
              <p:nvSpPr>
                <p:cNvPr id="56" name="Rectangle 65">
                  <a:extLst>
                    <a:ext uri="{FF2B5EF4-FFF2-40B4-BE49-F238E27FC236}">
                      <a16:creationId xmlns:a16="http://schemas.microsoft.com/office/drawing/2014/main" id="{D1D6DB05-A88F-E20E-728C-517F1E3DFB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7407"/>
                  <a:ext cx="3072" cy="520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anchor="ctr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en-US" altLang="en-US" sz="900"/>
                </a:p>
              </p:txBody>
            </p:sp>
            <p:sp>
              <p:nvSpPr>
                <p:cNvPr id="57" name="Rectangle 66">
                  <a:extLst>
                    <a:ext uri="{FF2B5EF4-FFF2-40B4-BE49-F238E27FC236}">
                      <a16:creationId xmlns:a16="http://schemas.microsoft.com/office/drawing/2014/main" id="{8C4E81AB-E7D5-1B46-485C-164BBB1950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7480"/>
                  <a:ext cx="3072" cy="374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/>
                <a:lstStyle>
                  <a:lvl1pPr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r>
                    <a:rPr lang="en-US" altLang="en-US" sz="900" b="1">
                      <a:solidFill>
                        <a:srgbClr val="4D8DFF"/>
                      </a:solidFill>
                      <a:latin typeface="Courier New" panose="02070309020205020404" pitchFamily="49" charset="0"/>
                    </a:rPr>
                    <a:t>	21	</a:t>
                  </a:r>
                  <a:r>
                    <a:rPr lang="en-US" altLang="en-US" sz="900" b="1">
                      <a:latin typeface="Courier New" panose="02070309020205020404" pitchFamily="49" charset="0"/>
                    </a:rPr>
                    <a:t>{</a:t>
                  </a:r>
                </a:p>
                <a:p>
                  <a:pPr eaLnBrk="1" hangingPunct="1">
                    <a:defRPr/>
                  </a:pPr>
                  <a:endParaRPr lang="en-US" altLang="en-US" sz="900" b="1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26" name="Group 67">
                <a:extLst>
                  <a:ext uri="{FF2B5EF4-FFF2-40B4-BE49-F238E27FC236}">
                    <a16:creationId xmlns:a16="http://schemas.microsoft.com/office/drawing/2014/main" id="{9FD499C9-F0DC-24A1-E166-28F521BFB78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7781"/>
                <a:ext cx="3072" cy="520"/>
                <a:chOff x="0" y="7781"/>
                <a:chExt cx="3072" cy="520"/>
              </a:xfrm>
              <a:grpFill/>
            </p:grpSpPr>
            <p:sp>
              <p:nvSpPr>
                <p:cNvPr id="54" name="Rectangle 68">
                  <a:extLst>
                    <a:ext uri="{FF2B5EF4-FFF2-40B4-BE49-F238E27FC236}">
                      <a16:creationId xmlns:a16="http://schemas.microsoft.com/office/drawing/2014/main" id="{A1E3E1D7-03D4-7FC8-E4E9-D5C357892A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7781"/>
                  <a:ext cx="3072" cy="520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anchor="ctr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en-US" altLang="en-US" sz="900"/>
                </a:p>
              </p:txBody>
            </p:sp>
            <p:sp>
              <p:nvSpPr>
                <p:cNvPr id="55" name="Rectangle 69">
                  <a:extLst>
                    <a:ext uri="{FF2B5EF4-FFF2-40B4-BE49-F238E27FC236}">
                      <a16:creationId xmlns:a16="http://schemas.microsoft.com/office/drawing/2014/main" id="{BA991E6F-D441-FFC2-496C-BC67C8C8D96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7854"/>
                  <a:ext cx="3072" cy="374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/>
                <a:lstStyle>
                  <a:lvl1pPr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r>
                    <a:rPr lang="en-US" altLang="en-US" sz="900" b="1" dirty="0">
                      <a:solidFill>
                        <a:srgbClr val="4D8DFF"/>
                      </a:solidFill>
                      <a:latin typeface="Courier New" panose="02070309020205020404" pitchFamily="49" charset="0"/>
                    </a:rPr>
                    <a:t>	22	</a:t>
                  </a:r>
                  <a:r>
                    <a:rPr lang="en-US" altLang="en-US" sz="900" b="1" dirty="0">
                      <a:latin typeface="Courier New" panose="02070309020205020404" pitchFamily="49" charset="0"/>
                    </a:rPr>
                    <a:t>   </a:t>
                  </a:r>
                  <a:r>
                    <a:rPr lang="en-US" altLang="en-US" sz="900" b="1" dirty="0" err="1">
                      <a:latin typeface="Courier New" panose="02070309020205020404" pitchFamily="49" charset="0"/>
                    </a:rPr>
                    <a:t>c.x</a:t>
                  </a:r>
                  <a:r>
                    <a:rPr lang="en-US" altLang="en-US" sz="900" b="1" dirty="0">
                      <a:latin typeface="Courier New" panose="02070309020205020404" pitchFamily="49" charset="0"/>
                    </a:rPr>
                    <a:t> = </a:t>
                  </a:r>
                  <a:r>
                    <a:rPr lang="en-US" altLang="en-US" sz="900" b="1" dirty="0" err="1">
                      <a:latin typeface="Courier New" panose="02070309020205020404" pitchFamily="49" charset="0"/>
                    </a:rPr>
                    <a:t>val</a:t>
                  </a:r>
                  <a:r>
                    <a:rPr lang="en-US" altLang="en-US" sz="900" b="1" dirty="0">
                      <a:latin typeface="Courier New" panose="02070309020205020404" pitchFamily="49" charset="0"/>
                    </a:rPr>
                    <a:t>; </a:t>
                  </a:r>
                  <a:r>
                    <a:rPr lang="en-US" altLang="en-US" sz="900" b="1" dirty="0">
                      <a:solidFill>
                        <a:srgbClr val="33CC33"/>
                      </a:solidFill>
                      <a:latin typeface="Courier New" panose="02070309020205020404" pitchFamily="49" charset="0"/>
                    </a:rPr>
                    <a:t> </a:t>
                  </a:r>
                  <a:r>
                    <a:rPr lang="en-US" altLang="en-US" sz="900" b="1" dirty="0">
                      <a:solidFill>
                        <a:srgbClr val="FF0000"/>
                      </a:solidFill>
                      <a:latin typeface="Courier New" panose="02070309020205020404" pitchFamily="49" charset="0"/>
                    </a:rPr>
                    <a:t>// ERROR: 'Count::x' is not accessible</a:t>
                  </a:r>
                </a:p>
                <a:p>
                  <a:pPr eaLnBrk="1" hangingPunct="1">
                    <a:defRPr/>
                  </a:pPr>
                  <a:endParaRPr lang="en-US" altLang="en-US" sz="900" b="1" dirty="0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27" name="Group 70">
                <a:extLst>
                  <a:ext uri="{FF2B5EF4-FFF2-40B4-BE49-F238E27FC236}">
                    <a16:creationId xmlns:a16="http://schemas.microsoft.com/office/drawing/2014/main" id="{86F59B1E-6055-803E-3FC8-2CB2B5050CF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8155"/>
                <a:ext cx="3072" cy="520"/>
                <a:chOff x="0" y="8155"/>
                <a:chExt cx="3072" cy="520"/>
              </a:xfrm>
              <a:grpFill/>
            </p:grpSpPr>
            <p:sp>
              <p:nvSpPr>
                <p:cNvPr id="52" name="Rectangle 71">
                  <a:extLst>
                    <a:ext uri="{FF2B5EF4-FFF2-40B4-BE49-F238E27FC236}">
                      <a16:creationId xmlns:a16="http://schemas.microsoft.com/office/drawing/2014/main" id="{704E07DE-DA60-0588-5956-44BDE1CF32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8155"/>
                  <a:ext cx="3072" cy="520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anchor="ctr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en-US" altLang="en-US" sz="900"/>
                </a:p>
              </p:txBody>
            </p:sp>
            <p:sp>
              <p:nvSpPr>
                <p:cNvPr id="53" name="Rectangle 72">
                  <a:extLst>
                    <a:ext uri="{FF2B5EF4-FFF2-40B4-BE49-F238E27FC236}">
                      <a16:creationId xmlns:a16="http://schemas.microsoft.com/office/drawing/2014/main" id="{67F2BCC5-EB76-EED9-9199-F9BA690828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8228"/>
                  <a:ext cx="3072" cy="374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/>
                <a:lstStyle>
                  <a:lvl1pPr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r>
                    <a:rPr lang="en-US" altLang="en-US" sz="900" b="1">
                      <a:solidFill>
                        <a:srgbClr val="4D8DFF"/>
                      </a:solidFill>
                      <a:latin typeface="Courier New" panose="02070309020205020404" pitchFamily="49" charset="0"/>
                    </a:rPr>
                    <a:t>	23	</a:t>
                  </a:r>
                  <a:r>
                    <a:rPr lang="en-US" altLang="en-US" sz="900" b="1">
                      <a:latin typeface="Courier New" panose="02070309020205020404" pitchFamily="49" charset="0"/>
                    </a:rPr>
                    <a:t>}</a:t>
                  </a:r>
                </a:p>
                <a:p>
                  <a:pPr eaLnBrk="1" hangingPunct="1">
                    <a:defRPr/>
                  </a:pPr>
                  <a:endParaRPr lang="en-US" altLang="en-US" sz="900" b="1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28" name="Group 73">
                <a:extLst>
                  <a:ext uri="{FF2B5EF4-FFF2-40B4-BE49-F238E27FC236}">
                    <a16:creationId xmlns:a16="http://schemas.microsoft.com/office/drawing/2014/main" id="{6046F7B4-19BA-4CBD-8BE5-6E5AB4BDC8E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8529"/>
                <a:ext cx="3072" cy="520"/>
                <a:chOff x="0" y="8529"/>
                <a:chExt cx="3072" cy="520"/>
              </a:xfrm>
              <a:grpFill/>
            </p:grpSpPr>
            <p:sp>
              <p:nvSpPr>
                <p:cNvPr id="50" name="Rectangle 74">
                  <a:extLst>
                    <a:ext uri="{FF2B5EF4-FFF2-40B4-BE49-F238E27FC236}">
                      <a16:creationId xmlns:a16="http://schemas.microsoft.com/office/drawing/2014/main" id="{952D57AE-7951-B198-3362-EF77F498ED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8529"/>
                  <a:ext cx="3072" cy="520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anchor="ctr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en-US" altLang="en-US" sz="900"/>
                </a:p>
              </p:txBody>
            </p:sp>
            <p:sp>
              <p:nvSpPr>
                <p:cNvPr id="51" name="Rectangle 75">
                  <a:extLst>
                    <a:ext uri="{FF2B5EF4-FFF2-40B4-BE49-F238E27FC236}">
                      <a16:creationId xmlns:a16="http://schemas.microsoft.com/office/drawing/2014/main" id="{301ED980-0941-6263-8753-FA5BF14820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8602"/>
                  <a:ext cx="3072" cy="374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/>
                <a:lstStyle>
                  <a:lvl1pPr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r>
                    <a:rPr lang="en-US" altLang="en-US" sz="900" b="1">
                      <a:solidFill>
                        <a:srgbClr val="4D8DFF"/>
                      </a:solidFill>
                      <a:latin typeface="Courier New" panose="02070309020205020404" pitchFamily="49" charset="0"/>
                    </a:rPr>
                    <a:t>	24	</a:t>
                  </a:r>
                  <a:endParaRPr lang="en-US" altLang="en-US" sz="900" b="1">
                    <a:latin typeface="Courier New" panose="02070309020205020404" pitchFamily="49" charset="0"/>
                  </a:endParaRPr>
                </a:p>
                <a:p>
                  <a:pPr eaLnBrk="1" hangingPunct="1">
                    <a:defRPr/>
                  </a:pPr>
                  <a:endParaRPr lang="en-US" altLang="en-US" sz="900" b="1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29" name="Group 76">
                <a:extLst>
                  <a:ext uri="{FF2B5EF4-FFF2-40B4-BE49-F238E27FC236}">
                    <a16:creationId xmlns:a16="http://schemas.microsoft.com/office/drawing/2014/main" id="{2DB7B126-07D3-D96C-0739-B48463498C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8903"/>
                <a:ext cx="3072" cy="520"/>
                <a:chOff x="0" y="8903"/>
                <a:chExt cx="3072" cy="520"/>
              </a:xfrm>
              <a:grpFill/>
            </p:grpSpPr>
            <p:sp>
              <p:nvSpPr>
                <p:cNvPr id="48" name="Rectangle 77">
                  <a:extLst>
                    <a:ext uri="{FF2B5EF4-FFF2-40B4-BE49-F238E27FC236}">
                      <a16:creationId xmlns:a16="http://schemas.microsoft.com/office/drawing/2014/main" id="{504AE9BF-8039-DBF0-C3D1-B55ABB0383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8903"/>
                  <a:ext cx="3072" cy="520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anchor="ctr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en-US" altLang="en-US" sz="900"/>
                </a:p>
              </p:txBody>
            </p:sp>
            <p:sp>
              <p:nvSpPr>
                <p:cNvPr id="49" name="Rectangle 78">
                  <a:extLst>
                    <a:ext uri="{FF2B5EF4-FFF2-40B4-BE49-F238E27FC236}">
                      <a16:creationId xmlns:a16="http://schemas.microsoft.com/office/drawing/2014/main" id="{2B363722-DDD2-6F00-F03D-0D26C9A5A0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8976"/>
                  <a:ext cx="3072" cy="374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/>
                <a:lstStyle>
                  <a:lvl1pPr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r>
                    <a:rPr lang="en-US" altLang="en-US" sz="900" b="1" dirty="0">
                      <a:solidFill>
                        <a:srgbClr val="4D8DFF"/>
                      </a:solidFill>
                      <a:latin typeface="Courier New" panose="02070309020205020404" pitchFamily="49" charset="0"/>
                    </a:rPr>
                    <a:t>	25	</a:t>
                  </a:r>
                  <a:r>
                    <a:rPr lang="en-US" altLang="en-US" sz="900" b="1" dirty="0">
                      <a:solidFill>
                        <a:srgbClr val="275AFF"/>
                      </a:solidFill>
                      <a:latin typeface="Courier New" panose="02070309020205020404" pitchFamily="49" charset="0"/>
                    </a:rPr>
                    <a:t>int</a:t>
                  </a:r>
                  <a:r>
                    <a:rPr lang="en-US" altLang="en-US" sz="900" b="1" dirty="0">
                      <a:latin typeface="Courier New" panose="02070309020205020404" pitchFamily="49" charset="0"/>
                    </a:rPr>
                    <a:t> main()</a:t>
                  </a:r>
                </a:p>
                <a:p>
                  <a:pPr eaLnBrk="1" hangingPunct="1">
                    <a:defRPr/>
                  </a:pPr>
                  <a:endParaRPr lang="en-US" altLang="en-US" sz="900" b="1" dirty="0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30" name="Group 79">
                <a:extLst>
                  <a:ext uri="{FF2B5EF4-FFF2-40B4-BE49-F238E27FC236}">
                    <a16:creationId xmlns:a16="http://schemas.microsoft.com/office/drawing/2014/main" id="{9F66989A-2CEE-19A9-80E6-3321127E67F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9277"/>
                <a:ext cx="3072" cy="520"/>
                <a:chOff x="0" y="9277"/>
                <a:chExt cx="3072" cy="520"/>
              </a:xfrm>
              <a:grpFill/>
            </p:grpSpPr>
            <p:sp>
              <p:nvSpPr>
                <p:cNvPr id="46" name="Rectangle 80">
                  <a:extLst>
                    <a:ext uri="{FF2B5EF4-FFF2-40B4-BE49-F238E27FC236}">
                      <a16:creationId xmlns:a16="http://schemas.microsoft.com/office/drawing/2014/main" id="{F2916EF2-E54A-6684-9FB3-A7B4063B5E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9277"/>
                  <a:ext cx="3072" cy="520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anchor="ctr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en-US" altLang="en-US" sz="900"/>
                </a:p>
              </p:txBody>
            </p:sp>
            <p:sp>
              <p:nvSpPr>
                <p:cNvPr id="47" name="Rectangle 81">
                  <a:extLst>
                    <a:ext uri="{FF2B5EF4-FFF2-40B4-BE49-F238E27FC236}">
                      <a16:creationId xmlns:a16="http://schemas.microsoft.com/office/drawing/2014/main" id="{0CB6DFB6-88D2-5F68-786D-4A3226290C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9350"/>
                  <a:ext cx="3072" cy="374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/>
                <a:lstStyle>
                  <a:lvl1pPr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r>
                    <a:rPr lang="en-US" altLang="en-US" sz="900" b="1">
                      <a:solidFill>
                        <a:srgbClr val="4D8DFF"/>
                      </a:solidFill>
                      <a:latin typeface="Courier New" panose="02070309020205020404" pitchFamily="49" charset="0"/>
                    </a:rPr>
                    <a:t>	26	</a:t>
                  </a:r>
                  <a:r>
                    <a:rPr lang="en-US" altLang="en-US" sz="900" b="1">
                      <a:latin typeface="Courier New" panose="02070309020205020404" pitchFamily="49" charset="0"/>
                    </a:rPr>
                    <a:t>{</a:t>
                  </a:r>
                </a:p>
                <a:p>
                  <a:pPr eaLnBrk="1" hangingPunct="1">
                    <a:defRPr/>
                  </a:pPr>
                  <a:endParaRPr lang="en-US" altLang="en-US" sz="900" b="1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31" name="Group 82">
                <a:extLst>
                  <a:ext uri="{FF2B5EF4-FFF2-40B4-BE49-F238E27FC236}">
                    <a16:creationId xmlns:a16="http://schemas.microsoft.com/office/drawing/2014/main" id="{55CAAD20-E13B-0931-ACA0-41CFEEB6613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9651"/>
                <a:ext cx="3072" cy="520"/>
                <a:chOff x="0" y="9651"/>
                <a:chExt cx="3072" cy="520"/>
              </a:xfrm>
              <a:grpFill/>
            </p:grpSpPr>
            <p:sp>
              <p:nvSpPr>
                <p:cNvPr id="44" name="Rectangle 83">
                  <a:extLst>
                    <a:ext uri="{FF2B5EF4-FFF2-40B4-BE49-F238E27FC236}">
                      <a16:creationId xmlns:a16="http://schemas.microsoft.com/office/drawing/2014/main" id="{172919E2-11F9-798A-F0DC-6E88CF9640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9651"/>
                  <a:ext cx="3072" cy="520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anchor="ctr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en-US" altLang="en-US" sz="900"/>
                </a:p>
              </p:txBody>
            </p:sp>
            <p:sp>
              <p:nvSpPr>
                <p:cNvPr id="45" name="Rectangle 84">
                  <a:extLst>
                    <a:ext uri="{FF2B5EF4-FFF2-40B4-BE49-F238E27FC236}">
                      <a16:creationId xmlns:a16="http://schemas.microsoft.com/office/drawing/2014/main" id="{26EC2DA4-1FC6-0E10-37BD-3F80D29008A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9724"/>
                  <a:ext cx="3072" cy="374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/>
                <a:lstStyle>
                  <a:lvl1pPr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r>
                    <a:rPr lang="en-US" altLang="en-US" sz="900" b="1">
                      <a:solidFill>
                        <a:srgbClr val="4D8DFF"/>
                      </a:solidFill>
                      <a:latin typeface="Courier New" panose="02070309020205020404" pitchFamily="49" charset="0"/>
                    </a:rPr>
                    <a:t>	27	</a:t>
                  </a:r>
                  <a:r>
                    <a:rPr lang="en-US" altLang="en-US" sz="900" b="1">
                      <a:latin typeface="Courier New" panose="02070309020205020404" pitchFamily="49" charset="0"/>
                    </a:rPr>
                    <a:t>   Count counter;</a:t>
                  </a:r>
                </a:p>
                <a:p>
                  <a:pPr eaLnBrk="1" hangingPunct="1">
                    <a:defRPr/>
                  </a:pPr>
                  <a:endParaRPr lang="en-US" altLang="en-US" sz="900" b="1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32" name="Group 85">
                <a:extLst>
                  <a:ext uri="{FF2B5EF4-FFF2-40B4-BE49-F238E27FC236}">
                    <a16:creationId xmlns:a16="http://schemas.microsoft.com/office/drawing/2014/main" id="{C109506A-CB5A-D153-6AD4-68B85152F0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0025"/>
                <a:ext cx="3072" cy="520"/>
                <a:chOff x="0" y="10025"/>
                <a:chExt cx="3072" cy="520"/>
              </a:xfrm>
              <a:grpFill/>
            </p:grpSpPr>
            <p:sp>
              <p:nvSpPr>
                <p:cNvPr id="42" name="Rectangle 86">
                  <a:extLst>
                    <a:ext uri="{FF2B5EF4-FFF2-40B4-BE49-F238E27FC236}">
                      <a16:creationId xmlns:a16="http://schemas.microsoft.com/office/drawing/2014/main" id="{F92DC506-3157-9A45-9914-B25707B8A0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0025"/>
                  <a:ext cx="3072" cy="520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anchor="ctr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en-US" altLang="en-US" sz="900"/>
                </a:p>
              </p:txBody>
            </p:sp>
            <p:sp>
              <p:nvSpPr>
                <p:cNvPr id="43" name="Rectangle 87">
                  <a:extLst>
                    <a:ext uri="{FF2B5EF4-FFF2-40B4-BE49-F238E27FC236}">
                      <a16:creationId xmlns:a16="http://schemas.microsoft.com/office/drawing/2014/main" id="{F81C4764-09C1-9A88-6222-614EB8F0D9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0098"/>
                  <a:ext cx="3072" cy="374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/>
                <a:lstStyle>
                  <a:lvl1pPr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r>
                    <a:rPr lang="en-US" altLang="en-US" sz="900" b="1">
                      <a:solidFill>
                        <a:srgbClr val="4D8DFF"/>
                      </a:solidFill>
                      <a:latin typeface="Courier New" panose="02070309020205020404" pitchFamily="49" charset="0"/>
                    </a:rPr>
                    <a:t>	28	</a:t>
                  </a:r>
                  <a:endParaRPr lang="en-US" altLang="en-US" sz="900" b="1">
                    <a:latin typeface="Courier New" panose="02070309020205020404" pitchFamily="49" charset="0"/>
                  </a:endParaRPr>
                </a:p>
                <a:p>
                  <a:pPr eaLnBrk="1" hangingPunct="1">
                    <a:defRPr/>
                  </a:pPr>
                  <a:endParaRPr lang="en-US" altLang="en-US" sz="900" b="1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33" name="Group 88">
                <a:extLst>
                  <a:ext uri="{FF2B5EF4-FFF2-40B4-BE49-F238E27FC236}">
                    <a16:creationId xmlns:a16="http://schemas.microsoft.com/office/drawing/2014/main" id="{9116CB12-953E-8342-7C14-84B7B7FE1DB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0399"/>
                <a:ext cx="3072" cy="520"/>
                <a:chOff x="0" y="10399"/>
                <a:chExt cx="3072" cy="520"/>
              </a:xfrm>
              <a:grpFill/>
            </p:grpSpPr>
            <p:sp>
              <p:nvSpPr>
                <p:cNvPr id="40" name="Rectangle 89">
                  <a:extLst>
                    <a:ext uri="{FF2B5EF4-FFF2-40B4-BE49-F238E27FC236}">
                      <a16:creationId xmlns:a16="http://schemas.microsoft.com/office/drawing/2014/main" id="{E402A32B-0907-B794-2D3E-67F9CA2815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0399"/>
                  <a:ext cx="3072" cy="520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anchor="ctr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en-US" altLang="en-US" sz="900"/>
                </a:p>
              </p:txBody>
            </p:sp>
            <p:sp>
              <p:nvSpPr>
                <p:cNvPr id="41" name="Rectangle 90">
                  <a:extLst>
                    <a:ext uri="{FF2B5EF4-FFF2-40B4-BE49-F238E27FC236}">
                      <a16:creationId xmlns:a16="http://schemas.microsoft.com/office/drawing/2014/main" id="{15C0C430-7904-A27C-8C18-DDE3FD6DB4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0472"/>
                  <a:ext cx="3072" cy="374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/>
                <a:lstStyle>
                  <a:lvl1pPr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r>
                    <a:rPr lang="en-US" altLang="en-US" sz="900" b="1">
                      <a:solidFill>
                        <a:srgbClr val="4D8DFF"/>
                      </a:solidFill>
                      <a:latin typeface="Courier New" panose="02070309020205020404" pitchFamily="49" charset="0"/>
                    </a:rPr>
                    <a:t>	29	</a:t>
                  </a:r>
                  <a:r>
                    <a:rPr lang="en-US" altLang="en-US" sz="900" b="1">
                      <a:latin typeface="Courier New" panose="02070309020205020404" pitchFamily="49" charset="0"/>
                    </a:rPr>
                    <a:t>   cannotSetX( counter, 3 ); </a:t>
                  </a:r>
                  <a:r>
                    <a:rPr lang="en-US" altLang="en-US" sz="900" b="1">
                      <a:solidFill>
                        <a:srgbClr val="33CC33"/>
                      </a:solidFill>
                      <a:latin typeface="Courier New" panose="02070309020205020404" pitchFamily="49" charset="0"/>
                    </a:rPr>
                    <a:t>// cannotSetX is not a friend</a:t>
                  </a:r>
                  <a:endParaRPr lang="en-US" altLang="en-US" sz="900" b="1">
                    <a:latin typeface="Courier New" panose="02070309020205020404" pitchFamily="49" charset="0"/>
                  </a:endParaRPr>
                </a:p>
                <a:p>
                  <a:pPr eaLnBrk="1" hangingPunct="1">
                    <a:defRPr/>
                  </a:pPr>
                  <a:endParaRPr lang="en-US" altLang="en-US" sz="900" b="1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34" name="Group 91">
                <a:extLst>
                  <a:ext uri="{FF2B5EF4-FFF2-40B4-BE49-F238E27FC236}">
                    <a16:creationId xmlns:a16="http://schemas.microsoft.com/office/drawing/2014/main" id="{DA91B8E7-216F-C79C-294C-4379709CD6B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0773"/>
                <a:ext cx="3072" cy="520"/>
                <a:chOff x="0" y="10773"/>
                <a:chExt cx="3072" cy="520"/>
              </a:xfrm>
              <a:grpFill/>
            </p:grpSpPr>
            <p:sp>
              <p:nvSpPr>
                <p:cNvPr id="38" name="Rectangle 92">
                  <a:extLst>
                    <a:ext uri="{FF2B5EF4-FFF2-40B4-BE49-F238E27FC236}">
                      <a16:creationId xmlns:a16="http://schemas.microsoft.com/office/drawing/2014/main" id="{3E070934-05F8-B547-5CB0-65787885EA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0773"/>
                  <a:ext cx="3072" cy="520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anchor="ctr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en-US" altLang="en-US" sz="900"/>
                </a:p>
              </p:txBody>
            </p:sp>
            <p:sp>
              <p:nvSpPr>
                <p:cNvPr id="39" name="Rectangle 93">
                  <a:extLst>
                    <a:ext uri="{FF2B5EF4-FFF2-40B4-BE49-F238E27FC236}">
                      <a16:creationId xmlns:a16="http://schemas.microsoft.com/office/drawing/2014/main" id="{822E0D8E-5663-A1A2-994A-E10F06A02D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0846"/>
                  <a:ext cx="3072" cy="374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/>
                <a:lstStyle>
                  <a:lvl1pPr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r>
                    <a:rPr lang="en-US" altLang="en-US" sz="900" b="1" dirty="0">
                      <a:solidFill>
                        <a:srgbClr val="4D8DFF"/>
                      </a:solidFill>
                      <a:latin typeface="Courier New" panose="02070309020205020404" pitchFamily="49" charset="0"/>
                    </a:rPr>
                    <a:t>	30	</a:t>
                  </a:r>
                  <a:r>
                    <a:rPr lang="en-US" altLang="en-US" sz="900" b="1" dirty="0">
                      <a:latin typeface="Courier New" panose="02070309020205020404" pitchFamily="49" charset="0"/>
                    </a:rPr>
                    <a:t>   </a:t>
                  </a:r>
                  <a:r>
                    <a:rPr lang="en-US" altLang="en-US" sz="900" b="1" dirty="0">
                      <a:solidFill>
                        <a:srgbClr val="275AFF"/>
                      </a:solidFill>
                      <a:latin typeface="Courier New" panose="02070309020205020404" pitchFamily="49" charset="0"/>
                    </a:rPr>
                    <a:t>return</a:t>
                  </a:r>
                  <a:r>
                    <a:rPr lang="en-US" altLang="en-US" sz="900" b="1" dirty="0">
                      <a:latin typeface="Courier New" panose="02070309020205020404" pitchFamily="49" charset="0"/>
                    </a:rPr>
                    <a:t> 0;</a:t>
                  </a:r>
                </a:p>
                <a:p>
                  <a:pPr eaLnBrk="1" hangingPunct="1">
                    <a:defRPr/>
                  </a:pPr>
                  <a:endParaRPr lang="en-US" altLang="en-US" sz="900" b="1" dirty="0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35" name="Group 94">
                <a:extLst>
                  <a:ext uri="{FF2B5EF4-FFF2-40B4-BE49-F238E27FC236}">
                    <a16:creationId xmlns:a16="http://schemas.microsoft.com/office/drawing/2014/main" id="{1CD4348D-BF24-ECAA-0DBC-2A9851750E9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1147"/>
                <a:ext cx="3072" cy="520"/>
                <a:chOff x="0" y="11147"/>
                <a:chExt cx="3072" cy="520"/>
              </a:xfrm>
              <a:grpFill/>
            </p:grpSpPr>
            <p:sp>
              <p:nvSpPr>
                <p:cNvPr id="36" name="Rectangle 95">
                  <a:extLst>
                    <a:ext uri="{FF2B5EF4-FFF2-40B4-BE49-F238E27FC236}">
                      <a16:creationId xmlns:a16="http://schemas.microsoft.com/office/drawing/2014/main" id="{963DE8F7-E655-C5E0-965B-7CACDD72D2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1147"/>
                  <a:ext cx="3072" cy="520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anchor="ctr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en-US" altLang="en-US" sz="900"/>
                </a:p>
              </p:txBody>
            </p:sp>
            <p:sp>
              <p:nvSpPr>
                <p:cNvPr id="37" name="Rectangle 96">
                  <a:extLst>
                    <a:ext uri="{FF2B5EF4-FFF2-40B4-BE49-F238E27FC236}">
                      <a16:creationId xmlns:a16="http://schemas.microsoft.com/office/drawing/2014/main" id="{68E371C5-1A43-FC51-BB7F-63E4D3EFD8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1220"/>
                  <a:ext cx="3072" cy="374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/>
                <a:lstStyle>
                  <a:lvl1pPr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139700" algn="r"/>
                      <a:tab pos="292100" algn="l"/>
                    </a:tabLs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:r>
                    <a:rPr lang="en-US" altLang="en-US" sz="900" b="1" dirty="0">
                      <a:solidFill>
                        <a:srgbClr val="4D8DFF"/>
                      </a:solidFill>
                      <a:latin typeface="Courier New" panose="02070309020205020404" pitchFamily="49" charset="0"/>
                    </a:rPr>
                    <a:t>	31	</a:t>
                  </a:r>
                  <a:r>
                    <a:rPr lang="en-US" altLang="en-US" sz="900" b="1" dirty="0">
                      <a:latin typeface="Courier New" panose="02070309020205020404" pitchFamily="49" charset="0"/>
                    </a:rPr>
                    <a:t>}</a:t>
                  </a:r>
                </a:p>
                <a:p>
                  <a:pPr eaLnBrk="1" hangingPunct="1">
                    <a:defRPr/>
                  </a:pPr>
                  <a:endParaRPr lang="en-US" altLang="en-US" sz="900" b="1" dirty="0">
                    <a:latin typeface="Courier New" panose="02070309020205020404" pitchFamily="49" charset="0"/>
                  </a:endParaRPr>
                </a:p>
              </p:txBody>
            </p:sp>
          </p:grpSp>
        </p:grpSp>
        <p:grpSp>
          <p:nvGrpSpPr>
            <p:cNvPr id="98" name="Group 106">
              <a:extLst>
                <a:ext uri="{FF2B5EF4-FFF2-40B4-BE49-F238E27FC236}">
                  <a16:creationId xmlns:a16="http://schemas.microsoft.com/office/drawing/2014/main" id="{6E21A50A-6172-A1E9-BD42-17E8719FEC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4000" y="1323975"/>
              <a:ext cx="4724400" cy="2895600"/>
              <a:chOff x="960" y="816"/>
              <a:chExt cx="2976" cy="1824"/>
            </a:xfrm>
            <a:solidFill>
              <a:schemeClr val="bg1">
                <a:lumMod val="85000"/>
              </a:schemeClr>
            </a:solidFill>
          </p:grpSpPr>
          <p:sp>
            <p:nvSpPr>
              <p:cNvPr id="99" name="Text Box 98">
                <a:extLst>
                  <a:ext uri="{FF2B5EF4-FFF2-40B4-BE49-F238E27FC236}">
                    <a16:creationId xmlns:a16="http://schemas.microsoft.com/office/drawing/2014/main" id="{C8565E30-9B50-C7D0-C06F-25BF24B263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16" y="816"/>
                <a:ext cx="1920" cy="310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r>
                  <a:rPr lang="en-US" altLang="en-US" sz="900" b="1" dirty="0" err="1">
                    <a:latin typeface="Courier New" panose="02070309020205020404" pitchFamily="49" charset="0"/>
                  </a:rPr>
                  <a:t>cannotSetA</a:t>
                </a:r>
                <a:r>
                  <a:rPr lang="en-US" altLang="en-US" sz="900" dirty="0"/>
                  <a:t> is not a </a:t>
                </a:r>
                <a:r>
                  <a:rPr lang="en-US" altLang="en-US" sz="900" b="1" dirty="0">
                    <a:latin typeface="Courier New" panose="02070309020205020404" pitchFamily="49" charset="0"/>
                  </a:rPr>
                  <a:t>friend</a:t>
                </a:r>
                <a:r>
                  <a:rPr lang="en-US" altLang="en-US" sz="900" dirty="0"/>
                  <a:t> of class </a:t>
                </a:r>
                <a:r>
                  <a:rPr lang="en-US" altLang="en-US" sz="900" b="1" dirty="0"/>
                  <a:t>Count</a:t>
                </a:r>
                <a:r>
                  <a:rPr lang="en-US" altLang="en-US" sz="900" dirty="0"/>
                  <a:t>.  It cannot access </a:t>
                </a:r>
                <a:r>
                  <a:rPr lang="en-US" altLang="en-US" sz="900" b="1" dirty="0">
                    <a:latin typeface="Courier New" panose="02070309020205020404" pitchFamily="49" charset="0"/>
                  </a:rPr>
                  <a:t>private</a:t>
                </a:r>
                <a:r>
                  <a:rPr lang="en-US" altLang="en-US" sz="900" b="1" dirty="0"/>
                  <a:t> </a:t>
                </a:r>
                <a:r>
                  <a:rPr lang="en-US" altLang="en-US" sz="900" dirty="0"/>
                  <a:t>data.</a:t>
                </a:r>
                <a:endParaRPr lang="en-US" altLang="en-US" sz="900" b="1" dirty="0"/>
              </a:p>
            </p:txBody>
          </p:sp>
          <p:sp>
            <p:nvSpPr>
              <p:cNvPr id="100" name="Line 101">
                <a:extLst>
                  <a:ext uri="{FF2B5EF4-FFF2-40B4-BE49-F238E27FC236}">
                    <a16:creationId xmlns:a16="http://schemas.microsoft.com/office/drawing/2014/main" id="{5A16529F-1654-9901-62D6-05B9E0C7E9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60" y="1056"/>
                <a:ext cx="1056" cy="1584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anchor="ctr">
                <a:spAutoFit/>
              </a:bodyPr>
              <a:lstStyle/>
              <a:p>
                <a:pPr>
                  <a:defRPr/>
                </a:pPr>
                <a:endParaRPr lang="en-US"/>
              </a:p>
            </p:txBody>
          </p:sp>
        </p:grpSp>
        <p:grpSp>
          <p:nvGrpSpPr>
            <p:cNvPr id="101" name="Group 105">
              <a:extLst>
                <a:ext uri="{FF2B5EF4-FFF2-40B4-BE49-F238E27FC236}">
                  <a16:creationId xmlns:a16="http://schemas.microsoft.com/office/drawing/2014/main" id="{A33B66EE-E81A-811B-0FE4-E6A2CC7A4C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90600" y="3381375"/>
              <a:ext cx="5486400" cy="2819400"/>
              <a:chOff x="624" y="2112"/>
              <a:chExt cx="3456" cy="1776"/>
            </a:xfrm>
            <a:solidFill>
              <a:schemeClr val="bg1">
                <a:lumMod val="85000"/>
              </a:schemeClr>
            </a:solidFill>
          </p:grpSpPr>
          <p:sp>
            <p:nvSpPr>
              <p:cNvPr id="102" name="Text Box 99">
                <a:extLst>
                  <a:ext uri="{FF2B5EF4-FFF2-40B4-BE49-F238E27FC236}">
                    <a16:creationId xmlns:a16="http://schemas.microsoft.com/office/drawing/2014/main" id="{900BA5B0-37FC-D9EB-7CE7-CA97A4C285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96" y="3264"/>
                <a:ext cx="1584" cy="310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r>
                  <a:rPr lang="en-US" altLang="en-US" sz="900" b="1" dirty="0" err="1">
                    <a:latin typeface="Courier New" panose="02070309020205020404" pitchFamily="49" charset="0"/>
                  </a:rPr>
                  <a:t>cannotSetA</a:t>
                </a:r>
                <a:r>
                  <a:rPr lang="en-US" altLang="en-US" sz="900" dirty="0"/>
                  <a:t> tries to modify a </a:t>
                </a:r>
                <a:r>
                  <a:rPr lang="en-US" altLang="en-US" sz="900" b="1" dirty="0">
                    <a:latin typeface="Courier New" panose="02070309020205020404" pitchFamily="49" charset="0"/>
                  </a:rPr>
                  <a:t>private</a:t>
                </a:r>
                <a:r>
                  <a:rPr lang="en-US" altLang="en-US" sz="900" dirty="0"/>
                  <a:t> variable…</a:t>
                </a:r>
              </a:p>
            </p:txBody>
          </p:sp>
          <p:sp>
            <p:nvSpPr>
              <p:cNvPr id="103" name="Line 102">
                <a:extLst>
                  <a:ext uri="{FF2B5EF4-FFF2-40B4-BE49-F238E27FC236}">
                    <a16:creationId xmlns:a16="http://schemas.microsoft.com/office/drawing/2014/main" id="{7762105F-3B7C-E624-56D7-3DC6120C2B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40" y="3504"/>
                <a:ext cx="1056" cy="384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anchor="ctr">
                <a:spAutoFit/>
              </a:bodyPr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04" name="Line 103">
                <a:extLst>
                  <a:ext uri="{FF2B5EF4-FFF2-40B4-BE49-F238E27FC236}">
                    <a16:creationId xmlns:a16="http://schemas.microsoft.com/office/drawing/2014/main" id="{8E182E7E-C009-05EB-7BF5-E09F99D28C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64" y="3120"/>
                <a:ext cx="1632" cy="384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anchor="ctr">
                <a:spAutoFit/>
              </a:bodyPr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05" name="Line 104">
                <a:extLst>
                  <a:ext uri="{FF2B5EF4-FFF2-40B4-BE49-F238E27FC236}">
                    <a16:creationId xmlns:a16="http://schemas.microsoft.com/office/drawing/2014/main" id="{91BBE0E9-E8F1-3E8D-9BCB-569EC6E85F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24" y="2112"/>
                <a:ext cx="1872" cy="1392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anchor="ctr">
                <a:spAutoFit/>
              </a:bodyPr>
              <a:lstStyle/>
              <a:p>
                <a:pPr>
                  <a:defRPr/>
                </a:pPr>
                <a:endParaRPr lang="en-US"/>
              </a:p>
            </p:txBody>
          </p:sp>
        </p:grpSp>
      </p:grpSp>
      <p:sp>
        <p:nvSpPr>
          <p:cNvPr id="103426" name="Slide Number Placeholder 2">
            <a:extLst>
              <a:ext uri="{FF2B5EF4-FFF2-40B4-BE49-F238E27FC236}">
                <a16:creationId xmlns:a16="http://schemas.microsoft.com/office/drawing/2014/main" id="{42CB5315-C92D-C8C1-A138-CBCBCA56F198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F390BF50-7663-C040-A1D3-37330677E122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Slide Number Placeholder 2">
            <a:extLst>
              <a:ext uri="{FF2B5EF4-FFF2-40B4-BE49-F238E27FC236}">
                <a16:creationId xmlns:a16="http://schemas.microsoft.com/office/drawing/2014/main" id="{1F3A9A64-FDC7-22D3-9067-2E0697989899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07C4E00B-60A4-BA4B-90CF-C8F080423947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FD383B-13E4-9890-5BA0-09813439EE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1828800"/>
            <a:ext cx="5200650" cy="17541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>
            <a:lvl1pPr eaLnBrk="0" hangingPunct="0"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85800" eaLnBrk="1" hangingPunct="1">
              <a:tabLst>
                <a:tab pos="45720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</a:tabLst>
              <a:defRPr/>
            </a:pPr>
            <a:r>
              <a:rPr lang="en-US" altLang="en-US" sz="900" b="1" kern="0" dirty="0">
                <a:solidFill>
                  <a:srgbClr val="000000"/>
                </a:solidFill>
                <a:latin typeface="Courier New" panose="02070309020205020404" pitchFamily="49" charset="0"/>
              </a:rPr>
              <a:t> </a:t>
            </a:r>
          </a:p>
          <a:p>
            <a:pPr defTabSz="685800" eaLnBrk="1" hangingPunct="1">
              <a:tabLst>
                <a:tab pos="45720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</a:tabLst>
              <a:defRPr/>
            </a:pPr>
            <a:r>
              <a:rPr lang="en-US" altLang="en-US" sz="900" b="1" kern="0" dirty="0">
                <a:solidFill>
                  <a:srgbClr val="000000"/>
                </a:solidFill>
                <a:latin typeface="Courier New" panose="02070309020205020404" pitchFamily="49" charset="0"/>
              </a:rPr>
              <a:t>Compiling...</a:t>
            </a:r>
          </a:p>
          <a:p>
            <a:pPr defTabSz="685800" eaLnBrk="1" hangingPunct="1">
              <a:tabLst>
                <a:tab pos="45720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</a:tabLst>
              <a:defRPr/>
            </a:pPr>
            <a:r>
              <a:rPr lang="en-US" altLang="en-US" sz="900" b="1" kern="0" dirty="0">
                <a:solidFill>
                  <a:srgbClr val="000000"/>
                </a:solidFill>
                <a:latin typeface="Courier New" panose="02070309020205020404" pitchFamily="49" charset="0"/>
              </a:rPr>
              <a:t>Fig07_06.cpp</a:t>
            </a:r>
          </a:p>
          <a:p>
            <a:pPr defTabSz="685800" eaLnBrk="1" hangingPunct="1">
              <a:tabLst>
                <a:tab pos="45720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</a:tabLst>
              <a:defRPr/>
            </a:pPr>
            <a:r>
              <a:rPr lang="en-US" altLang="en-US" sz="900" b="1" kern="0" dirty="0">
                <a:solidFill>
                  <a:srgbClr val="000000"/>
                </a:solidFill>
                <a:latin typeface="Courier New" panose="02070309020205020404" pitchFamily="49" charset="0"/>
              </a:rPr>
              <a:t>D:\books\2000\cpphtp3\examples\Ch07\Fig07_06\Fig07_06.cpp(22) : </a:t>
            </a:r>
          </a:p>
          <a:p>
            <a:pPr defTabSz="685800" eaLnBrk="1" hangingPunct="1">
              <a:tabLst>
                <a:tab pos="45720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</a:tabLst>
              <a:defRPr/>
            </a:pPr>
            <a:r>
              <a:rPr lang="en-US" altLang="en-US" sz="900" b="1" kern="0" dirty="0">
                <a:solidFill>
                  <a:srgbClr val="FF0000"/>
                </a:solidFill>
                <a:latin typeface="Courier New" panose="02070309020205020404" pitchFamily="49" charset="0"/>
              </a:rPr>
              <a:t>   error C2248: 'x' : cannot access private member declared in </a:t>
            </a:r>
          </a:p>
          <a:p>
            <a:pPr defTabSz="685800" eaLnBrk="1" hangingPunct="1">
              <a:tabLst>
                <a:tab pos="45720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</a:tabLst>
              <a:defRPr/>
            </a:pPr>
            <a:r>
              <a:rPr lang="en-US" altLang="en-US" sz="900" b="1" kern="0" dirty="0">
                <a:solidFill>
                  <a:srgbClr val="FF0000"/>
                </a:solidFill>
                <a:latin typeface="Courier New" panose="02070309020205020404" pitchFamily="49" charset="0"/>
              </a:rPr>
              <a:t>   class 'Count'</a:t>
            </a:r>
          </a:p>
          <a:p>
            <a:pPr defTabSz="685800" eaLnBrk="1" hangingPunct="1">
              <a:tabLst>
                <a:tab pos="45720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</a:tabLst>
              <a:defRPr/>
            </a:pPr>
            <a:r>
              <a:rPr lang="en-US" altLang="en-US" sz="900" b="1" kern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D:\books\2000\cpphtp3\examples\Ch07\Fig07_06\</a:t>
            </a:r>
          </a:p>
          <a:p>
            <a:pPr defTabSz="685800" eaLnBrk="1" hangingPunct="1">
              <a:tabLst>
                <a:tab pos="45720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</a:tabLst>
              <a:defRPr/>
            </a:pPr>
            <a:r>
              <a:rPr lang="en-US" altLang="en-US" sz="900" b="1" kern="0" dirty="0">
                <a:solidFill>
                  <a:srgbClr val="000000"/>
                </a:solidFill>
                <a:latin typeface="Courier New" panose="02070309020205020404" pitchFamily="49" charset="0"/>
              </a:rPr>
              <a:t>        Fig07_06.cpp(15) : see declaration of 'x'</a:t>
            </a:r>
          </a:p>
          <a:p>
            <a:pPr defTabSz="685800" eaLnBrk="1" hangingPunct="1">
              <a:tabLst>
                <a:tab pos="45720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</a:tabLst>
              <a:defRPr/>
            </a:pPr>
            <a:r>
              <a:rPr lang="en-US" altLang="en-US" sz="900" b="1" kern="0" dirty="0">
                <a:solidFill>
                  <a:srgbClr val="000000"/>
                </a:solidFill>
                <a:latin typeface="Courier New" panose="02070309020205020404" pitchFamily="49" charset="0"/>
              </a:rPr>
              <a:t>Error executing cl.exe.</a:t>
            </a:r>
          </a:p>
          <a:p>
            <a:pPr defTabSz="685800" eaLnBrk="1" hangingPunct="1">
              <a:tabLst>
                <a:tab pos="45720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</a:tabLst>
              <a:defRPr/>
            </a:pPr>
            <a:r>
              <a:rPr lang="en-US" altLang="en-US" sz="900" b="1" kern="0" dirty="0">
                <a:solidFill>
                  <a:srgbClr val="000000"/>
                </a:solidFill>
                <a:latin typeface="Courier New" panose="02070309020205020404" pitchFamily="49" charset="0"/>
              </a:rPr>
              <a:t> </a:t>
            </a:r>
          </a:p>
          <a:p>
            <a:pPr defTabSz="685800" eaLnBrk="1" hangingPunct="1">
              <a:tabLst>
                <a:tab pos="45720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</a:tabLst>
              <a:defRPr/>
            </a:pPr>
            <a:r>
              <a:rPr lang="en-US" altLang="en-US" sz="900" b="1" kern="0" dirty="0">
                <a:solidFill>
                  <a:srgbClr val="000000"/>
                </a:solidFill>
                <a:latin typeface="Courier New" panose="02070309020205020404" pitchFamily="49" charset="0"/>
              </a:rPr>
              <a:t>test.exe - 1 error(s), 0 warning(s)</a:t>
            </a:r>
          </a:p>
          <a:p>
            <a:pPr defTabSz="685800" eaLnBrk="1" hangingPunct="1">
              <a:tabLst>
                <a:tab pos="45720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</a:tabLst>
              <a:defRPr/>
            </a:pPr>
            <a:endParaRPr lang="en-US" altLang="en-US" sz="900" b="1" kern="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grpSp>
        <p:nvGrpSpPr>
          <p:cNvPr id="5" name="Group 7">
            <a:extLst>
              <a:ext uri="{FF2B5EF4-FFF2-40B4-BE49-F238E27FC236}">
                <a16:creationId xmlns:a16="http://schemas.microsoft.com/office/drawing/2014/main" id="{A3CC0D07-6BE7-9ACC-8D8D-A9D5CB60C360}"/>
              </a:ext>
            </a:extLst>
          </p:cNvPr>
          <p:cNvGrpSpPr>
            <a:grpSpLocks/>
          </p:cNvGrpSpPr>
          <p:nvPr/>
        </p:nvGrpSpPr>
        <p:grpSpPr bwMode="auto">
          <a:xfrm>
            <a:off x="4142678" y="2902105"/>
            <a:ext cx="2914650" cy="1283494"/>
            <a:chOff x="1488" y="624"/>
            <a:chExt cx="2448" cy="1078"/>
          </a:xfrm>
          <a:solidFill>
            <a:schemeClr val="bg1">
              <a:lumMod val="75000"/>
            </a:schemeClr>
          </a:solidFill>
        </p:grpSpPr>
        <p:sp>
          <p:nvSpPr>
            <p:cNvPr id="6" name="Text Box 5">
              <a:extLst>
                <a:ext uri="{FF2B5EF4-FFF2-40B4-BE49-F238E27FC236}">
                  <a16:creationId xmlns:a16="http://schemas.microsoft.com/office/drawing/2014/main" id="{04A687E7-A3D5-C9F7-2629-443E21EF54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1392"/>
              <a:ext cx="1920" cy="310"/>
            </a:xfrm>
            <a:prstGeom prst="rect">
              <a:avLst/>
            </a:prstGeom>
            <a:grp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685800" eaLnBrk="1" hangingPunct="1">
                <a:defRPr/>
              </a:pPr>
              <a:r>
                <a:rPr lang="en-US" altLang="en-US" sz="900" kern="0" dirty="0">
                  <a:solidFill>
                    <a:srgbClr val="000000"/>
                  </a:solidFill>
                </a:rPr>
                <a:t>Expected compiler error - cannot access</a:t>
              </a:r>
              <a:r>
                <a:rPr lang="en-US" altLang="en-US" sz="900" b="1" kern="0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 private </a:t>
              </a:r>
              <a:r>
                <a:rPr lang="en-US" altLang="en-US" sz="900" kern="0" dirty="0">
                  <a:solidFill>
                    <a:srgbClr val="000000"/>
                  </a:solidFill>
                </a:rPr>
                <a:t>data</a:t>
              </a:r>
            </a:p>
          </p:txBody>
        </p:sp>
        <p:sp>
          <p:nvSpPr>
            <p:cNvPr id="7" name="Line 6">
              <a:extLst>
                <a:ext uri="{FF2B5EF4-FFF2-40B4-BE49-F238E27FC236}">
                  <a16:creationId xmlns:a16="http://schemas.microsoft.com/office/drawing/2014/main" id="{C4E5DDE6-FA2D-D55A-E1DB-21F0B6C74F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488" y="624"/>
              <a:ext cx="528" cy="1008"/>
            </a:xfrm>
            <a:prstGeom prst="line">
              <a:avLst/>
            </a:prstGeom>
            <a:grp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pPr defTabSz="685800" eaLnBrk="1" hangingPunct="1">
                <a:defRPr/>
              </a:pPr>
              <a:endParaRPr lang="en-US" sz="1350" kern="0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8029-BE8F-A06E-4E11-2AD7A4B06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i="1" dirty="0">
                <a:solidFill>
                  <a:srgbClr val="FF0000"/>
                </a:solidFill>
                <a:ea typeface="+mn-ea"/>
                <a:cs typeface="+mn-cs"/>
              </a:rPr>
              <a:t>friend</a:t>
            </a:r>
            <a:r>
              <a:rPr lang="en-US" altLang="en-US" dirty="0"/>
              <a:t> Functions and </a:t>
            </a:r>
            <a:r>
              <a:rPr lang="en-US" altLang="en-US" i="1" dirty="0">
                <a:solidFill>
                  <a:srgbClr val="FF0000"/>
                </a:solidFill>
                <a:ea typeface="+mn-ea"/>
                <a:cs typeface="+mn-cs"/>
              </a:rPr>
              <a:t>friend</a:t>
            </a:r>
            <a:r>
              <a:rPr lang="en-US" altLang="en-US" dirty="0"/>
              <a:t> Classes</a:t>
            </a:r>
            <a:endParaRPr lang="en-PK" dirty="0"/>
          </a:p>
        </p:txBody>
      </p:sp>
      <p:sp>
        <p:nvSpPr>
          <p:cNvPr id="105474" name="Content Placeholder 2">
            <a:extLst>
              <a:ext uri="{FF2B5EF4-FFF2-40B4-BE49-F238E27FC236}">
                <a16:creationId xmlns:a16="http://schemas.microsoft.com/office/drawing/2014/main" id="{18F97998-B115-AD76-0412-0D70F504AE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295400"/>
            <a:ext cx="8839200" cy="5105400"/>
          </a:xfrm>
        </p:spPr>
        <p:txBody>
          <a:bodyPr/>
          <a:lstStyle/>
          <a:p>
            <a:r>
              <a:rPr lang="en-US" altLang="en-US"/>
              <a:t>Friends should be used only for </a:t>
            </a:r>
            <a:r>
              <a:rPr lang="en-US" altLang="en-US">
                <a:solidFill>
                  <a:srgbClr val="0070C0"/>
                </a:solidFill>
              </a:rPr>
              <a:t>limited purpose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Too many functions declared as friends with private data access, </a:t>
            </a:r>
            <a:r>
              <a:rPr lang="en-US" altLang="en-US">
                <a:solidFill>
                  <a:srgbClr val="0070C0"/>
                </a:solidFill>
              </a:rPr>
              <a:t>lessens the value of encapsulation</a:t>
            </a:r>
          </a:p>
          <a:p>
            <a:endParaRPr lang="en-US" altLang="en-US"/>
          </a:p>
          <a:p>
            <a:endParaRPr lang="en-US" altLang="en-US"/>
          </a:p>
          <a:p>
            <a:r>
              <a:rPr lang="en-US" altLang="en-US" b="1">
                <a:solidFill>
                  <a:srgbClr val="0070C0"/>
                </a:solidFill>
              </a:rPr>
              <a:t>Encapsulation</a:t>
            </a:r>
            <a:r>
              <a:rPr lang="en-US" altLang="en-US"/>
              <a:t> in OOP is about </a:t>
            </a:r>
            <a:r>
              <a:rPr lang="en-US" altLang="en-US" b="1"/>
              <a:t>hiding the complex details</a:t>
            </a:r>
            <a:r>
              <a:rPr lang="en-US" altLang="en-US"/>
              <a:t> of an object’s internal workings and </a:t>
            </a:r>
            <a:r>
              <a:rPr lang="en-US" altLang="en-US" b="1"/>
              <a:t>providing a simple interface</a:t>
            </a:r>
            <a:r>
              <a:rPr lang="en-US" altLang="en-US"/>
              <a:t> to interact with it</a:t>
            </a:r>
          </a:p>
        </p:txBody>
      </p:sp>
      <p:sp>
        <p:nvSpPr>
          <p:cNvPr id="105475" name="Slide Number Placeholder 4">
            <a:extLst>
              <a:ext uri="{FF2B5EF4-FFF2-40B4-BE49-F238E27FC236}">
                <a16:creationId xmlns:a16="http://schemas.microsoft.com/office/drawing/2014/main" id="{6D8BA77B-A815-0E60-9DF2-2520CF472090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1BF2E40E-1A11-D649-BCE6-A1CA4D222E45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Content Placeholder 2">
            <a:extLst>
              <a:ext uri="{FF2B5EF4-FFF2-40B4-BE49-F238E27FC236}">
                <a16:creationId xmlns:a16="http://schemas.microsoft.com/office/drawing/2014/main" id="{0987F601-43CE-4F9C-7D86-4CCC03023A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990600"/>
            <a:ext cx="8686800" cy="457200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#include &lt;iostream&gt;</a:t>
            </a:r>
          </a:p>
          <a:p>
            <a:pPr marL="0" indent="0">
              <a:buFontTx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using namespace std;</a:t>
            </a:r>
          </a:p>
          <a:p>
            <a:pPr marL="0" indent="0">
              <a:buFontTx/>
              <a:buNone/>
            </a:pPr>
            <a:endParaRPr lang="en-US" altLang="en-US" sz="1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class BankAccount {</a:t>
            </a:r>
          </a:p>
          <a:p>
            <a:pPr marL="0" indent="0">
              <a:buFontTx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private:</a:t>
            </a:r>
          </a:p>
          <a:p>
            <a:pPr marL="0" indent="0">
              <a:buFontTx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double balance;  // Private data member (encapsulated)</a:t>
            </a:r>
          </a:p>
          <a:p>
            <a:pPr marL="0" indent="0">
              <a:buFontTx/>
              <a:buNone/>
            </a:pPr>
            <a:endParaRPr lang="en-US" altLang="en-US" sz="1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public:</a:t>
            </a:r>
          </a:p>
          <a:p>
            <a:pPr marL="0" indent="0">
              <a:buFontTx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// Constructor to initialize account balance</a:t>
            </a:r>
          </a:p>
          <a:p>
            <a:pPr marL="0" indent="0">
              <a:buFontTx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BankAccount(double initial_balance) : balance(initial_balance) {}</a:t>
            </a:r>
          </a:p>
          <a:p>
            <a:pPr marL="0" indent="0">
              <a:buFontTx/>
              <a:buNone/>
            </a:pPr>
            <a:endParaRPr lang="en-US" altLang="en-US" sz="1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// Getter function: Access balance (read-only)</a:t>
            </a:r>
          </a:p>
          <a:p>
            <a:pPr marL="0" indent="0">
              <a:buFontTx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double getBalance() const {</a:t>
            </a:r>
          </a:p>
          <a:p>
            <a:pPr marL="0" indent="0">
              <a:buFontTx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return balance;</a:t>
            </a:r>
          </a:p>
          <a:p>
            <a:pPr marL="0" indent="0">
              <a:buFontTx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FontTx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</p:txBody>
      </p:sp>
      <p:sp>
        <p:nvSpPr>
          <p:cNvPr id="106498" name="Slide Number Placeholder 4">
            <a:extLst>
              <a:ext uri="{FF2B5EF4-FFF2-40B4-BE49-F238E27FC236}">
                <a16:creationId xmlns:a16="http://schemas.microsoft.com/office/drawing/2014/main" id="{3ACE3F02-7DD8-B115-802C-37A6047A466C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1B9466C6-708C-0348-8B05-ABC7D7C0862C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Content Placeholder 2">
            <a:extLst>
              <a:ext uri="{FF2B5EF4-FFF2-40B4-BE49-F238E27FC236}">
                <a16:creationId xmlns:a16="http://schemas.microsoft.com/office/drawing/2014/main" id="{55B5A00F-B2AF-97FF-FA43-5DED4C5BE0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381000"/>
            <a:ext cx="8839200" cy="579120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// Setter function: Deposit money into the account (write-only)</a:t>
            </a:r>
          </a:p>
          <a:p>
            <a:pPr marL="0" indent="0">
              <a:buFontTx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void deposit(double amount) {</a:t>
            </a:r>
          </a:p>
          <a:p>
            <a:pPr marL="0" indent="0">
              <a:buFontTx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if (amount &gt; 0) {</a:t>
            </a:r>
          </a:p>
          <a:p>
            <a:pPr marL="0" indent="0">
              <a:buFontTx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    balance += amount;</a:t>
            </a:r>
          </a:p>
          <a:p>
            <a:pPr marL="0" indent="0">
              <a:buFontTx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    cout &lt;&lt; "Deposited: $" &lt;&lt; amount &lt;&lt; endl;</a:t>
            </a:r>
          </a:p>
          <a:p>
            <a:pPr marL="0" indent="0">
              <a:buFontTx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} else {</a:t>
            </a:r>
          </a:p>
          <a:p>
            <a:pPr marL="0" indent="0">
              <a:buFontTx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    cout &lt;&lt; "Invalid deposit amount!" &lt;&lt; endl;</a:t>
            </a:r>
          </a:p>
          <a:p>
            <a:pPr marL="0" indent="0">
              <a:buFontTx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 marL="0" indent="0">
              <a:buFontTx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FontTx/>
              <a:buNone/>
            </a:pPr>
            <a:endParaRPr lang="en-US" altLang="en-US" sz="1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// Setter function: Withdraw money (write-only with validation)</a:t>
            </a:r>
          </a:p>
          <a:p>
            <a:pPr marL="0" indent="0">
              <a:buFontTx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void withdraw(double amount) {</a:t>
            </a:r>
          </a:p>
          <a:p>
            <a:pPr marL="0" indent="0">
              <a:buFontTx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if (amount &gt; 0 &amp;&amp; amount &lt;= balance) {</a:t>
            </a:r>
          </a:p>
          <a:p>
            <a:pPr marL="0" indent="0">
              <a:buFontTx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    balance -= amount;</a:t>
            </a:r>
          </a:p>
          <a:p>
            <a:pPr marL="0" indent="0">
              <a:buFontTx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    cout &lt;&lt; "Withdrew: $" &lt;&lt; amount &lt;&lt; endl;</a:t>
            </a:r>
          </a:p>
          <a:p>
            <a:pPr marL="0" indent="0">
              <a:buFontTx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} else {</a:t>
            </a:r>
          </a:p>
          <a:p>
            <a:pPr marL="0" indent="0">
              <a:buFontTx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    cout &lt;&lt; "Insufficient funds or invalid withdrawal amount!" &lt;&lt; endl;</a:t>
            </a:r>
          </a:p>
          <a:p>
            <a:pPr marL="0" indent="0">
              <a:buFontTx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 marL="0" indent="0">
              <a:buFontTx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FontTx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 marL="0" indent="0">
              <a:buFontTx/>
              <a:buNone/>
            </a:pPr>
            <a:endParaRPr lang="en-US" altLang="en-US" sz="14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7522" name="Slide Number Placeholder 4">
            <a:extLst>
              <a:ext uri="{FF2B5EF4-FFF2-40B4-BE49-F238E27FC236}">
                <a16:creationId xmlns:a16="http://schemas.microsoft.com/office/drawing/2014/main" id="{41AE9358-2E66-5B8B-8FDD-15CB1DC8C98D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AA6847EC-1E7E-FD4B-96AE-B3E5566388D6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Content Placeholder 2">
            <a:extLst>
              <a:ext uri="{FF2B5EF4-FFF2-40B4-BE49-F238E27FC236}">
                <a16:creationId xmlns:a16="http://schemas.microsoft.com/office/drawing/2014/main" id="{45BD105E-6B9D-94D0-A271-62DA098976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381000"/>
            <a:ext cx="8839200" cy="5791200"/>
          </a:xfrm>
        </p:spPr>
        <p:txBody>
          <a:bodyPr/>
          <a:lstStyle/>
          <a:p>
            <a:pPr marL="0" indent="0">
              <a:buFontTx/>
              <a:buNone/>
            </a:pPr>
            <a:endParaRPr lang="en-US" altLang="en-US" sz="1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int main() {</a:t>
            </a:r>
          </a:p>
          <a:p>
            <a:pPr marL="0" indent="0">
              <a:buFontTx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BankAccount account(1000);  // Create an account with an initial balance of $1000</a:t>
            </a:r>
          </a:p>
          <a:p>
            <a:pPr marL="0" indent="0">
              <a:buFontTx/>
              <a:buNone/>
            </a:pPr>
            <a:endParaRPr lang="en-US" altLang="en-US" sz="1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cout &lt;&lt; "Initial Balance: $" &lt;&lt; account.getBalance() &lt;&lt; endl;</a:t>
            </a:r>
          </a:p>
          <a:p>
            <a:pPr marL="0" indent="0">
              <a:buFontTx/>
              <a:buNone/>
            </a:pPr>
            <a:endParaRPr lang="en-US" altLang="en-US" sz="1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account.deposit(200);  // Deposit $200 into the account</a:t>
            </a:r>
          </a:p>
          <a:p>
            <a:pPr marL="0" indent="0">
              <a:buFontTx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cout &lt;&lt; "Balance after deposit: $" &lt;&lt; account.getBalance() &lt;&lt; endl;</a:t>
            </a:r>
          </a:p>
          <a:p>
            <a:pPr marL="0" indent="0">
              <a:buFontTx/>
              <a:buNone/>
            </a:pPr>
            <a:endParaRPr lang="en-US" altLang="en-US" sz="1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account.withdraw(500);  // Withdraw $500</a:t>
            </a:r>
          </a:p>
          <a:p>
            <a:pPr marL="0" indent="0">
              <a:buFontTx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cout &lt;&lt; "Balance after withdrawal: $" &lt;&lt; account.getBalance() &lt;&lt; endl;</a:t>
            </a:r>
          </a:p>
          <a:p>
            <a:pPr marL="0" indent="0">
              <a:buFontTx/>
              <a:buNone/>
            </a:pPr>
            <a:endParaRPr lang="en-US" altLang="en-US" sz="1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account.withdraw(800);  // Attempt to withdraw more than the balance</a:t>
            </a:r>
          </a:p>
          <a:p>
            <a:pPr marL="0" indent="0">
              <a:buFontTx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cout &lt;&lt; "Final Balance: $" &lt;&lt; account.getBalance() &lt;&lt; endl;</a:t>
            </a:r>
          </a:p>
          <a:p>
            <a:pPr marL="0" indent="0">
              <a:buFontTx/>
              <a:buNone/>
            </a:pPr>
            <a:endParaRPr lang="en-US" altLang="en-US" sz="1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return 0;</a:t>
            </a:r>
          </a:p>
          <a:p>
            <a:pPr marL="0" indent="0">
              <a:buFontTx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FontTx/>
              <a:buNone/>
            </a:pPr>
            <a:endParaRPr lang="en-US" altLang="en-US" sz="14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8546" name="Slide Number Placeholder 4">
            <a:extLst>
              <a:ext uri="{FF2B5EF4-FFF2-40B4-BE49-F238E27FC236}">
                <a16:creationId xmlns:a16="http://schemas.microsoft.com/office/drawing/2014/main" id="{3168DAD9-7199-1612-68FC-B6C52BE44ACF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4ECDEB1F-1C69-364D-93D6-D47E19DCFC9F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F1F7F602-3C23-A661-8F40-55DBA4FE9B1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Inheritance-I</a:t>
            </a:r>
            <a:endParaRPr lang="en-US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6000801D-6C63-781F-BBC5-D72EAEDBCC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What Is Inheritance?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F2448-6828-8495-8859-C38969620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95400"/>
            <a:ext cx="8839200" cy="5105400"/>
          </a:xfrm>
        </p:spPr>
        <p:txBody>
          <a:bodyPr>
            <a:normAutofit/>
          </a:bodyPr>
          <a:lstStyle/>
          <a:p>
            <a:pPr algn="just">
              <a:defRPr/>
            </a:pPr>
            <a:r>
              <a:rPr lang="en-US" altLang="en-PK" dirty="0"/>
              <a:t>One of the most powerful features of OOP</a:t>
            </a:r>
          </a:p>
          <a:p>
            <a:pPr algn="just">
              <a:defRPr/>
            </a:pPr>
            <a:endParaRPr lang="en-US" altLang="en-PK" dirty="0"/>
          </a:p>
          <a:p>
            <a:pPr algn="just">
              <a:defRPr/>
            </a:pPr>
            <a:r>
              <a:rPr lang="en-US" altLang="en-PK" dirty="0"/>
              <a:t>Provides a way to create a </a:t>
            </a:r>
            <a:r>
              <a:rPr lang="en-US" altLang="en-PK" dirty="0">
                <a:solidFill>
                  <a:srgbClr val="0070C0"/>
                </a:solidFill>
              </a:rPr>
              <a:t>new class </a:t>
            </a:r>
            <a:r>
              <a:rPr lang="en-US" altLang="en-PK" dirty="0"/>
              <a:t>from an </a:t>
            </a:r>
            <a:r>
              <a:rPr lang="en-US" altLang="en-PK" dirty="0">
                <a:solidFill>
                  <a:srgbClr val="0070C0"/>
                </a:solidFill>
              </a:rPr>
              <a:t>existing class</a:t>
            </a:r>
          </a:p>
          <a:p>
            <a:pPr algn="just">
              <a:defRPr/>
            </a:pPr>
            <a:endParaRPr lang="en-US" altLang="en-PK" dirty="0">
              <a:solidFill>
                <a:srgbClr val="0070C0"/>
              </a:solidFill>
            </a:endParaRPr>
          </a:p>
          <a:p>
            <a:pPr algn="just">
              <a:defRPr/>
            </a:pPr>
            <a:r>
              <a:rPr lang="en-US" dirty="0"/>
              <a:t>The new class </a:t>
            </a:r>
            <a:r>
              <a:rPr lang="en-US" dirty="0">
                <a:solidFill>
                  <a:srgbClr val="0070C0"/>
                </a:solidFill>
              </a:rPr>
              <a:t>inherits all the capabilities </a:t>
            </a:r>
            <a:r>
              <a:rPr lang="en-US" dirty="0"/>
              <a:t>of the existing class and can also </a:t>
            </a:r>
            <a:r>
              <a:rPr lang="en-US" dirty="0">
                <a:solidFill>
                  <a:srgbClr val="0070C0"/>
                </a:solidFill>
              </a:rPr>
              <a:t>add capabilities of its own</a:t>
            </a:r>
            <a:r>
              <a:rPr lang="en-US" dirty="0"/>
              <a:t>. </a:t>
            </a:r>
          </a:p>
          <a:p>
            <a:pPr algn="just">
              <a:defRPr/>
            </a:pPr>
            <a:endParaRPr lang="en-US" dirty="0"/>
          </a:p>
          <a:p>
            <a:pPr algn="just">
              <a:defRPr/>
            </a:pPr>
            <a:r>
              <a:rPr lang="en-US" dirty="0"/>
              <a:t>The base class is </a:t>
            </a:r>
            <a:r>
              <a:rPr lang="en-US" dirty="0">
                <a:solidFill>
                  <a:srgbClr val="0070C0"/>
                </a:solidFill>
              </a:rPr>
              <a:t>unchanged </a:t>
            </a:r>
            <a:r>
              <a:rPr lang="en-US" dirty="0"/>
              <a:t>by this process.</a:t>
            </a:r>
          </a:p>
          <a:p>
            <a:pPr marL="0" indent="0" algn="just">
              <a:buFontTx/>
              <a:buNone/>
              <a:defRPr/>
            </a:pPr>
            <a:endParaRPr lang="en-US" altLang="en-PK" dirty="0">
              <a:solidFill>
                <a:srgbClr val="0070C0"/>
              </a:solidFill>
            </a:endParaRPr>
          </a:p>
          <a:p>
            <a:pPr algn="just">
              <a:defRPr/>
            </a:pPr>
            <a:r>
              <a:rPr lang="en-US" altLang="en-PK" dirty="0"/>
              <a:t>The new class is a </a:t>
            </a:r>
            <a:r>
              <a:rPr lang="en-US" altLang="en-PK" b="1" i="1" dirty="0">
                <a:solidFill>
                  <a:srgbClr val="FF0000"/>
                </a:solidFill>
              </a:rPr>
              <a:t>specialized version</a:t>
            </a:r>
            <a:r>
              <a:rPr lang="en-US" altLang="en-PK" dirty="0"/>
              <a:t> of the existing class</a:t>
            </a:r>
          </a:p>
        </p:txBody>
      </p:sp>
      <p:sp>
        <p:nvSpPr>
          <p:cNvPr id="6149" name="Slide Number Placeholder 4">
            <a:extLst>
              <a:ext uri="{FF2B5EF4-FFF2-40B4-BE49-F238E27FC236}">
                <a16:creationId xmlns:a16="http://schemas.microsoft.com/office/drawing/2014/main" id="{5D31166B-ABA0-2D1B-C96A-16D8268AA059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BBB11DB-DF39-C640-8D09-EA64C687C36A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0680927B-F7FD-AB59-FC8F-0A0AF0F6C6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Example: Insects</a:t>
            </a:r>
            <a:endParaRPr lang="en-US" altLang="en-US"/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69E4669B-8B9A-D2C7-6016-C420274CB7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2000" y="1295400"/>
            <a:ext cx="8382000" cy="5105400"/>
          </a:xfrm>
        </p:spPr>
        <p:txBody>
          <a:bodyPr/>
          <a:lstStyle/>
          <a:p>
            <a:r>
              <a:rPr lang="en-US" altLang="en-US" sz="2100"/>
              <a:t>Insect is </a:t>
            </a:r>
            <a:r>
              <a:rPr lang="en-US" altLang="en-US" sz="2100" b="1" i="1">
                <a:solidFill>
                  <a:srgbClr val="0070C0"/>
                </a:solidFill>
              </a:rPr>
              <a:t>generic</a:t>
            </a:r>
          </a:p>
          <a:p>
            <a:r>
              <a:rPr lang="en-US" altLang="en-US" sz="2100"/>
              <a:t>Bee and grasshopper are </a:t>
            </a:r>
            <a:r>
              <a:rPr lang="en-US" altLang="en-US" sz="2100" b="1" i="1">
                <a:solidFill>
                  <a:srgbClr val="0070C0"/>
                </a:solidFill>
              </a:rPr>
              <a:t>specific</a:t>
            </a:r>
          </a:p>
          <a:p>
            <a:endParaRPr lang="en-US" altLang="en-US"/>
          </a:p>
        </p:txBody>
      </p:sp>
      <p:sp>
        <p:nvSpPr>
          <p:cNvPr id="7172" name="Footer Placeholder 3">
            <a:extLst>
              <a:ext uri="{FF2B5EF4-FFF2-40B4-BE49-F238E27FC236}">
                <a16:creationId xmlns:a16="http://schemas.microsoft.com/office/drawing/2014/main" id="{51E8737F-A3FB-BDC6-EBB5-7ED2CE0D2BD3}"/>
              </a:ext>
            </a:extLst>
          </p:cNvPr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Object Oriented Programming-Spring 23</a:t>
            </a:r>
          </a:p>
        </p:txBody>
      </p:sp>
      <p:sp>
        <p:nvSpPr>
          <p:cNvPr id="7173" name="Slide Number Placeholder 4">
            <a:extLst>
              <a:ext uri="{FF2B5EF4-FFF2-40B4-BE49-F238E27FC236}">
                <a16:creationId xmlns:a16="http://schemas.microsoft.com/office/drawing/2014/main" id="{0CB39608-5613-6B58-317B-1CC820202D35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CBBA1F2E-DB1A-1345-9835-D536C5E1B600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7174" name="Picture 3" descr="1501sowc copy">
            <a:extLst>
              <a:ext uri="{FF2B5EF4-FFF2-40B4-BE49-F238E27FC236}">
                <a16:creationId xmlns:a16="http://schemas.microsoft.com/office/drawing/2014/main" id="{20D2892F-1052-23E0-090F-D814A5645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2025" y="2482850"/>
            <a:ext cx="4679950" cy="273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3FC88DE9-C5B6-B7B8-055D-E811E53071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23950" y="381000"/>
            <a:ext cx="6477000" cy="914400"/>
          </a:xfrm>
        </p:spPr>
        <p:txBody>
          <a:bodyPr/>
          <a:lstStyle/>
          <a:p>
            <a:r>
              <a:rPr lang="en-US" altLang="en-US"/>
              <a:t>The “IS - A" Relationship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151498A1-0361-1EB5-A02F-BC8AEBA5DE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85900"/>
            <a:ext cx="3810000" cy="4003675"/>
          </a:xfrm>
        </p:spPr>
        <p:txBody>
          <a:bodyPr/>
          <a:lstStyle/>
          <a:p>
            <a:pPr algn="just"/>
            <a:r>
              <a:rPr lang="en-US" altLang="en-US" sz="1500" dirty="0"/>
              <a:t>Inheritance establishes an “</a:t>
            </a:r>
            <a:r>
              <a:rPr lang="en-US" altLang="en-US" sz="1500" b="1" i="1" dirty="0"/>
              <a:t>IS - A</a:t>
            </a:r>
            <a:r>
              <a:rPr lang="en-US" altLang="en-US" sz="1500" dirty="0"/>
              <a:t>" relationship between classes.</a:t>
            </a:r>
          </a:p>
          <a:p>
            <a:pPr lvl="1" algn="just"/>
            <a:r>
              <a:rPr lang="en-US" altLang="en-US" sz="1500" dirty="0"/>
              <a:t>A poodle is a dog</a:t>
            </a:r>
          </a:p>
          <a:p>
            <a:pPr lvl="1" algn="just"/>
            <a:r>
              <a:rPr lang="en-US" altLang="en-US" sz="1500" dirty="0"/>
              <a:t>A car is a vehicle</a:t>
            </a:r>
          </a:p>
          <a:p>
            <a:pPr lvl="1" algn="just"/>
            <a:r>
              <a:rPr lang="en-US" altLang="en-US" sz="1500" dirty="0"/>
              <a:t>A flower is a plant</a:t>
            </a:r>
          </a:p>
          <a:p>
            <a:pPr lvl="1" algn="just"/>
            <a:r>
              <a:rPr lang="en-US" altLang="en-US" sz="1500" dirty="0"/>
              <a:t>A football player is an athlete</a:t>
            </a:r>
          </a:p>
          <a:p>
            <a:endParaRPr lang="en-US" altLang="en-US" sz="1500" dirty="0"/>
          </a:p>
        </p:txBody>
      </p:sp>
      <p:pic>
        <p:nvPicPr>
          <p:cNvPr id="9220" name="Picture 5" descr="Diagram, engineering drawing&#10;&#10;Description automatically generated">
            <a:extLst>
              <a:ext uri="{FF2B5EF4-FFF2-40B4-BE49-F238E27FC236}">
                <a16:creationId xmlns:a16="http://schemas.microsoft.com/office/drawing/2014/main" id="{16FB2EDF-1E76-C240-AA9D-74808D5220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82" t="4405" r="6165" b="1640"/>
          <a:stretch>
            <a:fillRect/>
          </a:stretch>
        </p:blipFill>
        <p:spPr bwMode="auto">
          <a:xfrm>
            <a:off x="4343400" y="1295400"/>
            <a:ext cx="4718050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D2DC6C-7322-B206-7F3E-D35327EFC9F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PK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450"/>
              </a:spcAft>
              <a:defRPr/>
            </a:pPr>
            <a:fld id="{D0F002ED-9139-4A46-888D-DBF95F709068}" type="slidenum">
              <a:rPr lang="en-US" smtClean="0"/>
              <a:pPr>
                <a:spcAft>
                  <a:spcPts val="450"/>
                </a:spcAft>
                <a:defRPr/>
              </a:pPr>
              <a:t>25</a:t>
            </a:fld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629B4B46-4391-8CF6-ED26-E186FEBD30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Introduction - Inheritance</a:t>
            </a:r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3085CF1B-6C5E-84A9-9EA1-5992174148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686800" cy="5105400"/>
          </a:xfrm>
        </p:spPr>
        <p:txBody>
          <a:bodyPr/>
          <a:lstStyle/>
          <a:p>
            <a:r>
              <a:rPr lang="en-US" altLang="en-US"/>
              <a:t>Existing classes are called </a:t>
            </a:r>
            <a:r>
              <a:rPr lang="en-US" altLang="en-US">
                <a:solidFill>
                  <a:srgbClr val="0070C0"/>
                </a:solidFill>
              </a:rPr>
              <a:t>base classes</a:t>
            </a:r>
          </a:p>
          <a:p>
            <a:endParaRPr lang="en-US" altLang="en-US">
              <a:solidFill>
                <a:srgbClr val="0070C0"/>
              </a:solidFill>
            </a:endParaRPr>
          </a:p>
          <a:p>
            <a:r>
              <a:rPr lang="en-US" altLang="en-US"/>
              <a:t>New classes are called </a:t>
            </a:r>
            <a:r>
              <a:rPr lang="en-US" altLang="en-US">
                <a:solidFill>
                  <a:srgbClr val="0070C0"/>
                </a:solidFill>
              </a:rPr>
              <a:t>derived classes</a:t>
            </a:r>
          </a:p>
          <a:p>
            <a:endParaRPr lang="en-US" altLang="en-US"/>
          </a:p>
        </p:txBody>
      </p:sp>
      <p:sp>
        <p:nvSpPr>
          <p:cNvPr id="10245" name="Slide Number Placeholder 4">
            <a:extLst>
              <a:ext uri="{FF2B5EF4-FFF2-40B4-BE49-F238E27FC236}">
                <a16:creationId xmlns:a16="http://schemas.microsoft.com/office/drawing/2014/main" id="{58C8D361-2D14-9B57-0A15-0D6E5CFB68F3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9C12E7EC-0512-044B-B76A-76AFC4390ED3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10246" name="Picture 5">
            <a:extLst>
              <a:ext uri="{FF2B5EF4-FFF2-40B4-BE49-F238E27FC236}">
                <a16:creationId xmlns:a16="http://schemas.microsoft.com/office/drawing/2014/main" id="{6214D06A-AB65-15EF-6547-D91024A982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300" y="3124200"/>
            <a:ext cx="58674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74D7CD62-43EF-0ACE-671D-95B5996098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Introduction - 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A2FD8-4A68-9458-B94A-394B320CB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295400"/>
            <a:ext cx="8610600" cy="5105400"/>
          </a:xfrm>
        </p:spPr>
        <p:txBody>
          <a:bodyPr/>
          <a:lstStyle/>
          <a:p>
            <a:pPr algn="just">
              <a:defRPr/>
            </a:pPr>
            <a:r>
              <a:rPr lang="en-US" dirty="0"/>
              <a:t>Objects of derived classes are more </a:t>
            </a:r>
            <a:r>
              <a:rPr lang="en-US" dirty="0">
                <a:solidFill>
                  <a:srgbClr val="0070C0"/>
                </a:solidFill>
              </a:rPr>
              <a:t>specialized </a:t>
            </a:r>
            <a:r>
              <a:rPr lang="en-US" dirty="0"/>
              <a:t>as compared to objects of their base classes</a:t>
            </a:r>
          </a:p>
          <a:p>
            <a:pPr marL="0" indent="0">
              <a:buFontTx/>
              <a:buNone/>
              <a:defRPr/>
            </a:pPr>
            <a:endParaRPr lang="en-PK" dirty="0"/>
          </a:p>
        </p:txBody>
      </p:sp>
      <p:sp>
        <p:nvSpPr>
          <p:cNvPr id="12293" name="Slide Number Placeholder 4">
            <a:extLst>
              <a:ext uri="{FF2B5EF4-FFF2-40B4-BE49-F238E27FC236}">
                <a16:creationId xmlns:a16="http://schemas.microsoft.com/office/drawing/2014/main" id="{91E27515-BA17-0BFC-02EA-4A4AE50F2019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6D1FA324-F718-3E47-9719-EA5694FCC45A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12294" name="Picture 2" descr="http://www.dotnet-tricks.com/Content/images/oops/generalization.png">
            <a:extLst>
              <a:ext uri="{FF2B5EF4-FFF2-40B4-BE49-F238E27FC236}">
                <a16:creationId xmlns:a16="http://schemas.microsoft.com/office/drawing/2014/main" id="{C56A6469-B121-C41A-CE01-28544C8FBC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732088"/>
            <a:ext cx="7620000" cy="2767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1E32F930-C638-3456-D0E3-3045A26FE9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Animals: Class’</a:t>
            </a:r>
            <a:r>
              <a:rPr lang="en-US" altLang="ja-JP">
                <a:ea typeface="MS PGothic" panose="020B0600070205080204" pitchFamily="34" charset="-128"/>
              </a:rPr>
              <a:t>s hierarchy</a:t>
            </a:r>
            <a:endParaRPr lang="en-US" altLang="en-US"/>
          </a:p>
        </p:txBody>
      </p:sp>
      <p:sp>
        <p:nvSpPr>
          <p:cNvPr id="13316" name="Slide Number Placeholder 4">
            <a:extLst>
              <a:ext uri="{FF2B5EF4-FFF2-40B4-BE49-F238E27FC236}">
                <a16:creationId xmlns:a16="http://schemas.microsoft.com/office/drawing/2014/main" id="{07365850-D046-227A-30B0-9AD57149C478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0EE2836D-5FC1-4147-9BBD-7B4C9797F0C5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28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13317" name="Picture 5">
            <a:extLst>
              <a:ext uri="{FF2B5EF4-FFF2-40B4-BE49-F238E27FC236}">
                <a16:creationId xmlns:a16="http://schemas.microsoft.com/office/drawing/2014/main" id="{3A084E29-5658-40DA-74A4-3DD1F6F718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9688" y="1546225"/>
            <a:ext cx="7097712" cy="376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A5408C72-B0E4-AE99-4C16-CDF0E18593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Inheritance Examples</a:t>
            </a:r>
          </a:p>
        </p:txBody>
      </p:sp>
      <p:sp>
        <p:nvSpPr>
          <p:cNvPr id="14340" name="Slide Number Placeholder 4">
            <a:extLst>
              <a:ext uri="{FF2B5EF4-FFF2-40B4-BE49-F238E27FC236}">
                <a16:creationId xmlns:a16="http://schemas.microsoft.com/office/drawing/2014/main" id="{0B741028-B4F2-9AAD-E08C-B4CDA79C67A9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5C175135-CB60-8341-8E82-3B94AB7FF96A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29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graphicFrame>
        <p:nvGraphicFramePr>
          <p:cNvPr id="14341" name="Object 2">
            <a:extLst>
              <a:ext uri="{FF2B5EF4-FFF2-40B4-BE49-F238E27FC236}">
                <a16:creationId xmlns:a16="http://schemas.microsoft.com/office/drawing/2014/main" id="{683EB44E-44F1-7596-070B-C6A1BC2BF60C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1243013" y="1752600"/>
          <a:ext cx="7346950" cy="445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4864100" imgH="2946400" progId="Word.Document.8">
                  <p:embed/>
                </p:oleObj>
              </mc:Choice>
              <mc:Fallback>
                <p:oleObj name="Document" r:id="rId2" imgW="4864100" imgH="2946400" progId="Word.Document.8">
                  <p:embed/>
                  <p:pic>
                    <p:nvPicPr>
                      <p:cNvPr id="0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3013" y="1752600"/>
                        <a:ext cx="7346950" cy="445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450D6727-E10A-F93D-DE01-8C665E8E0C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33400"/>
            <a:ext cx="9144000" cy="685800"/>
          </a:xfrm>
        </p:spPr>
        <p:txBody>
          <a:bodyPr/>
          <a:lstStyle/>
          <a:p>
            <a:pPr eaLnBrk="1" hangingPunct="1"/>
            <a:r>
              <a:rPr lang="en-US" altLang="en-US"/>
              <a:t>Another example: Shapes class hierarchy</a:t>
            </a:r>
          </a:p>
        </p:txBody>
      </p:sp>
      <p:grpSp>
        <p:nvGrpSpPr>
          <p:cNvPr id="15363" name="Group 3">
            <a:extLst>
              <a:ext uri="{FF2B5EF4-FFF2-40B4-BE49-F238E27FC236}">
                <a16:creationId xmlns:a16="http://schemas.microsoft.com/office/drawing/2014/main" id="{11BBA5D4-E247-6AFF-FE2A-22D586CB70E5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828800"/>
            <a:ext cx="8469313" cy="3363913"/>
            <a:chOff x="192" y="1296"/>
            <a:chExt cx="5335" cy="2119"/>
          </a:xfrm>
        </p:grpSpPr>
        <p:grpSp>
          <p:nvGrpSpPr>
            <p:cNvPr id="15364" name="Group 4">
              <a:extLst>
                <a:ext uri="{FF2B5EF4-FFF2-40B4-BE49-F238E27FC236}">
                  <a16:creationId xmlns:a16="http://schemas.microsoft.com/office/drawing/2014/main" id="{D54910C0-B9E7-3FD9-923D-A455571EE4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66" y="1296"/>
              <a:ext cx="1129" cy="289"/>
              <a:chOff x="2166" y="1296"/>
              <a:chExt cx="1129" cy="289"/>
            </a:xfrm>
          </p:grpSpPr>
          <p:grpSp>
            <p:nvGrpSpPr>
              <p:cNvPr id="15411" name="Group 5">
                <a:extLst>
                  <a:ext uri="{FF2B5EF4-FFF2-40B4-BE49-F238E27FC236}">
                    <a16:creationId xmlns:a16="http://schemas.microsoft.com/office/drawing/2014/main" id="{DA7C42E4-D2F6-BE81-0CB1-E19E64CEB25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67" y="1296"/>
                <a:ext cx="1128" cy="289"/>
                <a:chOff x="0" y="0"/>
                <a:chExt cx="20000" cy="20000"/>
              </a:xfrm>
            </p:grpSpPr>
            <p:sp>
              <p:nvSpPr>
                <p:cNvPr id="15413" name="Freeform 6">
                  <a:extLst>
                    <a:ext uri="{FF2B5EF4-FFF2-40B4-BE49-F238E27FC236}">
                      <a16:creationId xmlns:a16="http://schemas.microsoft.com/office/drawing/2014/main" id="{19261962-A716-3DFD-7FBE-2833AD62E5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20000" cy="20000"/>
                </a:xfrm>
                <a:custGeom>
                  <a:avLst/>
                  <a:gdLst>
                    <a:gd name="T0" fmla="*/ 19986 w 20000"/>
                    <a:gd name="T1" fmla="*/ 0 h 20000"/>
                    <a:gd name="T2" fmla="*/ 19986 w 20000"/>
                    <a:gd name="T3" fmla="*/ 19929 h 20000"/>
                    <a:gd name="T4" fmla="*/ 0 w 20000"/>
                    <a:gd name="T5" fmla="*/ 19929 h 20000"/>
                    <a:gd name="T6" fmla="*/ 0 w 20000"/>
                    <a:gd name="T7" fmla="*/ 0 h 20000"/>
                    <a:gd name="T8" fmla="*/ 19986 w 20000"/>
                    <a:gd name="T9" fmla="*/ 0 h 200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000"/>
                    <a:gd name="T16" fmla="*/ 0 h 20000"/>
                    <a:gd name="T17" fmla="*/ 20000 w 20000"/>
                    <a:gd name="T18" fmla="*/ 20000 h 200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000" h="20000">
                      <a:moveTo>
                        <a:pt x="19986" y="0"/>
                      </a:moveTo>
                      <a:lnTo>
                        <a:pt x="19986" y="19929"/>
                      </a:lnTo>
                      <a:lnTo>
                        <a:pt x="0" y="19929"/>
                      </a:lnTo>
                      <a:lnTo>
                        <a:pt x="0" y="0"/>
                      </a:lnTo>
                      <a:lnTo>
                        <a:pt x="19986" y="0"/>
                      </a:lnTo>
                      <a:close/>
                    </a:path>
                  </a:pathLst>
                </a:custGeom>
                <a:solidFill>
                  <a:srgbClr val="99CCFF"/>
                </a:solidFill>
                <a:ln w="2540">
                  <a:solidFill>
                    <a:srgbClr val="4DB3E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14" name="Freeform 7">
                  <a:extLst>
                    <a:ext uri="{FF2B5EF4-FFF2-40B4-BE49-F238E27FC236}">
                      <a16:creationId xmlns:a16="http://schemas.microsoft.com/office/drawing/2014/main" id="{16E05794-5274-1F61-1A9A-DCECDA62C44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20000" cy="20000"/>
                </a:xfrm>
                <a:custGeom>
                  <a:avLst/>
                  <a:gdLst>
                    <a:gd name="T0" fmla="*/ 19986 w 20000"/>
                    <a:gd name="T1" fmla="*/ 0 h 20000"/>
                    <a:gd name="T2" fmla="*/ 19986 w 20000"/>
                    <a:gd name="T3" fmla="*/ 19929 h 20000"/>
                    <a:gd name="T4" fmla="*/ 0 w 20000"/>
                    <a:gd name="T5" fmla="*/ 19929 h 20000"/>
                    <a:gd name="T6" fmla="*/ 0 w 20000"/>
                    <a:gd name="T7" fmla="*/ 0 h 20000"/>
                    <a:gd name="T8" fmla="*/ 19986 w 20000"/>
                    <a:gd name="T9" fmla="*/ 0 h 200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000"/>
                    <a:gd name="T16" fmla="*/ 0 h 20000"/>
                    <a:gd name="T17" fmla="*/ 20000 w 20000"/>
                    <a:gd name="T18" fmla="*/ 20000 h 200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000" h="20000">
                      <a:moveTo>
                        <a:pt x="19986" y="0"/>
                      </a:moveTo>
                      <a:lnTo>
                        <a:pt x="19986" y="19929"/>
                      </a:lnTo>
                      <a:lnTo>
                        <a:pt x="0" y="19929"/>
                      </a:lnTo>
                      <a:lnTo>
                        <a:pt x="0" y="0"/>
                      </a:lnTo>
                      <a:lnTo>
                        <a:pt x="19986" y="0"/>
                      </a:lnTo>
                      <a:close/>
                    </a:path>
                  </a:pathLst>
                </a:custGeom>
                <a:solidFill>
                  <a:srgbClr val="99CCFF"/>
                </a:solidFill>
                <a:ln w="254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5412" name="Rectangle 8">
                <a:extLst>
                  <a:ext uri="{FF2B5EF4-FFF2-40B4-BE49-F238E27FC236}">
                    <a16:creationId xmlns:a16="http://schemas.microsoft.com/office/drawing/2014/main" id="{95B01A9A-E2B8-C0FF-D852-D5D086970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6" y="1383"/>
                <a:ext cx="1129" cy="1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1600" b="1" noProof="1">
                    <a:solidFill>
                      <a:srgbClr val="00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Shape</a:t>
                </a:r>
              </a:p>
            </p:txBody>
          </p:sp>
        </p:grpSp>
        <p:grpSp>
          <p:nvGrpSpPr>
            <p:cNvPr id="15365" name="Group 9">
              <a:extLst>
                <a:ext uri="{FF2B5EF4-FFF2-40B4-BE49-F238E27FC236}">
                  <a16:creationId xmlns:a16="http://schemas.microsoft.com/office/drawing/2014/main" id="{D9571AE9-0AF2-5E30-D7A8-75FADF0BDE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0" y="2123"/>
              <a:ext cx="1661" cy="289"/>
              <a:chOff x="0" y="0"/>
              <a:chExt cx="20000" cy="20000"/>
            </a:xfrm>
          </p:grpSpPr>
          <p:sp>
            <p:nvSpPr>
              <p:cNvPr id="15409" name="Freeform 10">
                <a:extLst>
                  <a:ext uri="{FF2B5EF4-FFF2-40B4-BE49-F238E27FC236}">
                    <a16:creationId xmlns:a16="http://schemas.microsoft.com/office/drawing/2014/main" id="{39050E7A-62BE-2809-83CD-9DD5103EB8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20000" cy="20000"/>
              </a:xfrm>
              <a:custGeom>
                <a:avLst/>
                <a:gdLst>
                  <a:gd name="T0" fmla="*/ 19991 w 20000"/>
                  <a:gd name="T1" fmla="*/ 0 h 20000"/>
                  <a:gd name="T2" fmla="*/ 19991 w 20000"/>
                  <a:gd name="T3" fmla="*/ 19929 h 20000"/>
                  <a:gd name="T4" fmla="*/ 0 w 20000"/>
                  <a:gd name="T5" fmla="*/ 19929 h 20000"/>
                  <a:gd name="T6" fmla="*/ 0 w 20000"/>
                  <a:gd name="T7" fmla="*/ 0 h 20000"/>
                  <a:gd name="T8" fmla="*/ 19991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000"/>
                  <a:gd name="T16" fmla="*/ 0 h 20000"/>
                  <a:gd name="T17" fmla="*/ 20000 w 20000"/>
                  <a:gd name="T18" fmla="*/ 20000 h 2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000" h="20000">
                    <a:moveTo>
                      <a:pt x="19991" y="0"/>
                    </a:moveTo>
                    <a:lnTo>
                      <a:pt x="19991" y="19929"/>
                    </a:lnTo>
                    <a:lnTo>
                      <a:pt x="0" y="19929"/>
                    </a:lnTo>
                    <a:lnTo>
                      <a:pt x="0" y="0"/>
                    </a:lnTo>
                    <a:lnTo>
                      <a:pt x="19991" y="0"/>
                    </a:lnTo>
                    <a:close/>
                  </a:path>
                </a:pathLst>
              </a:custGeom>
              <a:solidFill>
                <a:srgbClr val="99CCFF"/>
              </a:solidFill>
              <a:ln w="2540">
                <a:solidFill>
                  <a:srgbClr val="4DB3E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10" name="Freeform 11">
                <a:extLst>
                  <a:ext uri="{FF2B5EF4-FFF2-40B4-BE49-F238E27FC236}">
                    <a16:creationId xmlns:a16="http://schemas.microsoft.com/office/drawing/2014/main" id="{C0000ED9-BF61-EB90-FF5D-C0ED770BED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20000" cy="20000"/>
              </a:xfrm>
              <a:custGeom>
                <a:avLst/>
                <a:gdLst>
                  <a:gd name="T0" fmla="*/ 19991 w 20000"/>
                  <a:gd name="T1" fmla="*/ 0 h 20000"/>
                  <a:gd name="T2" fmla="*/ 19991 w 20000"/>
                  <a:gd name="T3" fmla="*/ 19929 h 20000"/>
                  <a:gd name="T4" fmla="*/ 0 w 20000"/>
                  <a:gd name="T5" fmla="*/ 19929 h 20000"/>
                  <a:gd name="T6" fmla="*/ 0 w 20000"/>
                  <a:gd name="T7" fmla="*/ 0 h 20000"/>
                  <a:gd name="T8" fmla="*/ 19991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000"/>
                  <a:gd name="T16" fmla="*/ 0 h 20000"/>
                  <a:gd name="T17" fmla="*/ 20000 w 20000"/>
                  <a:gd name="T18" fmla="*/ 20000 h 2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000" h="20000">
                    <a:moveTo>
                      <a:pt x="19991" y="0"/>
                    </a:moveTo>
                    <a:lnTo>
                      <a:pt x="19991" y="19929"/>
                    </a:lnTo>
                    <a:lnTo>
                      <a:pt x="0" y="19929"/>
                    </a:lnTo>
                    <a:lnTo>
                      <a:pt x="0" y="0"/>
                    </a:lnTo>
                    <a:lnTo>
                      <a:pt x="19991" y="0"/>
                    </a:lnTo>
                    <a:close/>
                  </a:path>
                </a:pathLst>
              </a:custGeom>
              <a:solidFill>
                <a:srgbClr val="99CCFF"/>
              </a:solidFill>
              <a:ln w="254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5366" name="Rectangle 12">
              <a:extLst>
                <a:ext uri="{FF2B5EF4-FFF2-40B4-BE49-F238E27FC236}">
                  <a16:creationId xmlns:a16="http://schemas.microsoft.com/office/drawing/2014/main" id="{833D5357-DC14-4E7A-D653-41865462CA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" y="2210"/>
              <a:ext cx="1662" cy="1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600" b="1" noProof="1">
                  <a:solidFill>
                    <a:srgbClr val="00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rPr>
                <a:t>TwoDimensionalShape</a:t>
              </a:r>
            </a:p>
          </p:txBody>
        </p:sp>
        <p:grpSp>
          <p:nvGrpSpPr>
            <p:cNvPr id="15367" name="Group 13">
              <a:extLst>
                <a:ext uri="{FF2B5EF4-FFF2-40B4-BE49-F238E27FC236}">
                  <a16:creationId xmlns:a16="http://schemas.microsoft.com/office/drawing/2014/main" id="{ED6BB32A-6AF1-9E87-21EB-13AEDC8461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57" y="2123"/>
              <a:ext cx="1661" cy="289"/>
              <a:chOff x="3357" y="2123"/>
              <a:chExt cx="1661" cy="289"/>
            </a:xfrm>
          </p:grpSpPr>
          <p:grpSp>
            <p:nvGrpSpPr>
              <p:cNvPr id="15405" name="Group 14">
                <a:extLst>
                  <a:ext uri="{FF2B5EF4-FFF2-40B4-BE49-F238E27FC236}">
                    <a16:creationId xmlns:a16="http://schemas.microsoft.com/office/drawing/2014/main" id="{A04E311F-9B4B-CD56-9981-51C1A848024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58" y="2123"/>
                <a:ext cx="1660" cy="289"/>
                <a:chOff x="0" y="0"/>
                <a:chExt cx="20000" cy="20000"/>
              </a:xfrm>
            </p:grpSpPr>
            <p:sp>
              <p:nvSpPr>
                <p:cNvPr id="15407" name="Freeform 15">
                  <a:extLst>
                    <a:ext uri="{FF2B5EF4-FFF2-40B4-BE49-F238E27FC236}">
                      <a16:creationId xmlns:a16="http://schemas.microsoft.com/office/drawing/2014/main" id="{491996D2-9AE4-C2B6-63CD-3F0DBCF8E5F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20000" cy="20000"/>
                </a:xfrm>
                <a:custGeom>
                  <a:avLst/>
                  <a:gdLst>
                    <a:gd name="T0" fmla="*/ 19991 w 20000"/>
                    <a:gd name="T1" fmla="*/ 0 h 20000"/>
                    <a:gd name="T2" fmla="*/ 19991 w 20000"/>
                    <a:gd name="T3" fmla="*/ 19929 h 20000"/>
                    <a:gd name="T4" fmla="*/ 0 w 20000"/>
                    <a:gd name="T5" fmla="*/ 19929 h 20000"/>
                    <a:gd name="T6" fmla="*/ 0 w 20000"/>
                    <a:gd name="T7" fmla="*/ 0 h 20000"/>
                    <a:gd name="T8" fmla="*/ 19991 w 20000"/>
                    <a:gd name="T9" fmla="*/ 0 h 200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000"/>
                    <a:gd name="T16" fmla="*/ 0 h 20000"/>
                    <a:gd name="T17" fmla="*/ 20000 w 20000"/>
                    <a:gd name="T18" fmla="*/ 20000 h 200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000" h="20000">
                      <a:moveTo>
                        <a:pt x="19991" y="0"/>
                      </a:moveTo>
                      <a:lnTo>
                        <a:pt x="19991" y="19929"/>
                      </a:lnTo>
                      <a:lnTo>
                        <a:pt x="0" y="19929"/>
                      </a:lnTo>
                      <a:lnTo>
                        <a:pt x="0" y="0"/>
                      </a:lnTo>
                      <a:lnTo>
                        <a:pt x="19991" y="0"/>
                      </a:lnTo>
                      <a:close/>
                    </a:path>
                  </a:pathLst>
                </a:custGeom>
                <a:solidFill>
                  <a:srgbClr val="99CCFF"/>
                </a:solidFill>
                <a:ln w="2540">
                  <a:solidFill>
                    <a:srgbClr val="4DB3E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08" name="Freeform 16">
                  <a:extLst>
                    <a:ext uri="{FF2B5EF4-FFF2-40B4-BE49-F238E27FC236}">
                      <a16:creationId xmlns:a16="http://schemas.microsoft.com/office/drawing/2014/main" id="{A00FB6E7-5122-9130-CF74-45CEC60F752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20000" cy="20000"/>
                </a:xfrm>
                <a:custGeom>
                  <a:avLst/>
                  <a:gdLst>
                    <a:gd name="T0" fmla="*/ 19991 w 20000"/>
                    <a:gd name="T1" fmla="*/ 0 h 20000"/>
                    <a:gd name="T2" fmla="*/ 19991 w 20000"/>
                    <a:gd name="T3" fmla="*/ 19929 h 20000"/>
                    <a:gd name="T4" fmla="*/ 0 w 20000"/>
                    <a:gd name="T5" fmla="*/ 19929 h 20000"/>
                    <a:gd name="T6" fmla="*/ 0 w 20000"/>
                    <a:gd name="T7" fmla="*/ 0 h 20000"/>
                    <a:gd name="T8" fmla="*/ 19991 w 20000"/>
                    <a:gd name="T9" fmla="*/ 0 h 200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000"/>
                    <a:gd name="T16" fmla="*/ 0 h 20000"/>
                    <a:gd name="T17" fmla="*/ 20000 w 20000"/>
                    <a:gd name="T18" fmla="*/ 20000 h 200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000" h="20000">
                      <a:moveTo>
                        <a:pt x="19991" y="0"/>
                      </a:moveTo>
                      <a:lnTo>
                        <a:pt x="19991" y="19929"/>
                      </a:lnTo>
                      <a:lnTo>
                        <a:pt x="0" y="19929"/>
                      </a:lnTo>
                      <a:lnTo>
                        <a:pt x="0" y="0"/>
                      </a:lnTo>
                      <a:lnTo>
                        <a:pt x="19991" y="0"/>
                      </a:lnTo>
                      <a:close/>
                    </a:path>
                  </a:pathLst>
                </a:custGeom>
                <a:solidFill>
                  <a:srgbClr val="99CCFF"/>
                </a:solidFill>
                <a:ln w="254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5406" name="Rectangle 17">
                <a:extLst>
                  <a:ext uri="{FF2B5EF4-FFF2-40B4-BE49-F238E27FC236}">
                    <a16:creationId xmlns:a16="http://schemas.microsoft.com/office/drawing/2014/main" id="{B8E94792-B3F5-C43F-734C-7F26B436AB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57" y="2210"/>
                <a:ext cx="1661" cy="1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1600" b="1" noProof="1">
                    <a:solidFill>
                      <a:srgbClr val="00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ThreeDimensionalShape</a:t>
                </a:r>
              </a:p>
            </p:txBody>
          </p:sp>
        </p:grpSp>
        <p:grpSp>
          <p:nvGrpSpPr>
            <p:cNvPr id="15368" name="Group 18">
              <a:extLst>
                <a:ext uri="{FF2B5EF4-FFF2-40B4-BE49-F238E27FC236}">
                  <a16:creationId xmlns:a16="http://schemas.microsoft.com/office/drawing/2014/main" id="{A826BC54-EFD5-C7F7-C813-0E016BC6CB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3" y="3126"/>
              <a:ext cx="689" cy="289"/>
              <a:chOff x="0" y="0"/>
              <a:chExt cx="20000" cy="20000"/>
            </a:xfrm>
          </p:grpSpPr>
          <p:sp>
            <p:nvSpPr>
              <p:cNvPr id="15403" name="Freeform 19">
                <a:extLst>
                  <a:ext uri="{FF2B5EF4-FFF2-40B4-BE49-F238E27FC236}">
                    <a16:creationId xmlns:a16="http://schemas.microsoft.com/office/drawing/2014/main" id="{06686CF1-9AF5-78AA-4228-A0A6D2614E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20000" cy="20000"/>
              </a:xfrm>
              <a:custGeom>
                <a:avLst/>
                <a:gdLst>
                  <a:gd name="T0" fmla="*/ 19977 w 20000"/>
                  <a:gd name="T1" fmla="*/ 0 h 20000"/>
                  <a:gd name="T2" fmla="*/ 19977 w 20000"/>
                  <a:gd name="T3" fmla="*/ 19929 h 20000"/>
                  <a:gd name="T4" fmla="*/ 0 w 20000"/>
                  <a:gd name="T5" fmla="*/ 19929 h 20000"/>
                  <a:gd name="T6" fmla="*/ 0 w 20000"/>
                  <a:gd name="T7" fmla="*/ 0 h 20000"/>
                  <a:gd name="T8" fmla="*/ 19977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000"/>
                  <a:gd name="T16" fmla="*/ 0 h 20000"/>
                  <a:gd name="T17" fmla="*/ 20000 w 20000"/>
                  <a:gd name="T18" fmla="*/ 20000 h 2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000" h="20000">
                    <a:moveTo>
                      <a:pt x="19977" y="0"/>
                    </a:moveTo>
                    <a:lnTo>
                      <a:pt x="19977" y="19929"/>
                    </a:lnTo>
                    <a:lnTo>
                      <a:pt x="0" y="19929"/>
                    </a:lnTo>
                    <a:lnTo>
                      <a:pt x="0" y="0"/>
                    </a:lnTo>
                    <a:lnTo>
                      <a:pt x="19977" y="0"/>
                    </a:lnTo>
                    <a:close/>
                  </a:path>
                </a:pathLst>
              </a:custGeom>
              <a:solidFill>
                <a:srgbClr val="99CCFF"/>
              </a:solidFill>
              <a:ln w="2540">
                <a:solidFill>
                  <a:srgbClr val="4DB3E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04" name="Freeform 20">
                <a:extLst>
                  <a:ext uri="{FF2B5EF4-FFF2-40B4-BE49-F238E27FC236}">
                    <a16:creationId xmlns:a16="http://schemas.microsoft.com/office/drawing/2014/main" id="{3BA1DC5F-B7F4-F248-757F-45DDBD0C8C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20000" cy="20000"/>
              </a:xfrm>
              <a:custGeom>
                <a:avLst/>
                <a:gdLst>
                  <a:gd name="T0" fmla="*/ 19977 w 20000"/>
                  <a:gd name="T1" fmla="*/ 0 h 20000"/>
                  <a:gd name="T2" fmla="*/ 19977 w 20000"/>
                  <a:gd name="T3" fmla="*/ 19929 h 20000"/>
                  <a:gd name="T4" fmla="*/ 0 w 20000"/>
                  <a:gd name="T5" fmla="*/ 19929 h 20000"/>
                  <a:gd name="T6" fmla="*/ 0 w 20000"/>
                  <a:gd name="T7" fmla="*/ 0 h 20000"/>
                  <a:gd name="T8" fmla="*/ 19977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000"/>
                  <a:gd name="T16" fmla="*/ 0 h 20000"/>
                  <a:gd name="T17" fmla="*/ 20000 w 20000"/>
                  <a:gd name="T18" fmla="*/ 20000 h 2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000" h="20000">
                    <a:moveTo>
                      <a:pt x="19977" y="0"/>
                    </a:moveTo>
                    <a:lnTo>
                      <a:pt x="19977" y="19929"/>
                    </a:lnTo>
                    <a:lnTo>
                      <a:pt x="0" y="19929"/>
                    </a:lnTo>
                    <a:lnTo>
                      <a:pt x="0" y="0"/>
                    </a:lnTo>
                    <a:lnTo>
                      <a:pt x="19977" y="0"/>
                    </a:lnTo>
                    <a:close/>
                  </a:path>
                </a:pathLst>
              </a:custGeom>
              <a:solidFill>
                <a:srgbClr val="99CCFF"/>
              </a:solidFill>
              <a:ln w="254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5369" name="Rectangle 21">
              <a:extLst>
                <a:ext uri="{FF2B5EF4-FFF2-40B4-BE49-F238E27FC236}">
                  <a16:creationId xmlns:a16="http://schemas.microsoft.com/office/drawing/2014/main" id="{F33A05F7-57BB-DAD2-EA4B-8C928E9BD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3213"/>
              <a:ext cx="690" cy="1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600" b="1" noProof="1">
                  <a:solidFill>
                    <a:srgbClr val="00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rPr>
                <a:t>Circle</a:t>
              </a:r>
            </a:p>
          </p:txBody>
        </p:sp>
        <p:grpSp>
          <p:nvGrpSpPr>
            <p:cNvPr id="15370" name="Group 22">
              <a:extLst>
                <a:ext uri="{FF2B5EF4-FFF2-40B4-BE49-F238E27FC236}">
                  <a16:creationId xmlns:a16="http://schemas.microsoft.com/office/drawing/2014/main" id="{21354815-314E-26D0-FC89-96F7A222D1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76" y="3126"/>
              <a:ext cx="690" cy="289"/>
              <a:chOff x="0" y="0"/>
              <a:chExt cx="20000" cy="20000"/>
            </a:xfrm>
          </p:grpSpPr>
          <p:sp>
            <p:nvSpPr>
              <p:cNvPr id="15401" name="Freeform 23">
                <a:extLst>
                  <a:ext uri="{FF2B5EF4-FFF2-40B4-BE49-F238E27FC236}">
                    <a16:creationId xmlns:a16="http://schemas.microsoft.com/office/drawing/2014/main" id="{E55656E4-238B-DBEA-8EE9-2B1BB891B1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20000" cy="20000"/>
              </a:xfrm>
              <a:custGeom>
                <a:avLst/>
                <a:gdLst>
                  <a:gd name="T0" fmla="*/ 19977 w 20000"/>
                  <a:gd name="T1" fmla="*/ 0 h 20000"/>
                  <a:gd name="T2" fmla="*/ 19977 w 20000"/>
                  <a:gd name="T3" fmla="*/ 19929 h 20000"/>
                  <a:gd name="T4" fmla="*/ 0 w 20000"/>
                  <a:gd name="T5" fmla="*/ 19929 h 20000"/>
                  <a:gd name="T6" fmla="*/ 0 w 20000"/>
                  <a:gd name="T7" fmla="*/ 0 h 20000"/>
                  <a:gd name="T8" fmla="*/ 19977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000"/>
                  <a:gd name="T16" fmla="*/ 0 h 20000"/>
                  <a:gd name="T17" fmla="*/ 20000 w 20000"/>
                  <a:gd name="T18" fmla="*/ 20000 h 2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000" h="20000">
                    <a:moveTo>
                      <a:pt x="19977" y="0"/>
                    </a:moveTo>
                    <a:lnTo>
                      <a:pt x="19977" y="19929"/>
                    </a:lnTo>
                    <a:lnTo>
                      <a:pt x="0" y="19929"/>
                    </a:lnTo>
                    <a:lnTo>
                      <a:pt x="0" y="0"/>
                    </a:lnTo>
                    <a:lnTo>
                      <a:pt x="19977" y="0"/>
                    </a:lnTo>
                    <a:close/>
                  </a:path>
                </a:pathLst>
              </a:custGeom>
              <a:solidFill>
                <a:srgbClr val="99CCFF"/>
              </a:solidFill>
              <a:ln w="2540">
                <a:solidFill>
                  <a:srgbClr val="4DB3E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02" name="Freeform 24">
                <a:extLst>
                  <a:ext uri="{FF2B5EF4-FFF2-40B4-BE49-F238E27FC236}">
                    <a16:creationId xmlns:a16="http://schemas.microsoft.com/office/drawing/2014/main" id="{4362788D-584B-9DEF-6338-85921FF34A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20000" cy="20000"/>
              </a:xfrm>
              <a:custGeom>
                <a:avLst/>
                <a:gdLst>
                  <a:gd name="T0" fmla="*/ 19977 w 20000"/>
                  <a:gd name="T1" fmla="*/ 0 h 20000"/>
                  <a:gd name="T2" fmla="*/ 19977 w 20000"/>
                  <a:gd name="T3" fmla="*/ 19929 h 20000"/>
                  <a:gd name="T4" fmla="*/ 0 w 20000"/>
                  <a:gd name="T5" fmla="*/ 19929 h 20000"/>
                  <a:gd name="T6" fmla="*/ 0 w 20000"/>
                  <a:gd name="T7" fmla="*/ 0 h 20000"/>
                  <a:gd name="T8" fmla="*/ 19977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000"/>
                  <a:gd name="T16" fmla="*/ 0 h 20000"/>
                  <a:gd name="T17" fmla="*/ 20000 w 20000"/>
                  <a:gd name="T18" fmla="*/ 20000 h 2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000" h="20000">
                    <a:moveTo>
                      <a:pt x="19977" y="0"/>
                    </a:moveTo>
                    <a:lnTo>
                      <a:pt x="19977" y="19929"/>
                    </a:lnTo>
                    <a:lnTo>
                      <a:pt x="0" y="19929"/>
                    </a:lnTo>
                    <a:lnTo>
                      <a:pt x="0" y="0"/>
                    </a:lnTo>
                    <a:lnTo>
                      <a:pt x="19977" y="0"/>
                    </a:lnTo>
                    <a:close/>
                  </a:path>
                </a:pathLst>
              </a:custGeom>
              <a:solidFill>
                <a:srgbClr val="99CCFF"/>
              </a:solidFill>
              <a:ln w="254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5371" name="Rectangle 25">
              <a:extLst>
                <a:ext uri="{FF2B5EF4-FFF2-40B4-BE49-F238E27FC236}">
                  <a16:creationId xmlns:a16="http://schemas.microsoft.com/office/drawing/2014/main" id="{6A39680F-DAF1-D49C-D0B9-E40240497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" y="3213"/>
              <a:ext cx="691" cy="1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600" b="1" noProof="1">
                  <a:solidFill>
                    <a:srgbClr val="00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rPr>
                <a:t>Square</a:t>
              </a:r>
            </a:p>
          </p:txBody>
        </p:sp>
        <p:grpSp>
          <p:nvGrpSpPr>
            <p:cNvPr id="15372" name="Group 26">
              <a:extLst>
                <a:ext uri="{FF2B5EF4-FFF2-40B4-BE49-F238E27FC236}">
                  <a16:creationId xmlns:a16="http://schemas.microsoft.com/office/drawing/2014/main" id="{F2769C3A-2058-4494-8386-DCDD02AAB8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60" y="3126"/>
              <a:ext cx="689" cy="289"/>
              <a:chOff x="0" y="0"/>
              <a:chExt cx="20000" cy="20000"/>
            </a:xfrm>
          </p:grpSpPr>
          <p:sp>
            <p:nvSpPr>
              <p:cNvPr id="15399" name="Freeform 27">
                <a:extLst>
                  <a:ext uri="{FF2B5EF4-FFF2-40B4-BE49-F238E27FC236}">
                    <a16:creationId xmlns:a16="http://schemas.microsoft.com/office/drawing/2014/main" id="{92F956A3-E554-4D30-9DCE-046B8D9F42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20000" cy="20000"/>
              </a:xfrm>
              <a:custGeom>
                <a:avLst/>
                <a:gdLst>
                  <a:gd name="T0" fmla="*/ 19977 w 20000"/>
                  <a:gd name="T1" fmla="*/ 0 h 20000"/>
                  <a:gd name="T2" fmla="*/ 19977 w 20000"/>
                  <a:gd name="T3" fmla="*/ 19929 h 20000"/>
                  <a:gd name="T4" fmla="*/ 0 w 20000"/>
                  <a:gd name="T5" fmla="*/ 19929 h 20000"/>
                  <a:gd name="T6" fmla="*/ 0 w 20000"/>
                  <a:gd name="T7" fmla="*/ 0 h 20000"/>
                  <a:gd name="T8" fmla="*/ 19977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000"/>
                  <a:gd name="T16" fmla="*/ 0 h 20000"/>
                  <a:gd name="T17" fmla="*/ 20000 w 20000"/>
                  <a:gd name="T18" fmla="*/ 20000 h 2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000" h="20000">
                    <a:moveTo>
                      <a:pt x="19977" y="0"/>
                    </a:moveTo>
                    <a:lnTo>
                      <a:pt x="19977" y="19929"/>
                    </a:lnTo>
                    <a:lnTo>
                      <a:pt x="0" y="19929"/>
                    </a:lnTo>
                    <a:lnTo>
                      <a:pt x="0" y="0"/>
                    </a:lnTo>
                    <a:lnTo>
                      <a:pt x="19977" y="0"/>
                    </a:lnTo>
                    <a:close/>
                  </a:path>
                </a:pathLst>
              </a:custGeom>
              <a:solidFill>
                <a:srgbClr val="99CCFF"/>
              </a:solidFill>
              <a:ln w="2540">
                <a:solidFill>
                  <a:srgbClr val="4DB3E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00" name="Freeform 28">
                <a:extLst>
                  <a:ext uri="{FF2B5EF4-FFF2-40B4-BE49-F238E27FC236}">
                    <a16:creationId xmlns:a16="http://schemas.microsoft.com/office/drawing/2014/main" id="{196BE5F4-28DF-2297-B245-716BAD7E29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20000" cy="20000"/>
              </a:xfrm>
              <a:custGeom>
                <a:avLst/>
                <a:gdLst>
                  <a:gd name="T0" fmla="*/ 19977 w 20000"/>
                  <a:gd name="T1" fmla="*/ 0 h 20000"/>
                  <a:gd name="T2" fmla="*/ 19977 w 20000"/>
                  <a:gd name="T3" fmla="*/ 19929 h 20000"/>
                  <a:gd name="T4" fmla="*/ 0 w 20000"/>
                  <a:gd name="T5" fmla="*/ 19929 h 20000"/>
                  <a:gd name="T6" fmla="*/ 0 w 20000"/>
                  <a:gd name="T7" fmla="*/ 0 h 20000"/>
                  <a:gd name="T8" fmla="*/ 19977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000"/>
                  <a:gd name="T16" fmla="*/ 0 h 20000"/>
                  <a:gd name="T17" fmla="*/ 20000 w 20000"/>
                  <a:gd name="T18" fmla="*/ 20000 h 2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000" h="20000">
                    <a:moveTo>
                      <a:pt x="19977" y="0"/>
                    </a:moveTo>
                    <a:lnTo>
                      <a:pt x="19977" y="19929"/>
                    </a:lnTo>
                    <a:lnTo>
                      <a:pt x="0" y="19929"/>
                    </a:lnTo>
                    <a:lnTo>
                      <a:pt x="0" y="0"/>
                    </a:lnTo>
                    <a:lnTo>
                      <a:pt x="19977" y="0"/>
                    </a:lnTo>
                    <a:close/>
                  </a:path>
                </a:pathLst>
              </a:custGeom>
              <a:solidFill>
                <a:srgbClr val="99CCFF"/>
              </a:solidFill>
              <a:ln w="254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5373" name="Rectangle 29">
              <a:extLst>
                <a:ext uri="{FF2B5EF4-FFF2-40B4-BE49-F238E27FC236}">
                  <a16:creationId xmlns:a16="http://schemas.microsoft.com/office/drawing/2014/main" id="{F3252964-032F-4882-DD8D-8BD5E9912C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9" y="3213"/>
              <a:ext cx="690" cy="1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600" b="1" noProof="1">
                  <a:solidFill>
                    <a:srgbClr val="00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rPr>
                <a:t>Triangle</a:t>
              </a:r>
            </a:p>
          </p:txBody>
        </p:sp>
        <p:grpSp>
          <p:nvGrpSpPr>
            <p:cNvPr id="15374" name="Group 30">
              <a:extLst>
                <a:ext uri="{FF2B5EF4-FFF2-40B4-BE49-F238E27FC236}">
                  <a16:creationId xmlns:a16="http://schemas.microsoft.com/office/drawing/2014/main" id="{FCB5162F-3D55-91CD-4B6A-2B0F49668E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52" y="3126"/>
              <a:ext cx="689" cy="289"/>
              <a:chOff x="0" y="0"/>
              <a:chExt cx="20000" cy="20000"/>
            </a:xfrm>
          </p:grpSpPr>
          <p:sp>
            <p:nvSpPr>
              <p:cNvPr id="15397" name="Freeform 31">
                <a:extLst>
                  <a:ext uri="{FF2B5EF4-FFF2-40B4-BE49-F238E27FC236}">
                    <a16:creationId xmlns:a16="http://schemas.microsoft.com/office/drawing/2014/main" id="{F657BA4E-410F-3244-4DE8-501EF55BAC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20000" cy="20000"/>
              </a:xfrm>
              <a:custGeom>
                <a:avLst/>
                <a:gdLst>
                  <a:gd name="T0" fmla="*/ 19977 w 20000"/>
                  <a:gd name="T1" fmla="*/ 0 h 20000"/>
                  <a:gd name="T2" fmla="*/ 19977 w 20000"/>
                  <a:gd name="T3" fmla="*/ 19929 h 20000"/>
                  <a:gd name="T4" fmla="*/ 0 w 20000"/>
                  <a:gd name="T5" fmla="*/ 19929 h 20000"/>
                  <a:gd name="T6" fmla="*/ 0 w 20000"/>
                  <a:gd name="T7" fmla="*/ 0 h 20000"/>
                  <a:gd name="T8" fmla="*/ 19977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000"/>
                  <a:gd name="T16" fmla="*/ 0 h 20000"/>
                  <a:gd name="T17" fmla="*/ 20000 w 20000"/>
                  <a:gd name="T18" fmla="*/ 20000 h 2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000" h="20000">
                    <a:moveTo>
                      <a:pt x="19977" y="0"/>
                    </a:moveTo>
                    <a:lnTo>
                      <a:pt x="19977" y="19929"/>
                    </a:lnTo>
                    <a:lnTo>
                      <a:pt x="0" y="19929"/>
                    </a:lnTo>
                    <a:lnTo>
                      <a:pt x="0" y="0"/>
                    </a:lnTo>
                    <a:lnTo>
                      <a:pt x="19977" y="0"/>
                    </a:lnTo>
                    <a:close/>
                  </a:path>
                </a:pathLst>
              </a:custGeom>
              <a:solidFill>
                <a:srgbClr val="99CCFF"/>
              </a:solidFill>
              <a:ln w="2540">
                <a:solidFill>
                  <a:srgbClr val="4DB3E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98" name="Freeform 32">
                <a:extLst>
                  <a:ext uri="{FF2B5EF4-FFF2-40B4-BE49-F238E27FC236}">
                    <a16:creationId xmlns:a16="http://schemas.microsoft.com/office/drawing/2014/main" id="{B31FFB64-FD40-821A-E5F8-4768446ED5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20000" cy="20000"/>
              </a:xfrm>
              <a:custGeom>
                <a:avLst/>
                <a:gdLst>
                  <a:gd name="T0" fmla="*/ 19977 w 20000"/>
                  <a:gd name="T1" fmla="*/ 0 h 20000"/>
                  <a:gd name="T2" fmla="*/ 19977 w 20000"/>
                  <a:gd name="T3" fmla="*/ 19929 h 20000"/>
                  <a:gd name="T4" fmla="*/ 0 w 20000"/>
                  <a:gd name="T5" fmla="*/ 19929 h 20000"/>
                  <a:gd name="T6" fmla="*/ 0 w 20000"/>
                  <a:gd name="T7" fmla="*/ 0 h 20000"/>
                  <a:gd name="T8" fmla="*/ 19977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000"/>
                  <a:gd name="T16" fmla="*/ 0 h 20000"/>
                  <a:gd name="T17" fmla="*/ 20000 w 20000"/>
                  <a:gd name="T18" fmla="*/ 20000 h 2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000" h="20000">
                    <a:moveTo>
                      <a:pt x="19977" y="0"/>
                    </a:moveTo>
                    <a:lnTo>
                      <a:pt x="19977" y="19929"/>
                    </a:lnTo>
                    <a:lnTo>
                      <a:pt x="0" y="19929"/>
                    </a:lnTo>
                    <a:lnTo>
                      <a:pt x="0" y="0"/>
                    </a:lnTo>
                    <a:lnTo>
                      <a:pt x="19977" y="0"/>
                    </a:lnTo>
                    <a:close/>
                  </a:path>
                </a:pathLst>
              </a:custGeom>
              <a:solidFill>
                <a:srgbClr val="99CCFF"/>
              </a:solidFill>
              <a:ln w="254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5375" name="Rectangle 33">
              <a:extLst>
                <a:ext uri="{FF2B5EF4-FFF2-40B4-BE49-F238E27FC236}">
                  <a16:creationId xmlns:a16="http://schemas.microsoft.com/office/drawing/2014/main" id="{D841F521-76E7-C08D-64C6-097DD4BE89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1" y="3213"/>
              <a:ext cx="690" cy="1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600" b="1" noProof="1">
                  <a:solidFill>
                    <a:srgbClr val="00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rPr>
                <a:t>Sphere</a:t>
              </a:r>
            </a:p>
          </p:txBody>
        </p:sp>
        <p:grpSp>
          <p:nvGrpSpPr>
            <p:cNvPr id="15376" name="Group 34">
              <a:extLst>
                <a:ext uri="{FF2B5EF4-FFF2-40B4-BE49-F238E27FC236}">
                  <a16:creationId xmlns:a16="http://schemas.microsoft.com/office/drawing/2014/main" id="{98A8B321-D2F5-DF8F-5465-A43AE72744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34" y="3126"/>
              <a:ext cx="690" cy="289"/>
              <a:chOff x="3834" y="3126"/>
              <a:chExt cx="690" cy="289"/>
            </a:xfrm>
          </p:grpSpPr>
          <p:grpSp>
            <p:nvGrpSpPr>
              <p:cNvPr id="15393" name="Group 35">
                <a:extLst>
                  <a:ext uri="{FF2B5EF4-FFF2-40B4-BE49-F238E27FC236}">
                    <a16:creationId xmlns:a16="http://schemas.microsoft.com/office/drawing/2014/main" id="{CEF92558-32C5-1E19-82BF-32E9CD89857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35" y="3126"/>
                <a:ext cx="689" cy="289"/>
                <a:chOff x="0" y="0"/>
                <a:chExt cx="20000" cy="20000"/>
              </a:xfrm>
            </p:grpSpPr>
            <p:sp>
              <p:nvSpPr>
                <p:cNvPr id="15395" name="Freeform 36">
                  <a:extLst>
                    <a:ext uri="{FF2B5EF4-FFF2-40B4-BE49-F238E27FC236}">
                      <a16:creationId xmlns:a16="http://schemas.microsoft.com/office/drawing/2014/main" id="{B103975A-B4EB-BDAA-E531-C427DA1EFD3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20000" cy="20000"/>
                </a:xfrm>
                <a:custGeom>
                  <a:avLst/>
                  <a:gdLst>
                    <a:gd name="T0" fmla="*/ 19977 w 20000"/>
                    <a:gd name="T1" fmla="*/ 0 h 20000"/>
                    <a:gd name="T2" fmla="*/ 19977 w 20000"/>
                    <a:gd name="T3" fmla="*/ 19929 h 20000"/>
                    <a:gd name="T4" fmla="*/ 0 w 20000"/>
                    <a:gd name="T5" fmla="*/ 19929 h 20000"/>
                    <a:gd name="T6" fmla="*/ 0 w 20000"/>
                    <a:gd name="T7" fmla="*/ 0 h 20000"/>
                    <a:gd name="T8" fmla="*/ 19977 w 20000"/>
                    <a:gd name="T9" fmla="*/ 0 h 200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000"/>
                    <a:gd name="T16" fmla="*/ 0 h 20000"/>
                    <a:gd name="T17" fmla="*/ 20000 w 20000"/>
                    <a:gd name="T18" fmla="*/ 20000 h 200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000" h="20000">
                      <a:moveTo>
                        <a:pt x="19977" y="0"/>
                      </a:moveTo>
                      <a:lnTo>
                        <a:pt x="19977" y="19929"/>
                      </a:lnTo>
                      <a:lnTo>
                        <a:pt x="0" y="19929"/>
                      </a:lnTo>
                      <a:lnTo>
                        <a:pt x="0" y="0"/>
                      </a:lnTo>
                      <a:lnTo>
                        <a:pt x="19977" y="0"/>
                      </a:lnTo>
                      <a:close/>
                    </a:path>
                  </a:pathLst>
                </a:custGeom>
                <a:solidFill>
                  <a:srgbClr val="99CCFF"/>
                </a:solidFill>
                <a:ln w="2540">
                  <a:solidFill>
                    <a:srgbClr val="4DB3E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396" name="Freeform 37">
                  <a:extLst>
                    <a:ext uri="{FF2B5EF4-FFF2-40B4-BE49-F238E27FC236}">
                      <a16:creationId xmlns:a16="http://schemas.microsoft.com/office/drawing/2014/main" id="{BF637098-F47A-B5DA-37D0-C5998E884E4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20000" cy="20000"/>
                </a:xfrm>
                <a:custGeom>
                  <a:avLst/>
                  <a:gdLst>
                    <a:gd name="T0" fmla="*/ 19977 w 20000"/>
                    <a:gd name="T1" fmla="*/ 0 h 20000"/>
                    <a:gd name="T2" fmla="*/ 19977 w 20000"/>
                    <a:gd name="T3" fmla="*/ 19929 h 20000"/>
                    <a:gd name="T4" fmla="*/ 0 w 20000"/>
                    <a:gd name="T5" fmla="*/ 19929 h 20000"/>
                    <a:gd name="T6" fmla="*/ 0 w 20000"/>
                    <a:gd name="T7" fmla="*/ 0 h 20000"/>
                    <a:gd name="T8" fmla="*/ 19977 w 20000"/>
                    <a:gd name="T9" fmla="*/ 0 h 200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000"/>
                    <a:gd name="T16" fmla="*/ 0 h 20000"/>
                    <a:gd name="T17" fmla="*/ 20000 w 20000"/>
                    <a:gd name="T18" fmla="*/ 20000 h 200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000" h="20000">
                      <a:moveTo>
                        <a:pt x="19977" y="0"/>
                      </a:moveTo>
                      <a:lnTo>
                        <a:pt x="19977" y="19929"/>
                      </a:lnTo>
                      <a:lnTo>
                        <a:pt x="0" y="19929"/>
                      </a:lnTo>
                      <a:lnTo>
                        <a:pt x="0" y="0"/>
                      </a:lnTo>
                      <a:lnTo>
                        <a:pt x="19977" y="0"/>
                      </a:lnTo>
                      <a:close/>
                    </a:path>
                  </a:pathLst>
                </a:custGeom>
                <a:solidFill>
                  <a:srgbClr val="99CCFF"/>
                </a:solidFill>
                <a:ln w="254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5394" name="Rectangle 38">
                <a:extLst>
                  <a:ext uri="{FF2B5EF4-FFF2-40B4-BE49-F238E27FC236}">
                    <a16:creationId xmlns:a16="http://schemas.microsoft.com/office/drawing/2014/main" id="{051EDB9B-0D9F-5FC0-FC2F-A340A10C09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4" y="3213"/>
                <a:ext cx="690" cy="1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1600" b="1" noProof="1">
                    <a:solidFill>
                      <a:srgbClr val="00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Cube</a:t>
                </a:r>
              </a:p>
            </p:txBody>
          </p:sp>
        </p:grpSp>
        <p:grpSp>
          <p:nvGrpSpPr>
            <p:cNvPr id="15377" name="Group 39">
              <a:extLst>
                <a:ext uri="{FF2B5EF4-FFF2-40B4-BE49-F238E27FC236}">
                  <a16:creationId xmlns:a16="http://schemas.microsoft.com/office/drawing/2014/main" id="{A5CC8162-ECC3-83A6-CB98-20D32EBF93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18" y="3126"/>
              <a:ext cx="909" cy="289"/>
              <a:chOff x="4618" y="3126"/>
              <a:chExt cx="909" cy="289"/>
            </a:xfrm>
          </p:grpSpPr>
          <p:grpSp>
            <p:nvGrpSpPr>
              <p:cNvPr id="15389" name="Group 40">
                <a:extLst>
                  <a:ext uri="{FF2B5EF4-FFF2-40B4-BE49-F238E27FC236}">
                    <a16:creationId xmlns:a16="http://schemas.microsoft.com/office/drawing/2014/main" id="{149727F5-8A3A-F94C-6A73-E66EAD7FAAF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19" y="3126"/>
                <a:ext cx="908" cy="289"/>
                <a:chOff x="0" y="0"/>
                <a:chExt cx="20000" cy="20000"/>
              </a:xfrm>
            </p:grpSpPr>
            <p:sp>
              <p:nvSpPr>
                <p:cNvPr id="15391" name="Freeform 41">
                  <a:extLst>
                    <a:ext uri="{FF2B5EF4-FFF2-40B4-BE49-F238E27FC236}">
                      <a16:creationId xmlns:a16="http://schemas.microsoft.com/office/drawing/2014/main" id="{BB9E3204-FBCF-15E3-233C-5C078C174E0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20000" cy="20000"/>
                </a:xfrm>
                <a:custGeom>
                  <a:avLst/>
                  <a:gdLst>
                    <a:gd name="T0" fmla="*/ 19983 w 20000"/>
                    <a:gd name="T1" fmla="*/ 0 h 20000"/>
                    <a:gd name="T2" fmla="*/ 19983 w 20000"/>
                    <a:gd name="T3" fmla="*/ 19929 h 20000"/>
                    <a:gd name="T4" fmla="*/ 0 w 20000"/>
                    <a:gd name="T5" fmla="*/ 19929 h 20000"/>
                    <a:gd name="T6" fmla="*/ 0 w 20000"/>
                    <a:gd name="T7" fmla="*/ 0 h 20000"/>
                    <a:gd name="T8" fmla="*/ 19983 w 20000"/>
                    <a:gd name="T9" fmla="*/ 0 h 200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000"/>
                    <a:gd name="T16" fmla="*/ 0 h 20000"/>
                    <a:gd name="T17" fmla="*/ 20000 w 20000"/>
                    <a:gd name="T18" fmla="*/ 20000 h 200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000" h="20000">
                      <a:moveTo>
                        <a:pt x="19983" y="0"/>
                      </a:moveTo>
                      <a:lnTo>
                        <a:pt x="19983" y="19929"/>
                      </a:lnTo>
                      <a:lnTo>
                        <a:pt x="0" y="19929"/>
                      </a:lnTo>
                      <a:lnTo>
                        <a:pt x="0" y="0"/>
                      </a:lnTo>
                      <a:lnTo>
                        <a:pt x="19983" y="0"/>
                      </a:lnTo>
                      <a:close/>
                    </a:path>
                  </a:pathLst>
                </a:custGeom>
                <a:solidFill>
                  <a:srgbClr val="99CCFF"/>
                </a:solidFill>
                <a:ln w="2540">
                  <a:solidFill>
                    <a:srgbClr val="4DB3E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392" name="Freeform 42">
                  <a:extLst>
                    <a:ext uri="{FF2B5EF4-FFF2-40B4-BE49-F238E27FC236}">
                      <a16:creationId xmlns:a16="http://schemas.microsoft.com/office/drawing/2014/main" id="{C39A34D1-D32E-7C00-7373-699EFA4DB80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20000" cy="20000"/>
                </a:xfrm>
                <a:custGeom>
                  <a:avLst/>
                  <a:gdLst>
                    <a:gd name="T0" fmla="*/ 19983 w 20000"/>
                    <a:gd name="T1" fmla="*/ 0 h 20000"/>
                    <a:gd name="T2" fmla="*/ 19983 w 20000"/>
                    <a:gd name="T3" fmla="*/ 19929 h 20000"/>
                    <a:gd name="T4" fmla="*/ 0 w 20000"/>
                    <a:gd name="T5" fmla="*/ 19929 h 20000"/>
                    <a:gd name="T6" fmla="*/ 0 w 20000"/>
                    <a:gd name="T7" fmla="*/ 0 h 20000"/>
                    <a:gd name="T8" fmla="*/ 19983 w 20000"/>
                    <a:gd name="T9" fmla="*/ 0 h 200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000"/>
                    <a:gd name="T16" fmla="*/ 0 h 20000"/>
                    <a:gd name="T17" fmla="*/ 20000 w 20000"/>
                    <a:gd name="T18" fmla="*/ 20000 h 200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000" h="20000">
                      <a:moveTo>
                        <a:pt x="19983" y="0"/>
                      </a:moveTo>
                      <a:lnTo>
                        <a:pt x="19983" y="19929"/>
                      </a:lnTo>
                      <a:lnTo>
                        <a:pt x="0" y="19929"/>
                      </a:lnTo>
                      <a:lnTo>
                        <a:pt x="0" y="0"/>
                      </a:lnTo>
                      <a:lnTo>
                        <a:pt x="19983" y="0"/>
                      </a:lnTo>
                      <a:close/>
                    </a:path>
                  </a:pathLst>
                </a:custGeom>
                <a:solidFill>
                  <a:srgbClr val="99CCFF"/>
                </a:solidFill>
                <a:ln w="254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5390" name="Rectangle 43">
                <a:extLst>
                  <a:ext uri="{FF2B5EF4-FFF2-40B4-BE49-F238E27FC236}">
                    <a16:creationId xmlns:a16="http://schemas.microsoft.com/office/drawing/2014/main" id="{4A10FF23-1C78-FB80-0EA1-E6B284EBA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18" y="3213"/>
                <a:ext cx="909" cy="1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1600" b="1" noProof="1">
                    <a:solidFill>
                      <a:srgbClr val="00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Tetrahedron</a:t>
                </a:r>
              </a:p>
            </p:txBody>
          </p:sp>
        </p:grpSp>
        <p:grpSp>
          <p:nvGrpSpPr>
            <p:cNvPr id="15378" name="Group 44">
              <a:extLst>
                <a:ext uri="{FF2B5EF4-FFF2-40B4-BE49-F238E27FC236}">
                  <a16:creationId xmlns:a16="http://schemas.microsoft.com/office/drawing/2014/main" id="{ADFC55BA-49FB-164F-42E9-C65B1196F2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16" y="1585"/>
              <a:ext cx="1629" cy="538"/>
              <a:chOff x="0" y="0"/>
              <a:chExt cx="20002" cy="20000"/>
            </a:xfrm>
          </p:grpSpPr>
          <p:sp>
            <p:nvSpPr>
              <p:cNvPr id="15387" name="Freeform 45">
                <a:extLst>
                  <a:ext uri="{FF2B5EF4-FFF2-40B4-BE49-F238E27FC236}">
                    <a16:creationId xmlns:a16="http://schemas.microsoft.com/office/drawing/2014/main" id="{01763757-91CE-78C2-A78E-7C7A867D21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4998" cy="20000"/>
              </a:xfrm>
              <a:custGeom>
                <a:avLst/>
                <a:gdLst>
                  <a:gd name="T0" fmla="*/ 0 w 20000"/>
                  <a:gd name="T1" fmla="*/ 19962 h 20000"/>
                  <a:gd name="T2" fmla="*/ 0 w 20000"/>
                  <a:gd name="T3" fmla="*/ 0 h 20000"/>
                  <a:gd name="T4" fmla="*/ 0 60000 65536"/>
                  <a:gd name="T5" fmla="*/ 0 60000 65536"/>
                  <a:gd name="T6" fmla="*/ 0 w 20000"/>
                  <a:gd name="T7" fmla="*/ 0 h 20000"/>
                  <a:gd name="T8" fmla="*/ 20000 w 20000"/>
                  <a:gd name="T9" fmla="*/ 20000 h 2000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0000" h="20000">
                    <a:moveTo>
                      <a:pt x="0" y="19962"/>
                    </a:moveTo>
                    <a:lnTo>
                      <a:pt x="19962" y="0"/>
                    </a:lnTo>
                  </a:path>
                </a:pathLst>
              </a:custGeom>
              <a:solidFill>
                <a:srgbClr val="99CCFF"/>
              </a:solidFill>
              <a:ln w="2540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88" name="Freeform 46">
                <a:extLst>
                  <a:ext uri="{FF2B5EF4-FFF2-40B4-BE49-F238E27FC236}">
                    <a16:creationId xmlns:a16="http://schemas.microsoft.com/office/drawing/2014/main" id="{9A866D03-DB00-02F5-C056-2A5E21B00B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97" y="0"/>
                <a:ext cx="5005" cy="20000"/>
              </a:xfrm>
              <a:custGeom>
                <a:avLst/>
                <a:gdLst>
                  <a:gd name="T0" fmla="*/ 0 w 20000"/>
                  <a:gd name="T1" fmla="*/ 19962 h 20000"/>
                  <a:gd name="T2" fmla="*/ 0 w 20000"/>
                  <a:gd name="T3" fmla="*/ 0 h 20000"/>
                  <a:gd name="T4" fmla="*/ 0 60000 65536"/>
                  <a:gd name="T5" fmla="*/ 0 60000 65536"/>
                  <a:gd name="T6" fmla="*/ 0 w 20000"/>
                  <a:gd name="T7" fmla="*/ 0 h 20000"/>
                  <a:gd name="T8" fmla="*/ 20000 w 20000"/>
                  <a:gd name="T9" fmla="*/ 20000 h 2000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0000" h="20000">
                    <a:moveTo>
                      <a:pt x="19962" y="19962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99CCFF"/>
              </a:solidFill>
              <a:ln w="2540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379" name="Group 47">
              <a:extLst>
                <a:ext uri="{FF2B5EF4-FFF2-40B4-BE49-F238E27FC236}">
                  <a16:creationId xmlns:a16="http://schemas.microsoft.com/office/drawing/2014/main" id="{257C4E9C-20A4-2F51-2420-4EC367936D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7" y="2412"/>
              <a:ext cx="1567" cy="714"/>
              <a:chOff x="-767" y="0"/>
              <a:chExt cx="21534" cy="20000"/>
            </a:xfrm>
          </p:grpSpPr>
          <p:sp>
            <p:nvSpPr>
              <p:cNvPr id="15384" name="Freeform 48">
                <a:extLst>
                  <a:ext uri="{FF2B5EF4-FFF2-40B4-BE49-F238E27FC236}">
                    <a16:creationId xmlns:a16="http://schemas.microsoft.com/office/drawing/2014/main" id="{1D53BB99-AD75-7536-1845-BFD6A118AB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91" y="0"/>
                <a:ext cx="11" cy="20000"/>
              </a:xfrm>
              <a:custGeom>
                <a:avLst/>
                <a:gdLst>
                  <a:gd name="T0" fmla="*/ 0 w 20000"/>
                  <a:gd name="T1" fmla="*/ 19971 h 20000"/>
                  <a:gd name="T2" fmla="*/ 0 w 20000"/>
                  <a:gd name="T3" fmla="*/ 0 h 20000"/>
                  <a:gd name="T4" fmla="*/ 0 60000 65536"/>
                  <a:gd name="T5" fmla="*/ 0 60000 65536"/>
                  <a:gd name="T6" fmla="*/ 0 w 20000"/>
                  <a:gd name="T7" fmla="*/ 0 h 20000"/>
                  <a:gd name="T8" fmla="*/ 20000 w 20000"/>
                  <a:gd name="T9" fmla="*/ 20000 h 2000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0000" h="20000">
                    <a:moveTo>
                      <a:pt x="0" y="19971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99CCFF"/>
              </a:solidFill>
              <a:ln w="2540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85" name="Freeform 49">
                <a:extLst>
                  <a:ext uri="{FF2B5EF4-FFF2-40B4-BE49-F238E27FC236}">
                    <a16:creationId xmlns:a16="http://schemas.microsoft.com/office/drawing/2014/main" id="{E4D7125F-2E26-AD46-9F31-078D3985F8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767" y="0"/>
                <a:ext cx="7377" cy="20000"/>
              </a:xfrm>
              <a:custGeom>
                <a:avLst/>
                <a:gdLst>
                  <a:gd name="T0" fmla="*/ 0 w 20000"/>
                  <a:gd name="T1" fmla="*/ 19971 h 20000"/>
                  <a:gd name="T2" fmla="*/ 0 w 20000"/>
                  <a:gd name="T3" fmla="*/ 0 h 20000"/>
                  <a:gd name="T4" fmla="*/ 0 60000 65536"/>
                  <a:gd name="T5" fmla="*/ 0 60000 65536"/>
                  <a:gd name="T6" fmla="*/ 0 w 20000"/>
                  <a:gd name="T7" fmla="*/ 0 h 20000"/>
                  <a:gd name="T8" fmla="*/ 20000 w 20000"/>
                  <a:gd name="T9" fmla="*/ 20000 h 2000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0000" h="20000">
                    <a:moveTo>
                      <a:pt x="0" y="19971"/>
                    </a:moveTo>
                    <a:lnTo>
                      <a:pt x="19971" y="0"/>
                    </a:lnTo>
                  </a:path>
                </a:pathLst>
              </a:custGeom>
              <a:solidFill>
                <a:srgbClr val="99CCFF"/>
              </a:solidFill>
              <a:ln w="2540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86" name="Freeform 50">
                <a:extLst>
                  <a:ext uri="{FF2B5EF4-FFF2-40B4-BE49-F238E27FC236}">
                    <a16:creationId xmlns:a16="http://schemas.microsoft.com/office/drawing/2014/main" id="{120B042B-9993-06C4-7516-24E90F2563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94" y="0"/>
                <a:ext cx="7373" cy="20000"/>
              </a:xfrm>
              <a:custGeom>
                <a:avLst/>
                <a:gdLst>
                  <a:gd name="T0" fmla="*/ 0 w 20000"/>
                  <a:gd name="T1" fmla="*/ 19971 h 20000"/>
                  <a:gd name="T2" fmla="*/ 0 w 20000"/>
                  <a:gd name="T3" fmla="*/ 0 h 20000"/>
                  <a:gd name="T4" fmla="*/ 0 60000 65536"/>
                  <a:gd name="T5" fmla="*/ 0 60000 65536"/>
                  <a:gd name="T6" fmla="*/ 0 w 20000"/>
                  <a:gd name="T7" fmla="*/ 0 h 20000"/>
                  <a:gd name="T8" fmla="*/ 20000 w 20000"/>
                  <a:gd name="T9" fmla="*/ 20000 h 2000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0000" h="20000">
                    <a:moveTo>
                      <a:pt x="19971" y="19971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99CCFF"/>
              </a:solidFill>
              <a:ln w="2540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380" name="Group 51">
              <a:extLst>
                <a:ext uri="{FF2B5EF4-FFF2-40B4-BE49-F238E27FC236}">
                  <a16:creationId xmlns:a16="http://schemas.microsoft.com/office/drawing/2014/main" id="{01FFFAFA-E2BE-E594-7780-F8CC4DA341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05" y="2412"/>
              <a:ext cx="1566" cy="714"/>
              <a:chOff x="215" y="0"/>
              <a:chExt cx="19569" cy="20000"/>
            </a:xfrm>
          </p:grpSpPr>
          <p:sp>
            <p:nvSpPr>
              <p:cNvPr id="15381" name="Freeform 52">
                <a:extLst>
                  <a:ext uri="{FF2B5EF4-FFF2-40B4-BE49-F238E27FC236}">
                    <a16:creationId xmlns:a16="http://schemas.microsoft.com/office/drawing/2014/main" id="{C4B53A65-EAD9-6D6E-0E69-F81B9FD65E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88" y="0"/>
                <a:ext cx="10" cy="20000"/>
              </a:xfrm>
              <a:custGeom>
                <a:avLst/>
                <a:gdLst>
                  <a:gd name="T0" fmla="*/ 0 w 20000"/>
                  <a:gd name="T1" fmla="*/ 19971 h 20000"/>
                  <a:gd name="T2" fmla="*/ 0 w 20000"/>
                  <a:gd name="T3" fmla="*/ 0 h 20000"/>
                  <a:gd name="T4" fmla="*/ 0 60000 65536"/>
                  <a:gd name="T5" fmla="*/ 0 60000 65536"/>
                  <a:gd name="T6" fmla="*/ 0 w 20000"/>
                  <a:gd name="T7" fmla="*/ 0 h 20000"/>
                  <a:gd name="T8" fmla="*/ 20000 w 20000"/>
                  <a:gd name="T9" fmla="*/ 20000 h 2000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0000" h="20000">
                    <a:moveTo>
                      <a:pt x="0" y="19971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99CCFF"/>
              </a:solidFill>
              <a:ln w="2540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82" name="Freeform 53">
                <a:extLst>
                  <a:ext uri="{FF2B5EF4-FFF2-40B4-BE49-F238E27FC236}">
                    <a16:creationId xmlns:a16="http://schemas.microsoft.com/office/drawing/2014/main" id="{60796F81-A665-F5D7-B888-0B92EB180B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" y="0"/>
                <a:ext cx="6700" cy="20000"/>
              </a:xfrm>
              <a:custGeom>
                <a:avLst/>
                <a:gdLst>
                  <a:gd name="T0" fmla="*/ 0 w 20000"/>
                  <a:gd name="T1" fmla="*/ 19971 h 20000"/>
                  <a:gd name="T2" fmla="*/ 0 w 20000"/>
                  <a:gd name="T3" fmla="*/ 0 h 20000"/>
                  <a:gd name="T4" fmla="*/ 0 60000 65536"/>
                  <a:gd name="T5" fmla="*/ 0 60000 65536"/>
                  <a:gd name="T6" fmla="*/ 0 w 20000"/>
                  <a:gd name="T7" fmla="*/ 0 h 20000"/>
                  <a:gd name="T8" fmla="*/ 20000 w 20000"/>
                  <a:gd name="T9" fmla="*/ 20000 h 2000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0000" h="20000">
                    <a:moveTo>
                      <a:pt x="0" y="19971"/>
                    </a:moveTo>
                    <a:lnTo>
                      <a:pt x="19971" y="0"/>
                    </a:lnTo>
                  </a:path>
                </a:pathLst>
              </a:custGeom>
              <a:solidFill>
                <a:srgbClr val="99CCFF"/>
              </a:solidFill>
              <a:ln w="2540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83" name="Freeform 54">
                <a:extLst>
                  <a:ext uri="{FF2B5EF4-FFF2-40B4-BE49-F238E27FC236}">
                    <a16:creationId xmlns:a16="http://schemas.microsoft.com/office/drawing/2014/main" id="{47752B9B-9A82-B753-F434-D6F8067DC1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81" y="0"/>
                <a:ext cx="6703" cy="20000"/>
              </a:xfrm>
              <a:custGeom>
                <a:avLst/>
                <a:gdLst>
                  <a:gd name="T0" fmla="*/ 0 w 20000"/>
                  <a:gd name="T1" fmla="*/ 19971 h 20000"/>
                  <a:gd name="T2" fmla="*/ 0 w 20000"/>
                  <a:gd name="T3" fmla="*/ 0 h 20000"/>
                  <a:gd name="T4" fmla="*/ 0 60000 65536"/>
                  <a:gd name="T5" fmla="*/ 0 60000 65536"/>
                  <a:gd name="T6" fmla="*/ 0 w 20000"/>
                  <a:gd name="T7" fmla="*/ 0 h 20000"/>
                  <a:gd name="T8" fmla="*/ 20000 w 20000"/>
                  <a:gd name="T9" fmla="*/ 20000 h 2000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0000" h="20000">
                    <a:moveTo>
                      <a:pt x="19971" y="19971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99CCFF"/>
              </a:solidFill>
              <a:ln w="2540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D3AA7123-0BB4-4429-AD7B-38E408D2CE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Why Inheritance?</a:t>
            </a:r>
          </a:p>
        </p:txBody>
      </p:sp>
      <p:sp>
        <p:nvSpPr>
          <p:cNvPr id="17412" name="Slide Number Placeholder 4">
            <a:extLst>
              <a:ext uri="{FF2B5EF4-FFF2-40B4-BE49-F238E27FC236}">
                <a16:creationId xmlns:a16="http://schemas.microsoft.com/office/drawing/2014/main" id="{D6EA2C55-6E11-A19C-B8CD-A5C03D2D70B5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DDEC7F1D-A2C4-924C-B4B7-2CAB1C278FFB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31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17413" name="Picture 10">
            <a:extLst>
              <a:ext uri="{FF2B5EF4-FFF2-40B4-BE49-F238E27FC236}">
                <a16:creationId xmlns:a16="http://schemas.microsoft.com/office/drawing/2014/main" id="{356E2607-0D1E-4871-ABE0-1F470C0675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063" y="1524000"/>
            <a:ext cx="7297737" cy="439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D0E08C2B-40DC-74B5-4E66-9960DEF99A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Why Inheritance?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AC732DB7-367C-F86F-AF0C-BCB290AF886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686800" cy="5105400"/>
          </a:xfrm>
        </p:spPr>
        <p:txBody>
          <a:bodyPr/>
          <a:lstStyle/>
          <a:p>
            <a:pPr algn="just"/>
            <a:r>
              <a:rPr lang="en-US" altLang="en-US"/>
              <a:t>Inheritance provides us a mechanism of software </a:t>
            </a:r>
            <a:r>
              <a:rPr lang="en-US" altLang="en-US">
                <a:solidFill>
                  <a:srgbClr val="0070C0"/>
                </a:solidFill>
              </a:rPr>
              <a:t>reusability </a:t>
            </a:r>
            <a:r>
              <a:rPr lang="en-US" altLang="en-US"/>
              <a:t>which is one of the most important principles of software engineering</a:t>
            </a:r>
          </a:p>
          <a:p>
            <a:pPr algn="just"/>
            <a:endParaRPr lang="en-US" altLang="en-US"/>
          </a:p>
          <a:p>
            <a:pPr algn="just"/>
            <a:r>
              <a:rPr lang="en-US" altLang="en-US"/>
              <a:t>Show similarities</a:t>
            </a:r>
          </a:p>
          <a:p>
            <a:pPr algn="just"/>
            <a:endParaRPr lang="en-US" altLang="en-US"/>
          </a:p>
          <a:p>
            <a:pPr algn="just"/>
            <a:r>
              <a:rPr lang="en-US" altLang="en-US"/>
              <a:t>Easy modification by performing </a:t>
            </a:r>
            <a:r>
              <a:rPr lang="en-US" altLang="en-US">
                <a:solidFill>
                  <a:srgbClr val="0070C0"/>
                </a:solidFill>
              </a:rPr>
              <a:t>modification in one place </a:t>
            </a:r>
          </a:p>
          <a:p>
            <a:pPr algn="just"/>
            <a:endParaRPr lang="en-US" altLang="en-US">
              <a:solidFill>
                <a:srgbClr val="0070C0"/>
              </a:solidFill>
            </a:endParaRPr>
          </a:p>
          <a:p>
            <a:pPr algn="just"/>
            <a:r>
              <a:rPr lang="en-US" altLang="en-US">
                <a:solidFill>
                  <a:srgbClr val="0070C0"/>
                </a:solidFill>
              </a:rPr>
              <a:t>Avoid redundancy</a:t>
            </a:r>
            <a:r>
              <a:rPr lang="en-US" altLang="en-US"/>
              <a:t>, leading to smaller and more efficient model, easier to understand</a:t>
            </a:r>
          </a:p>
        </p:txBody>
      </p:sp>
      <p:sp>
        <p:nvSpPr>
          <p:cNvPr id="18437" name="Slide Number Placeholder 4">
            <a:extLst>
              <a:ext uri="{FF2B5EF4-FFF2-40B4-BE49-F238E27FC236}">
                <a16:creationId xmlns:a16="http://schemas.microsoft.com/office/drawing/2014/main" id="{18235C10-D6E9-D9B6-3ECE-CF6F1E13B021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1A4695D3-4B40-9848-8862-29533F5190D7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32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9C92C2E1-8E1B-C4D2-5B57-1B3A3CC7EF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Inheritance – Terminology and Notation</a:t>
            </a: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3B3D726A-7E88-F6A2-7045-102D663E43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686800" cy="5105400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en-US" sz="1800" b="1" dirty="0">
                <a:solidFill>
                  <a:srgbClr val="0070C0"/>
                </a:solidFill>
              </a:rPr>
              <a:t>Base class </a:t>
            </a:r>
            <a:r>
              <a:rPr lang="en-US" altLang="en-US" sz="1800" dirty="0"/>
              <a:t>(or parent or superclass) – inherited from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endParaRPr lang="en-US" altLang="en-US" sz="1800" dirty="0"/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en-US" sz="1800" b="1" dirty="0">
                <a:solidFill>
                  <a:srgbClr val="0070C0"/>
                </a:solidFill>
              </a:rPr>
              <a:t>Derived class </a:t>
            </a:r>
            <a:r>
              <a:rPr lang="en-US" altLang="en-US" sz="1800" dirty="0"/>
              <a:t>(or child or subclass) – inherits from the base class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endParaRPr lang="en-US" altLang="en-US" sz="1800" dirty="0"/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en-US" sz="1800" b="1" u="sng" dirty="0"/>
              <a:t>Notation: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endParaRPr lang="en-US" altLang="en-US" sz="1800" b="1" u="sng" dirty="0"/>
          </a:p>
          <a:p>
            <a:pPr lvl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en-US" sz="1500" dirty="0">
                <a:latin typeface="Courier New" panose="02070309020205020404" pitchFamily="49" charset="0"/>
              </a:rPr>
              <a:t>	</a:t>
            </a:r>
            <a:r>
              <a:rPr lang="en-US" altLang="en-US" sz="1500" b="1" dirty="0">
                <a:latin typeface="Courier New" panose="02070309020205020404" pitchFamily="49" charset="0"/>
              </a:rPr>
              <a:t>class Student 	      // base class</a:t>
            </a:r>
          </a:p>
          <a:p>
            <a:pPr lvl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en-US" sz="1500" b="1" dirty="0">
                <a:latin typeface="Courier New" panose="02070309020205020404" pitchFamily="49" charset="0"/>
              </a:rPr>
              <a:t>	{</a:t>
            </a:r>
          </a:p>
          <a:p>
            <a:pPr lvl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en-US" sz="1500" b="1" dirty="0">
                <a:latin typeface="Courier New" panose="02070309020205020404" pitchFamily="49" charset="0"/>
              </a:rPr>
              <a:t>		</a:t>
            </a:r>
          </a:p>
          <a:p>
            <a:pPr lvl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en-US" sz="1500" b="1" dirty="0">
                <a:latin typeface="Courier New" panose="02070309020205020404" pitchFamily="49" charset="0"/>
              </a:rPr>
              <a:t>	};</a:t>
            </a:r>
          </a:p>
          <a:p>
            <a:pPr lvl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en-US" altLang="en-US" sz="1500" b="1" dirty="0">
              <a:latin typeface="Courier New" panose="02070309020205020404" pitchFamily="49" charset="0"/>
            </a:endParaRPr>
          </a:p>
          <a:p>
            <a:pPr lvl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en-US" sz="1500" b="1" dirty="0">
                <a:latin typeface="Courier New" panose="02070309020205020404" pitchFamily="49" charset="0"/>
              </a:rPr>
              <a:t>	class </a:t>
            </a:r>
            <a:r>
              <a:rPr lang="en-US" altLang="en-US" sz="1500" b="1" dirty="0" err="1">
                <a:latin typeface="Courier New" panose="02070309020205020404" pitchFamily="49" charset="0"/>
              </a:rPr>
              <a:t>UnderGrad</a:t>
            </a:r>
            <a:r>
              <a:rPr lang="en-US" altLang="en-US" sz="1500" b="1" dirty="0">
                <a:latin typeface="Courier New" panose="02070309020205020404" pitchFamily="49" charset="0"/>
              </a:rPr>
              <a:t> </a:t>
            </a:r>
            <a:r>
              <a:rPr lang="en-US" altLang="en-US" sz="1500" b="1" dirty="0">
                <a:solidFill>
                  <a:srgbClr val="FF0000"/>
                </a:solidFill>
                <a:latin typeface="Courier New" panose="02070309020205020404" pitchFamily="49" charset="0"/>
              </a:rPr>
              <a:t>:</a:t>
            </a:r>
            <a:r>
              <a:rPr lang="en-US" altLang="en-US" sz="1500" b="1" dirty="0">
                <a:latin typeface="Courier New" panose="02070309020205020404" pitchFamily="49" charset="0"/>
              </a:rPr>
              <a:t> </a:t>
            </a:r>
            <a:r>
              <a:rPr lang="en-US" altLang="en-US" sz="1500" b="1" dirty="0">
                <a:solidFill>
                  <a:srgbClr val="FF0000"/>
                </a:solidFill>
                <a:latin typeface="Courier New" panose="02070309020205020404" pitchFamily="49" charset="0"/>
              </a:rPr>
              <a:t>public</a:t>
            </a:r>
            <a:r>
              <a:rPr lang="en-US" altLang="en-US" sz="1500" b="1" dirty="0">
                <a:latin typeface="Courier New" panose="02070309020205020404" pitchFamily="49" charset="0"/>
              </a:rPr>
              <a:t> </a:t>
            </a:r>
            <a:r>
              <a:rPr lang="en-US" altLang="en-US" sz="1500" b="1" dirty="0">
                <a:solidFill>
                  <a:srgbClr val="FF0000"/>
                </a:solidFill>
                <a:latin typeface="Courier New" panose="02070309020205020404" pitchFamily="49" charset="0"/>
              </a:rPr>
              <a:t>Student</a:t>
            </a:r>
            <a:r>
              <a:rPr lang="en-US" altLang="en-US" sz="1500" b="1" dirty="0">
                <a:latin typeface="Courier New" panose="02070309020205020404" pitchFamily="49" charset="0"/>
              </a:rPr>
              <a:t> </a:t>
            </a:r>
          </a:p>
          <a:p>
            <a:pPr lvl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en-US" sz="1500" b="1" dirty="0">
                <a:latin typeface="Courier New" panose="02070309020205020404" pitchFamily="49" charset="0"/>
              </a:rPr>
              <a:t>	{							// derived class</a:t>
            </a:r>
          </a:p>
          <a:p>
            <a:pPr lvl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en-US" sz="1500" b="1" dirty="0">
                <a:latin typeface="Courier New" panose="02070309020205020404" pitchFamily="49" charset="0"/>
              </a:rPr>
              <a:t>	};</a:t>
            </a:r>
            <a:endParaRPr lang="en-US" altLang="en-US" dirty="0"/>
          </a:p>
        </p:txBody>
      </p:sp>
      <p:sp>
        <p:nvSpPr>
          <p:cNvPr id="19461" name="Slide Number Placeholder 4">
            <a:extLst>
              <a:ext uri="{FF2B5EF4-FFF2-40B4-BE49-F238E27FC236}">
                <a16:creationId xmlns:a16="http://schemas.microsoft.com/office/drawing/2014/main" id="{B4FCE94E-A5CD-74A4-8BCD-ED327FB37B01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424BEDF2-B0EA-E04A-AFBF-D3299D719DA5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33</a:t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73D824FE-4ACB-FD51-D8CA-85409A5CA9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Inheriting Data and Functions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D2A42017-8DC0-64CE-28F0-1DE26F64D4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686800" cy="5105400"/>
          </a:xfrm>
        </p:spPr>
        <p:txBody>
          <a:bodyPr/>
          <a:lstStyle/>
          <a:p>
            <a:r>
              <a:rPr lang="en-US" altLang="en-US"/>
              <a:t>All data members and member functions of base class are inherited to derived class, except</a:t>
            </a:r>
          </a:p>
          <a:p>
            <a:endParaRPr lang="en-US" altLang="en-US"/>
          </a:p>
          <a:p>
            <a:r>
              <a:rPr lang="en-US" altLang="en-US"/>
              <a:t>Constructors, destructors and = operator are </a:t>
            </a:r>
            <a:r>
              <a:rPr lang="en-US" altLang="en-US" b="1" i="1">
                <a:solidFill>
                  <a:srgbClr val="0070C0"/>
                </a:solidFill>
              </a:rPr>
              <a:t>not inherited</a:t>
            </a:r>
          </a:p>
          <a:p>
            <a:endParaRPr lang="en-US" altLang="en-US"/>
          </a:p>
        </p:txBody>
      </p:sp>
      <p:sp>
        <p:nvSpPr>
          <p:cNvPr id="20485" name="Slide Number Placeholder 4">
            <a:extLst>
              <a:ext uri="{FF2B5EF4-FFF2-40B4-BE49-F238E27FC236}">
                <a16:creationId xmlns:a16="http://schemas.microsoft.com/office/drawing/2014/main" id="{C4A8321B-0456-FF7F-C5AA-416BD7348C2D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C308B72A-856E-CA44-833D-45C080AB2E6C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34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20486" name="Picture 4" descr="Comprehend Object-Oriented programming in 6 minutes - njkhanh">
            <a:extLst>
              <a:ext uri="{FF2B5EF4-FFF2-40B4-BE49-F238E27FC236}">
                <a16:creationId xmlns:a16="http://schemas.microsoft.com/office/drawing/2014/main" id="{6E0C5ABE-5F27-6766-13FB-5129F9D393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39" b="6339"/>
          <a:stretch>
            <a:fillRect/>
          </a:stretch>
        </p:blipFill>
        <p:spPr bwMode="auto">
          <a:xfrm>
            <a:off x="2857500" y="4071938"/>
            <a:ext cx="3429000" cy="1243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728F51DD-F9D0-D27C-A7A7-761220919D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What Does a Child Class Have?</a:t>
            </a:r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0DB63725-468E-A7AA-EF9E-0FE5DF646DF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686800" cy="5105400"/>
          </a:xfrm>
        </p:spPr>
        <p:txBody>
          <a:bodyPr/>
          <a:lstStyle/>
          <a:p>
            <a:pPr>
              <a:lnSpc>
                <a:spcPct val="90000"/>
              </a:lnSpc>
              <a:buFont typeface="Times" pitchFamily="18" charset="0"/>
              <a:buNone/>
            </a:pPr>
            <a:r>
              <a:rPr lang="en-US" altLang="en-US"/>
              <a:t>In the Student and underGrad example shown earlier:</a:t>
            </a:r>
          </a:p>
          <a:p>
            <a:pPr>
              <a:lnSpc>
                <a:spcPct val="90000"/>
              </a:lnSpc>
              <a:buFont typeface="Times" pitchFamily="18" charset="0"/>
              <a:buNone/>
            </a:pPr>
            <a:endParaRPr lang="en-US" altLang="en-US"/>
          </a:p>
          <a:p>
            <a:pPr>
              <a:lnSpc>
                <a:spcPct val="90000"/>
              </a:lnSpc>
              <a:buFont typeface="Times" pitchFamily="18" charset="0"/>
              <a:buNone/>
            </a:pPr>
            <a:r>
              <a:rPr lang="en-US" altLang="en-US"/>
              <a:t>An object of the </a:t>
            </a:r>
            <a:r>
              <a:rPr lang="en-US" altLang="en-US" i="1">
                <a:solidFill>
                  <a:srgbClr val="FF0000"/>
                </a:solidFill>
              </a:rPr>
              <a:t>derived class </a:t>
            </a:r>
            <a:r>
              <a:rPr lang="en-US" altLang="en-US"/>
              <a:t>has:</a:t>
            </a:r>
          </a:p>
          <a:p>
            <a:pPr>
              <a:lnSpc>
                <a:spcPct val="90000"/>
              </a:lnSpc>
            </a:pPr>
            <a:r>
              <a:rPr lang="en-US" altLang="en-US"/>
              <a:t>all members defined in child class</a:t>
            </a:r>
          </a:p>
          <a:p>
            <a:pPr>
              <a:lnSpc>
                <a:spcPct val="90000"/>
              </a:lnSpc>
            </a:pPr>
            <a:r>
              <a:rPr lang="en-US" altLang="en-US"/>
              <a:t>all members of the parent class </a:t>
            </a:r>
            <a:r>
              <a:rPr lang="en-US" altLang="en-US">
                <a:solidFill>
                  <a:srgbClr val="0070C0"/>
                </a:solidFill>
              </a:rPr>
              <a:t>except </a:t>
            </a:r>
            <a:r>
              <a:rPr lang="en-US" altLang="en-US"/>
              <a:t>constructors, destructors and operator=</a:t>
            </a:r>
            <a:br>
              <a:rPr lang="en-US" altLang="en-US"/>
            </a:br>
            <a:endParaRPr lang="en-US" altLang="en-US"/>
          </a:p>
          <a:p>
            <a:pPr>
              <a:lnSpc>
                <a:spcPct val="90000"/>
              </a:lnSpc>
              <a:buFont typeface="Times" pitchFamily="18" charset="0"/>
              <a:buNone/>
            </a:pPr>
            <a:r>
              <a:rPr lang="en-US" altLang="en-US"/>
              <a:t>An object of the </a:t>
            </a:r>
            <a:r>
              <a:rPr lang="en-US" altLang="en-US" i="1">
                <a:solidFill>
                  <a:srgbClr val="FF0000"/>
                </a:solidFill>
              </a:rPr>
              <a:t>derived class </a:t>
            </a:r>
            <a:r>
              <a:rPr lang="en-US" altLang="en-US"/>
              <a:t>can use:</a:t>
            </a:r>
          </a:p>
          <a:p>
            <a:pPr>
              <a:lnSpc>
                <a:spcPct val="90000"/>
              </a:lnSpc>
            </a:pPr>
            <a:r>
              <a:rPr lang="en-US" altLang="en-US"/>
              <a:t>all </a:t>
            </a:r>
            <a:r>
              <a:rPr lang="en-US" altLang="en-US" b="1">
                <a:solidFill>
                  <a:srgbClr val="FF0000"/>
                </a:solidFill>
                <a:latin typeface="Courier New" panose="02070309020205020404" pitchFamily="49" charset="0"/>
              </a:rPr>
              <a:t>public</a:t>
            </a:r>
            <a:r>
              <a:rPr lang="en-US" altLang="en-US"/>
              <a:t> members defined in child class</a:t>
            </a:r>
          </a:p>
          <a:p>
            <a:pPr>
              <a:lnSpc>
                <a:spcPct val="90000"/>
              </a:lnSpc>
            </a:pPr>
            <a:r>
              <a:rPr lang="en-US" altLang="en-US"/>
              <a:t>all </a:t>
            </a:r>
            <a:r>
              <a:rPr lang="en-US" altLang="en-US" b="1">
                <a:solidFill>
                  <a:srgbClr val="FF0000"/>
                </a:solidFill>
                <a:latin typeface="Courier New" panose="02070309020205020404" pitchFamily="49" charset="0"/>
              </a:rPr>
              <a:t>public</a:t>
            </a:r>
            <a:r>
              <a:rPr lang="en-US" altLang="en-US"/>
              <a:t> members defined in parent class</a:t>
            </a:r>
          </a:p>
        </p:txBody>
      </p:sp>
      <p:sp>
        <p:nvSpPr>
          <p:cNvPr id="21509" name="Slide Number Placeholder 4">
            <a:extLst>
              <a:ext uri="{FF2B5EF4-FFF2-40B4-BE49-F238E27FC236}">
                <a16:creationId xmlns:a16="http://schemas.microsoft.com/office/drawing/2014/main" id="{128EFA70-A5A0-6E56-B357-CCA6EDF7CF57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ACCC42D8-DE8C-2A40-8FD8-9BEEECD5019D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35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Slide Number Placeholder 2">
            <a:extLst>
              <a:ext uri="{FF2B5EF4-FFF2-40B4-BE49-F238E27FC236}">
                <a16:creationId xmlns:a16="http://schemas.microsoft.com/office/drawing/2014/main" id="{24287AC1-72A4-B77A-2F9F-204C42555934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4B49BA27-445E-F940-836E-FB09B67F2527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36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22532" name="Picture 5">
            <a:extLst>
              <a:ext uri="{FF2B5EF4-FFF2-40B4-BE49-F238E27FC236}">
                <a16:creationId xmlns:a16="http://schemas.microsoft.com/office/drawing/2014/main" id="{279763A5-C317-2DF7-747A-FFF039698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401638"/>
            <a:ext cx="7947025" cy="605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5E7F45A9-9558-BF5D-3537-01C13652D9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Protected Members and Class Access</a:t>
            </a: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16D087B3-5190-AA44-DE3E-BCCC13FC85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295400"/>
            <a:ext cx="8839200" cy="5105400"/>
          </a:xfrm>
        </p:spPr>
        <p:txBody>
          <a:bodyPr/>
          <a:lstStyle/>
          <a:p>
            <a:pPr algn="just"/>
            <a:r>
              <a:rPr lang="en-US" altLang="en-US" b="1">
                <a:solidFill>
                  <a:srgbClr val="FF0000"/>
                </a:solidFill>
                <a:latin typeface="Courier New" panose="02070309020205020404" pitchFamily="49" charset="0"/>
              </a:rPr>
              <a:t>protected</a:t>
            </a:r>
            <a:r>
              <a:rPr lang="en-US" altLang="en-US"/>
              <a:t> member access specification: like </a:t>
            </a:r>
            <a:r>
              <a:rPr lang="en-US" altLang="en-US" b="1">
                <a:latin typeface="Courier New" panose="02070309020205020404" pitchFamily="49" charset="0"/>
              </a:rPr>
              <a:t>private</a:t>
            </a:r>
            <a:r>
              <a:rPr lang="en-US" altLang="en-US"/>
              <a:t>, but accessible by objects of derived class</a:t>
            </a:r>
          </a:p>
        </p:txBody>
      </p:sp>
      <p:sp>
        <p:nvSpPr>
          <p:cNvPr id="23557" name="Slide Number Placeholder 4">
            <a:extLst>
              <a:ext uri="{FF2B5EF4-FFF2-40B4-BE49-F238E27FC236}">
                <a16:creationId xmlns:a16="http://schemas.microsoft.com/office/drawing/2014/main" id="{3033CAC2-902D-AB1F-19CA-F7AB9BAE97FB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82B9725F-C71A-744C-81D1-CF8BB4CC4F13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37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23558" name="Picture 5">
            <a:extLst>
              <a:ext uri="{FF2B5EF4-FFF2-40B4-BE49-F238E27FC236}">
                <a16:creationId xmlns:a16="http://schemas.microsoft.com/office/drawing/2014/main" id="{A293549B-FED3-2535-2E3F-FF9790C3F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819400"/>
            <a:ext cx="5926138" cy="164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Slide Number Placeholder 2">
            <a:extLst>
              <a:ext uri="{FF2B5EF4-FFF2-40B4-BE49-F238E27FC236}">
                <a16:creationId xmlns:a16="http://schemas.microsoft.com/office/drawing/2014/main" id="{61B9C9E5-DE53-BF01-94A1-00A8F44F44E5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B87DF890-A291-CA4E-BBF7-00923B28AB98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38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24580" name="Picture 3">
            <a:extLst>
              <a:ext uri="{FF2B5EF4-FFF2-40B4-BE49-F238E27FC236}">
                <a16:creationId xmlns:a16="http://schemas.microsoft.com/office/drawing/2014/main" id="{C7346FD6-A74C-8F47-2A88-E3BAD6BDA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85763"/>
            <a:ext cx="8050213" cy="608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8EE6BAB0-4B46-9113-2E16-DB779C9BB9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Protected Members and Class Access</a:t>
            </a:r>
          </a:p>
        </p:txBody>
      </p:sp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67B6230A-FA12-CC86-26D1-E754355E3D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295400"/>
            <a:ext cx="8839200" cy="5105400"/>
          </a:xfrm>
        </p:spPr>
        <p:txBody>
          <a:bodyPr/>
          <a:lstStyle/>
          <a:p>
            <a:pPr algn="just"/>
            <a:r>
              <a:rPr lang="en-US" altLang="en-US" b="1">
                <a:solidFill>
                  <a:srgbClr val="FF0000"/>
                </a:solidFill>
                <a:latin typeface="Courier New" panose="02070309020205020404" pitchFamily="49" charset="0"/>
              </a:rPr>
              <a:t>protected</a:t>
            </a:r>
            <a:r>
              <a:rPr lang="en-US" altLang="en-US"/>
              <a:t> member access specification: like </a:t>
            </a:r>
            <a:r>
              <a:rPr lang="en-US" altLang="en-US" b="1">
                <a:latin typeface="Courier New" panose="02070309020205020404" pitchFamily="49" charset="0"/>
              </a:rPr>
              <a:t>private</a:t>
            </a:r>
            <a:r>
              <a:rPr lang="en-US" altLang="en-US"/>
              <a:t>, but accessible by objects of derived class</a:t>
            </a:r>
          </a:p>
        </p:txBody>
      </p:sp>
      <p:sp>
        <p:nvSpPr>
          <p:cNvPr id="25605" name="Slide Number Placeholder 4">
            <a:extLst>
              <a:ext uri="{FF2B5EF4-FFF2-40B4-BE49-F238E27FC236}">
                <a16:creationId xmlns:a16="http://schemas.microsoft.com/office/drawing/2014/main" id="{99206C6C-5295-0EE4-B355-8CF89464D38C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75D45BD-2F92-6F43-B811-02F6934076A6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39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25606" name="Picture 5">
            <a:extLst>
              <a:ext uri="{FF2B5EF4-FFF2-40B4-BE49-F238E27FC236}">
                <a16:creationId xmlns:a16="http://schemas.microsoft.com/office/drawing/2014/main" id="{1FF9E4C1-22E2-FC00-4112-ECD63E9F3D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819400"/>
            <a:ext cx="6777038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F6FDB476-6BEC-7BF8-1D4B-AF7763CF87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Protected Members and Class Access</a:t>
            </a: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8F08C6F5-37D2-B3A0-F700-D0115E9617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1295400"/>
            <a:ext cx="8610600" cy="5105400"/>
          </a:xfrm>
        </p:spPr>
        <p:txBody>
          <a:bodyPr/>
          <a:lstStyle/>
          <a:p>
            <a:pPr algn="just"/>
            <a:r>
              <a:rPr lang="en-US" altLang="en-US" b="1">
                <a:solidFill>
                  <a:srgbClr val="FF0000"/>
                </a:solidFill>
                <a:latin typeface="Courier New" panose="02070309020205020404" pitchFamily="49" charset="0"/>
              </a:rPr>
              <a:t>protected</a:t>
            </a:r>
            <a:r>
              <a:rPr lang="en-US" altLang="en-US"/>
              <a:t> member access specification: like </a:t>
            </a:r>
            <a:r>
              <a:rPr lang="en-US" altLang="en-US" b="1">
                <a:latin typeface="Courier New" panose="02070309020205020404" pitchFamily="49" charset="0"/>
              </a:rPr>
              <a:t>private</a:t>
            </a:r>
            <a:r>
              <a:rPr lang="en-US" altLang="en-US"/>
              <a:t>, but accessible by objects of derived class</a:t>
            </a:r>
            <a:br>
              <a:rPr lang="en-US" altLang="en-US"/>
            </a:br>
            <a:endParaRPr lang="en-US" altLang="en-US"/>
          </a:p>
          <a:p>
            <a:pPr algn="just"/>
            <a:r>
              <a:rPr lang="en-US" altLang="en-US" u="sng"/>
              <a:t>Class access specification</a:t>
            </a:r>
            <a:r>
              <a:rPr lang="en-US" altLang="en-US"/>
              <a:t>: determines how </a:t>
            </a:r>
            <a:r>
              <a:rPr lang="en-US" altLang="en-US" b="1">
                <a:solidFill>
                  <a:srgbClr val="FF0000"/>
                </a:solidFill>
                <a:latin typeface="Courier New" panose="02070309020205020404" pitchFamily="49" charset="0"/>
              </a:rPr>
              <a:t>private</a:t>
            </a:r>
            <a:r>
              <a:rPr lang="en-US" altLang="en-US"/>
              <a:t>, </a:t>
            </a:r>
            <a:r>
              <a:rPr lang="en-US" altLang="en-US" b="1">
                <a:solidFill>
                  <a:srgbClr val="FF0000"/>
                </a:solidFill>
                <a:latin typeface="Courier New" panose="02070309020205020404" pitchFamily="49" charset="0"/>
              </a:rPr>
              <a:t>protected</a:t>
            </a:r>
            <a:r>
              <a:rPr lang="en-US" altLang="en-US"/>
              <a:t>, and </a:t>
            </a:r>
            <a:r>
              <a:rPr lang="en-US" altLang="en-US" b="1">
                <a:solidFill>
                  <a:srgbClr val="FF0000"/>
                </a:solidFill>
                <a:latin typeface="Courier New" panose="02070309020205020404" pitchFamily="49" charset="0"/>
              </a:rPr>
              <a:t>public</a:t>
            </a:r>
            <a:r>
              <a:rPr lang="en-US" altLang="en-US"/>
              <a:t> members of base class are inherited by the derived class</a:t>
            </a:r>
            <a:endParaRPr lang="en-US" altLang="en-US" u="sng"/>
          </a:p>
        </p:txBody>
      </p:sp>
      <p:sp>
        <p:nvSpPr>
          <p:cNvPr id="26629" name="Slide Number Placeholder 4">
            <a:extLst>
              <a:ext uri="{FF2B5EF4-FFF2-40B4-BE49-F238E27FC236}">
                <a16:creationId xmlns:a16="http://schemas.microsoft.com/office/drawing/2014/main" id="{0170263E-A8B0-601C-AAEE-E4C3E2B26DD5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22299D25-6DAA-164F-984A-DEAE990801CA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40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9CF31415-F0D4-5D5D-B0D8-8F08AE13F9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Inheritance Example 1</a:t>
            </a:r>
          </a:p>
        </p:txBody>
      </p:sp>
      <p:sp>
        <p:nvSpPr>
          <p:cNvPr id="27652" name="Slide Number Placeholder 4">
            <a:extLst>
              <a:ext uri="{FF2B5EF4-FFF2-40B4-BE49-F238E27FC236}">
                <a16:creationId xmlns:a16="http://schemas.microsoft.com/office/drawing/2014/main" id="{6C53D3DF-15F4-133B-3693-427771599A40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A502E0E3-CB6E-6D48-BA29-A867B1995900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41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27653" name="Picture 5">
            <a:extLst>
              <a:ext uri="{FF2B5EF4-FFF2-40B4-BE49-F238E27FC236}">
                <a16:creationId xmlns:a16="http://schemas.microsoft.com/office/drawing/2014/main" id="{40F5CA13-E0CF-330A-C73F-3BDCAED2DE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295400"/>
            <a:ext cx="7181850" cy="4659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08480E3A-4CDB-9EBA-ED72-A8002DBAB9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Inheritance Example 2</a:t>
            </a:r>
          </a:p>
        </p:txBody>
      </p:sp>
      <p:sp>
        <p:nvSpPr>
          <p:cNvPr id="28676" name="Slide Number Placeholder 4">
            <a:extLst>
              <a:ext uri="{FF2B5EF4-FFF2-40B4-BE49-F238E27FC236}">
                <a16:creationId xmlns:a16="http://schemas.microsoft.com/office/drawing/2014/main" id="{0F4CE2C2-CDB9-9411-1892-74C37D53828D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835D797E-528A-0E44-88AF-6D78A896EE07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42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28677" name="Picture 5">
            <a:extLst>
              <a:ext uri="{FF2B5EF4-FFF2-40B4-BE49-F238E27FC236}">
                <a16:creationId xmlns:a16="http://schemas.microsoft.com/office/drawing/2014/main" id="{DC621F2E-2122-05AD-3734-3564700C7C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1447800"/>
            <a:ext cx="7467600" cy="420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EF941A2A-97B4-5F66-6C37-1078AE46B6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Dangers of Protected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E0A9D-148E-55FB-3B37-C0A2C534D6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686800" cy="5105400"/>
          </a:xfrm>
        </p:spPr>
        <p:txBody>
          <a:bodyPr>
            <a:normAutofit fontScale="92500"/>
          </a:bodyPr>
          <a:lstStyle/>
          <a:p>
            <a:pPr algn="just">
              <a:defRPr/>
            </a:pPr>
            <a:r>
              <a:rPr lang="en-US" dirty="0"/>
              <a:t>You should know that there’s a </a:t>
            </a:r>
            <a:r>
              <a:rPr lang="en-US" dirty="0">
                <a:solidFill>
                  <a:srgbClr val="0070C0"/>
                </a:solidFill>
              </a:rPr>
              <a:t>disadvantage</a:t>
            </a:r>
            <a:r>
              <a:rPr lang="en-US" dirty="0"/>
              <a:t> to making class members </a:t>
            </a:r>
            <a:r>
              <a:rPr lang="en-US" dirty="0">
                <a:solidFill>
                  <a:srgbClr val="0070C0"/>
                </a:solidFill>
              </a:rPr>
              <a:t>protected</a:t>
            </a:r>
            <a:r>
              <a:rPr lang="en-US" dirty="0"/>
              <a:t>. </a:t>
            </a:r>
          </a:p>
          <a:p>
            <a:pPr algn="just">
              <a:defRPr/>
            </a:pPr>
            <a:endParaRPr lang="en-US" dirty="0"/>
          </a:p>
          <a:p>
            <a:pPr algn="just">
              <a:defRPr/>
            </a:pPr>
            <a:r>
              <a:rPr lang="en-US" dirty="0"/>
              <a:t>Say you’ve written a class library, which you’re distributing to the public. Any programmer can </a:t>
            </a:r>
            <a:r>
              <a:rPr lang="en-US" dirty="0">
                <a:solidFill>
                  <a:srgbClr val="0070C0"/>
                </a:solidFill>
              </a:rPr>
              <a:t>access protected members </a:t>
            </a:r>
            <a:r>
              <a:rPr lang="en-US" dirty="0"/>
              <a:t>of your classes simply by </a:t>
            </a:r>
            <a:r>
              <a:rPr lang="en-US" dirty="0">
                <a:solidFill>
                  <a:srgbClr val="0070C0"/>
                </a:solidFill>
              </a:rPr>
              <a:t>deriving other classes from them</a:t>
            </a:r>
            <a:r>
              <a:rPr lang="en-US" dirty="0"/>
              <a:t>. </a:t>
            </a:r>
          </a:p>
          <a:p>
            <a:pPr algn="just">
              <a:defRPr/>
            </a:pPr>
            <a:endParaRPr lang="en-US" dirty="0"/>
          </a:p>
          <a:p>
            <a:pPr algn="just">
              <a:defRPr/>
            </a:pPr>
            <a:r>
              <a:rPr lang="en-US" dirty="0"/>
              <a:t>This makes protected members considerably </a:t>
            </a:r>
            <a:r>
              <a:rPr lang="en-US" dirty="0">
                <a:solidFill>
                  <a:srgbClr val="FF0000"/>
                </a:solidFill>
              </a:rPr>
              <a:t>less secure </a:t>
            </a:r>
            <a:r>
              <a:rPr lang="en-US" dirty="0"/>
              <a:t>than private members. </a:t>
            </a:r>
          </a:p>
          <a:p>
            <a:pPr algn="just">
              <a:defRPr/>
            </a:pPr>
            <a:endParaRPr lang="en-US" dirty="0"/>
          </a:p>
          <a:p>
            <a:pPr algn="just">
              <a:defRPr/>
            </a:pPr>
            <a:r>
              <a:rPr lang="en-US" dirty="0"/>
              <a:t>To avoid corrupted data, it’s often </a:t>
            </a:r>
            <a:r>
              <a:rPr lang="en-US" dirty="0">
                <a:solidFill>
                  <a:srgbClr val="0070C0"/>
                </a:solidFill>
              </a:rPr>
              <a:t>safer to force derived classes</a:t>
            </a:r>
            <a:r>
              <a:rPr lang="en-US" dirty="0"/>
              <a:t> to access private data in the base class using only public setters and getters.</a:t>
            </a:r>
          </a:p>
        </p:txBody>
      </p:sp>
      <p:sp>
        <p:nvSpPr>
          <p:cNvPr id="29701" name="Slide Number Placeholder 4">
            <a:extLst>
              <a:ext uri="{FF2B5EF4-FFF2-40B4-BE49-F238E27FC236}">
                <a16:creationId xmlns:a16="http://schemas.microsoft.com/office/drawing/2014/main" id="{D0354D21-A8F0-D1B8-3635-15234F8E3710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148C0528-A285-A349-8B89-7C215E867C54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43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0C7ED91C-4852-894A-8F20-49F01C6413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Constructors and Destructors in Base and Derived Classes</a:t>
            </a:r>
          </a:p>
        </p:txBody>
      </p:sp>
      <p:sp>
        <p:nvSpPr>
          <p:cNvPr id="30723" name="Content Placeholder 2">
            <a:extLst>
              <a:ext uri="{FF2B5EF4-FFF2-40B4-BE49-F238E27FC236}">
                <a16:creationId xmlns:a16="http://schemas.microsoft.com/office/drawing/2014/main" id="{F2616E85-665F-DB1E-1674-FB6904AB03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1295400"/>
            <a:ext cx="8763000" cy="5105400"/>
          </a:xfrm>
        </p:spPr>
        <p:txBody>
          <a:bodyPr/>
          <a:lstStyle/>
          <a:p>
            <a:pPr algn="just"/>
            <a:r>
              <a:rPr lang="en-US" altLang="en-US"/>
              <a:t>Constructors and destructors of </a:t>
            </a:r>
            <a:r>
              <a:rPr lang="en-US" altLang="en-US">
                <a:solidFill>
                  <a:srgbClr val="0070C0"/>
                </a:solidFill>
              </a:rPr>
              <a:t>Base class </a:t>
            </a:r>
            <a:r>
              <a:rPr lang="en-US" altLang="en-US"/>
              <a:t>are </a:t>
            </a:r>
            <a:r>
              <a:rPr lang="en-US" altLang="en-US" b="1" i="1">
                <a:solidFill>
                  <a:srgbClr val="FF0000"/>
                </a:solidFill>
              </a:rPr>
              <a:t>NOT inherited</a:t>
            </a:r>
          </a:p>
          <a:p>
            <a:pPr algn="just"/>
            <a:endParaRPr lang="en-US" altLang="en-US"/>
          </a:p>
          <a:p>
            <a:pPr algn="just"/>
            <a:r>
              <a:rPr lang="en-US" altLang="en-US"/>
              <a:t>Derived classes can have their own constructors and destructors</a:t>
            </a:r>
          </a:p>
          <a:p>
            <a:pPr algn="just"/>
            <a:endParaRPr lang="en-US" altLang="en-US"/>
          </a:p>
          <a:p>
            <a:pPr algn="just"/>
            <a:r>
              <a:rPr lang="en-US" altLang="en-US"/>
              <a:t>When an object of a derived class is created, the </a:t>
            </a:r>
            <a:r>
              <a:rPr lang="en-US" altLang="en-US">
                <a:solidFill>
                  <a:srgbClr val="0070C0"/>
                </a:solidFill>
              </a:rPr>
              <a:t>base class’s constructor is executed first</a:t>
            </a:r>
            <a:r>
              <a:rPr lang="en-US" altLang="en-US"/>
              <a:t>, followed by the derived class’s constructor</a:t>
            </a:r>
          </a:p>
          <a:p>
            <a:pPr algn="just"/>
            <a:endParaRPr lang="en-US" altLang="en-US"/>
          </a:p>
          <a:p>
            <a:pPr algn="just"/>
            <a:r>
              <a:rPr lang="en-US" altLang="en-US"/>
              <a:t>When an object of a derived class is destroyed</a:t>
            </a:r>
            <a:r>
              <a:rPr lang="en-US" altLang="en-US">
                <a:solidFill>
                  <a:srgbClr val="0070C0"/>
                </a:solidFill>
              </a:rPr>
              <a:t>, its destructor is called first</a:t>
            </a:r>
            <a:r>
              <a:rPr lang="en-US" altLang="en-US"/>
              <a:t>, then that of the base class </a:t>
            </a:r>
          </a:p>
        </p:txBody>
      </p:sp>
      <p:sp>
        <p:nvSpPr>
          <p:cNvPr id="30725" name="Slide Number Placeholder 4">
            <a:extLst>
              <a:ext uri="{FF2B5EF4-FFF2-40B4-BE49-F238E27FC236}">
                <a16:creationId xmlns:a16="http://schemas.microsoft.com/office/drawing/2014/main" id="{7D4CB23C-01F0-B3D4-54CB-B44A015D884B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F1414228-AB0E-2F4D-B401-3F9CBA620923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44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880B75AF-E681-52A2-6A35-A8B8E65970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Constructor Rules for Derived Classes </a:t>
            </a:r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991E30B8-C038-8376-6A5C-1905727947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686800" cy="5105400"/>
          </a:xfrm>
        </p:spPr>
        <p:txBody>
          <a:bodyPr/>
          <a:lstStyle/>
          <a:p>
            <a:pPr algn="just"/>
            <a:r>
              <a:rPr lang="en-US" altLang="en-US"/>
              <a:t>The </a:t>
            </a:r>
            <a:r>
              <a:rPr lang="en-US" altLang="en-US">
                <a:solidFill>
                  <a:srgbClr val="0070C0"/>
                </a:solidFill>
              </a:rPr>
              <a:t>default constructor </a:t>
            </a:r>
            <a:r>
              <a:rPr lang="en-US" altLang="en-US"/>
              <a:t>and the </a:t>
            </a:r>
            <a:r>
              <a:rPr lang="en-US" altLang="en-US">
                <a:solidFill>
                  <a:srgbClr val="0070C0"/>
                </a:solidFill>
              </a:rPr>
              <a:t>destructor of the base class </a:t>
            </a:r>
            <a:r>
              <a:rPr lang="en-US" altLang="en-US"/>
              <a:t>are </a:t>
            </a:r>
            <a:r>
              <a:rPr lang="en-US" altLang="en-US" b="1" i="1">
                <a:solidFill>
                  <a:srgbClr val="FF0000"/>
                </a:solidFill>
              </a:rPr>
              <a:t>always called </a:t>
            </a:r>
            <a:r>
              <a:rPr lang="en-US" altLang="en-US"/>
              <a:t>when a new object of a derived class is created or destroyed. </a:t>
            </a:r>
          </a:p>
        </p:txBody>
      </p:sp>
      <p:sp>
        <p:nvSpPr>
          <p:cNvPr id="31749" name="Slide Number Placeholder 4">
            <a:extLst>
              <a:ext uri="{FF2B5EF4-FFF2-40B4-BE49-F238E27FC236}">
                <a16:creationId xmlns:a16="http://schemas.microsoft.com/office/drawing/2014/main" id="{B3D8522E-78A0-B706-E0EB-623478DAE73F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ABFA8183-1D08-C241-8C14-C7B1F86A287D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45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31750" name="Picture 10">
            <a:extLst>
              <a:ext uri="{FF2B5EF4-FFF2-40B4-BE49-F238E27FC236}">
                <a16:creationId xmlns:a16="http://schemas.microsoft.com/office/drawing/2014/main" id="{6982946F-95FC-98F8-90D7-6E61893699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950" y="2743200"/>
            <a:ext cx="6896100" cy="298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BEF1A1D9-4B71-DB1D-BF0C-09569D5A0C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Constructor Rules for Derived Classes </a:t>
            </a:r>
          </a:p>
        </p:txBody>
      </p:sp>
      <p:sp>
        <p:nvSpPr>
          <p:cNvPr id="32771" name="Content Placeholder 2">
            <a:extLst>
              <a:ext uri="{FF2B5EF4-FFF2-40B4-BE49-F238E27FC236}">
                <a16:creationId xmlns:a16="http://schemas.microsoft.com/office/drawing/2014/main" id="{EBDDA65F-96C1-3932-5F66-D81B47A3C1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1295400"/>
            <a:ext cx="8763000" cy="5105400"/>
          </a:xfrm>
        </p:spPr>
        <p:txBody>
          <a:bodyPr/>
          <a:lstStyle/>
          <a:p>
            <a:pPr algn="just"/>
            <a:r>
              <a:rPr lang="en-US" altLang="en-US"/>
              <a:t>The </a:t>
            </a:r>
            <a:r>
              <a:rPr lang="en-US" altLang="en-US">
                <a:solidFill>
                  <a:srgbClr val="0070C0"/>
                </a:solidFill>
              </a:rPr>
              <a:t>default constructor </a:t>
            </a:r>
            <a:r>
              <a:rPr lang="en-US" altLang="en-US"/>
              <a:t>and the </a:t>
            </a:r>
            <a:r>
              <a:rPr lang="en-US" altLang="en-US">
                <a:solidFill>
                  <a:srgbClr val="0070C0"/>
                </a:solidFill>
              </a:rPr>
              <a:t>destructor of the base class </a:t>
            </a:r>
            <a:r>
              <a:rPr lang="en-US" altLang="en-US"/>
              <a:t>are </a:t>
            </a:r>
            <a:r>
              <a:rPr lang="en-US" altLang="en-US" b="1" i="1">
                <a:solidFill>
                  <a:srgbClr val="FF0000"/>
                </a:solidFill>
              </a:rPr>
              <a:t>always called </a:t>
            </a:r>
            <a:r>
              <a:rPr lang="en-US" altLang="en-US"/>
              <a:t>when a new object of a derived class is created or destroyed.</a:t>
            </a:r>
          </a:p>
        </p:txBody>
      </p:sp>
      <p:sp>
        <p:nvSpPr>
          <p:cNvPr id="32773" name="Slide Number Placeholder 4">
            <a:extLst>
              <a:ext uri="{FF2B5EF4-FFF2-40B4-BE49-F238E27FC236}">
                <a16:creationId xmlns:a16="http://schemas.microsoft.com/office/drawing/2014/main" id="{11CA2078-C113-8131-0C6E-16E7C7165125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C743EF2C-E1A5-8740-AE66-7ADE7536274C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46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32774" name="Picture 5">
            <a:extLst>
              <a:ext uri="{FF2B5EF4-FFF2-40B4-BE49-F238E27FC236}">
                <a16:creationId xmlns:a16="http://schemas.microsoft.com/office/drawing/2014/main" id="{B466DB85-36C9-73A6-BD4A-A195B98AAF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9688" y="2733675"/>
            <a:ext cx="6518275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>
            <a:extLst>
              <a:ext uri="{FF2B5EF4-FFF2-40B4-BE49-F238E27FC236}">
                <a16:creationId xmlns:a16="http://schemas.microsoft.com/office/drawing/2014/main" id="{7D21F0DB-44A4-7366-A715-64C0B2A4BD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Passing Arguments to Base Class Constructor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4D154-8309-9D4E-FC6C-1514A2204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686800" cy="5105400"/>
          </a:xfrm>
        </p:spPr>
        <p:txBody>
          <a:bodyPr>
            <a:normAutofit/>
          </a:bodyPr>
          <a:lstStyle/>
          <a:p>
            <a:pPr algn="just">
              <a:lnSpc>
                <a:spcPct val="85000"/>
              </a:lnSpc>
              <a:defRPr/>
            </a:pPr>
            <a:r>
              <a:rPr lang="en-US" altLang="en-PK" dirty="0"/>
              <a:t>Allows </a:t>
            </a:r>
            <a:r>
              <a:rPr lang="en-US" altLang="en-PK" dirty="0">
                <a:solidFill>
                  <a:srgbClr val="0070C0"/>
                </a:solidFill>
              </a:rPr>
              <a:t>selection </a:t>
            </a:r>
            <a:r>
              <a:rPr lang="en-US" altLang="en-PK" dirty="0"/>
              <a:t>between </a:t>
            </a:r>
            <a:r>
              <a:rPr lang="en-US" altLang="en-PK" dirty="0">
                <a:solidFill>
                  <a:srgbClr val="0070C0"/>
                </a:solidFill>
              </a:rPr>
              <a:t>multiple base class constructors</a:t>
            </a:r>
          </a:p>
          <a:p>
            <a:pPr algn="just">
              <a:lnSpc>
                <a:spcPct val="85000"/>
              </a:lnSpc>
              <a:defRPr/>
            </a:pPr>
            <a:endParaRPr lang="en-US" altLang="en-PK" dirty="0"/>
          </a:p>
          <a:p>
            <a:pPr algn="just">
              <a:lnSpc>
                <a:spcPct val="85000"/>
              </a:lnSpc>
              <a:defRPr/>
            </a:pPr>
            <a:r>
              <a:rPr lang="en-US" altLang="en-PK" dirty="0"/>
              <a:t>Specify </a:t>
            </a:r>
            <a:r>
              <a:rPr lang="en-US" altLang="en-PK" dirty="0">
                <a:solidFill>
                  <a:srgbClr val="0070C0"/>
                </a:solidFill>
              </a:rPr>
              <a:t>arguments to base constructor on derived constructor </a:t>
            </a:r>
            <a:r>
              <a:rPr lang="en-US" altLang="en-PK" dirty="0"/>
              <a:t>heading</a:t>
            </a:r>
          </a:p>
          <a:p>
            <a:pPr algn="just">
              <a:lnSpc>
                <a:spcPct val="85000"/>
              </a:lnSpc>
              <a:defRPr/>
            </a:pPr>
            <a:endParaRPr lang="en-US" altLang="en-PK" dirty="0"/>
          </a:p>
          <a:p>
            <a:pPr algn="just">
              <a:lnSpc>
                <a:spcPct val="85000"/>
              </a:lnSpc>
              <a:defRPr/>
            </a:pPr>
            <a:r>
              <a:rPr lang="en-US" altLang="en-PK" dirty="0"/>
              <a:t>Inline constructor syntax:</a:t>
            </a:r>
          </a:p>
          <a:p>
            <a:pPr lvl="1" algn="just">
              <a:lnSpc>
                <a:spcPct val="85000"/>
              </a:lnSpc>
              <a:buClr>
                <a:srgbClr val="3333CC"/>
              </a:buClr>
              <a:buFontTx/>
              <a:buNone/>
              <a:defRPr/>
            </a:pPr>
            <a:r>
              <a:rPr lang="en-US" altLang="en-PK" dirty="0"/>
              <a:t>	</a:t>
            </a:r>
            <a:r>
              <a:rPr lang="en-US" altLang="en-PK" b="1" dirty="0">
                <a:latin typeface="Courier New" panose="02070309020205020404" pitchFamily="49" charset="0"/>
              </a:rPr>
              <a:t>Square(int side)</a:t>
            </a:r>
            <a:r>
              <a:rPr lang="en-US" altLang="en-PK" b="1" dirty="0">
                <a:solidFill>
                  <a:srgbClr val="FF0000"/>
                </a:solidFill>
                <a:latin typeface="Courier New" panose="02070309020205020404" pitchFamily="49" charset="0"/>
              </a:rPr>
              <a:t> : </a:t>
            </a:r>
            <a:r>
              <a:rPr lang="en-US" altLang="en-PK" b="1" dirty="0">
                <a:latin typeface="Courier New" panose="02070309020205020404" pitchFamily="49" charset="0"/>
              </a:rPr>
              <a:t>Rectangle(side, side) </a:t>
            </a:r>
          </a:p>
          <a:p>
            <a:pPr lvl="1" algn="just">
              <a:lnSpc>
                <a:spcPct val="85000"/>
              </a:lnSpc>
              <a:buClr>
                <a:srgbClr val="3333CC"/>
              </a:buClr>
              <a:buFontTx/>
              <a:buNone/>
              <a:defRPr/>
            </a:pPr>
            <a:endParaRPr lang="en-US" altLang="en-PK" dirty="0">
              <a:latin typeface="Courier New" panose="02070309020205020404" pitchFamily="49" charset="0"/>
            </a:endParaRPr>
          </a:p>
          <a:p>
            <a:pPr algn="just">
              <a:lnSpc>
                <a:spcPct val="85000"/>
              </a:lnSpc>
              <a:defRPr/>
            </a:pPr>
            <a:r>
              <a:rPr lang="en-US" altLang="en-PK" dirty="0"/>
              <a:t>Can also be done with out-of-line constructors</a:t>
            </a:r>
          </a:p>
          <a:p>
            <a:pPr algn="just">
              <a:lnSpc>
                <a:spcPct val="85000"/>
              </a:lnSpc>
              <a:defRPr/>
            </a:pPr>
            <a:endParaRPr lang="en-US" altLang="en-PK" dirty="0"/>
          </a:p>
          <a:p>
            <a:pPr marL="0" indent="0" algn="just">
              <a:lnSpc>
                <a:spcPct val="85000"/>
              </a:lnSpc>
              <a:buFontTx/>
              <a:buNone/>
              <a:defRPr/>
            </a:pPr>
            <a:r>
              <a:rPr lang="en-US" altLang="en-PK" b="1" dirty="0">
                <a:latin typeface="Courier New" panose="02070309020205020404" pitchFamily="49" charset="0"/>
              </a:rPr>
              <a:t>Square</a:t>
            </a:r>
            <a:r>
              <a:rPr lang="en-US" altLang="en-PK" b="1" dirty="0">
                <a:solidFill>
                  <a:srgbClr val="FF0000"/>
                </a:solidFill>
                <a:latin typeface="Courier New" panose="02070309020205020404" pitchFamily="49" charset="0"/>
              </a:rPr>
              <a:t>::</a:t>
            </a:r>
            <a:r>
              <a:rPr lang="en-US" altLang="en-PK" b="1" dirty="0">
                <a:latin typeface="Courier New" panose="02070309020205020404" pitchFamily="49" charset="0"/>
              </a:rPr>
              <a:t>Square(int side)</a:t>
            </a:r>
            <a:r>
              <a:rPr lang="en-US" altLang="en-PK" b="1" dirty="0">
                <a:solidFill>
                  <a:srgbClr val="FF0000"/>
                </a:solidFill>
                <a:latin typeface="Courier New" panose="02070309020205020404" pitchFamily="49" charset="0"/>
              </a:rPr>
              <a:t>:</a:t>
            </a:r>
            <a:r>
              <a:rPr lang="en-US" altLang="en-PK" b="1" dirty="0">
                <a:latin typeface="Courier New" panose="02070309020205020404" pitchFamily="49" charset="0"/>
              </a:rPr>
              <a:t>Rectangle(side, side) </a:t>
            </a:r>
          </a:p>
          <a:p>
            <a:pPr marL="0" indent="0" algn="just">
              <a:lnSpc>
                <a:spcPct val="85000"/>
              </a:lnSpc>
              <a:buFontTx/>
              <a:buNone/>
              <a:defRPr/>
            </a:pPr>
            <a:endParaRPr lang="en-US" altLang="en-PK" dirty="0"/>
          </a:p>
          <a:p>
            <a:pPr algn="just">
              <a:lnSpc>
                <a:spcPct val="85000"/>
              </a:lnSpc>
              <a:defRPr/>
            </a:pPr>
            <a:r>
              <a:rPr lang="en-US" altLang="en-PK" dirty="0"/>
              <a:t>Must be done if </a:t>
            </a:r>
            <a:r>
              <a:rPr lang="en-US" altLang="en-PK" b="1" i="1" dirty="0">
                <a:solidFill>
                  <a:srgbClr val="FF0000"/>
                </a:solidFill>
              </a:rPr>
              <a:t>base class has no default constructor</a:t>
            </a:r>
          </a:p>
        </p:txBody>
      </p:sp>
      <p:sp>
        <p:nvSpPr>
          <p:cNvPr id="33796" name="Footer Placeholder 3">
            <a:extLst>
              <a:ext uri="{FF2B5EF4-FFF2-40B4-BE49-F238E27FC236}">
                <a16:creationId xmlns:a16="http://schemas.microsoft.com/office/drawing/2014/main" id="{338194D9-359F-F7CB-55A1-5A738913EDB1}"/>
              </a:ext>
            </a:extLst>
          </p:cNvPr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Object Oriented Programming-Spring 23</a:t>
            </a:r>
          </a:p>
        </p:txBody>
      </p:sp>
      <p:sp>
        <p:nvSpPr>
          <p:cNvPr id="33797" name="Slide Number Placeholder 4">
            <a:extLst>
              <a:ext uri="{FF2B5EF4-FFF2-40B4-BE49-F238E27FC236}">
                <a16:creationId xmlns:a16="http://schemas.microsoft.com/office/drawing/2014/main" id="{8E1E8EE4-F0E2-8660-9957-B302E3A4203F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4882B2FD-97AA-6340-8E0C-D8E8A960769E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47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99848F4D-C70D-CECF-A03F-BA5D99BFE9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Passing Arguments to Base Class Constructor</a:t>
            </a:r>
          </a:p>
        </p:txBody>
      </p:sp>
      <p:sp>
        <p:nvSpPr>
          <p:cNvPr id="34819" name="Footer Placeholder 3">
            <a:extLst>
              <a:ext uri="{FF2B5EF4-FFF2-40B4-BE49-F238E27FC236}">
                <a16:creationId xmlns:a16="http://schemas.microsoft.com/office/drawing/2014/main" id="{7BF7C391-46AF-E1E7-C92F-3C6D9639E669}"/>
              </a:ext>
            </a:extLst>
          </p:cNvPr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Object Oriented Programming-Spring 23</a:t>
            </a:r>
          </a:p>
        </p:txBody>
      </p:sp>
      <p:sp>
        <p:nvSpPr>
          <p:cNvPr id="34820" name="Slide Number Placeholder 4">
            <a:extLst>
              <a:ext uri="{FF2B5EF4-FFF2-40B4-BE49-F238E27FC236}">
                <a16:creationId xmlns:a16="http://schemas.microsoft.com/office/drawing/2014/main" id="{4B3A4F42-52E8-BD2F-28D6-57ED1D141584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212340D1-B88E-AC41-A038-E279284B1C82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48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34821" name="Picture 5">
            <a:extLst>
              <a:ext uri="{FF2B5EF4-FFF2-40B4-BE49-F238E27FC236}">
                <a16:creationId xmlns:a16="http://schemas.microsoft.com/office/drawing/2014/main" id="{A47A06CD-4700-7CA5-63DB-219F577ED2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6000"/>
            <a:ext cx="8439150" cy="268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61478B3F-0F0F-2501-6BD0-AD73A51442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Constructor Rules for Derived Classes </a:t>
            </a:r>
          </a:p>
        </p:txBody>
      </p:sp>
      <p:sp>
        <p:nvSpPr>
          <p:cNvPr id="35843" name="Content Placeholder 2">
            <a:extLst>
              <a:ext uri="{FF2B5EF4-FFF2-40B4-BE49-F238E27FC236}">
                <a16:creationId xmlns:a16="http://schemas.microsoft.com/office/drawing/2014/main" id="{5FBBEDB9-B5C5-02BF-7BB9-8416B74337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295400"/>
            <a:ext cx="8839200" cy="5105400"/>
          </a:xfrm>
        </p:spPr>
        <p:txBody>
          <a:bodyPr/>
          <a:lstStyle/>
          <a:p>
            <a:pPr algn="just"/>
            <a:r>
              <a:rPr lang="en-US" altLang="en-US"/>
              <a:t>You can </a:t>
            </a:r>
            <a:r>
              <a:rPr lang="en-US" altLang="en-US">
                <a:solidFill>
                  <a:srgbClr val="0070C0"/>
                </a:solidFill>
              </a:rPr>
              <a:t>specifically call a constructor of the base class </a:t>
            </a:r>
            <a:r>
              <a:rPr lang="en-US" altLang="en-US"/>
              <a:t>other than the default constructor</a:t>
            </a:r>
          </a:p>
        </p:txBody>
      </p:sp>
      <p:sp>
        <p:nvSpPr>
          <p:cNvPr id="35844" name="Footer Placeholder 3">
            <a:extLst>
              <a:ext uri="{FF2B5EF4-FFF2-40B4-BE49-F238E27FC236}">
                <a16:creationId xmlns:a16="http://schemas.microsoft.com/office/drawing/2014/main" id="{F33642E8-BA51-6C80-EC2F-03639F8ECD1D}"/>
              </a:ext>
            </a:extLst>
          </p:cNvPr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Object Oriented Programming-Spring 23</a:t>
            </a:r>
          </a:p>
        </p:txBody>
      </p:sp>
      <p:sp>
        <p:nvSpPr>
          <p:cNvPr id="35845" name="Slide Number Placeholder 4">
            <a:extLst>
              <a:ext uri="{FF2B5EF4-FFF2-40B4-BE49-F238E27FC236}">
                <a16:creationId xmlns:a16="http://schemas.microsoft.com/office/drawing/2014/main" id="{692C1CD3-E73B-C926-E062-E9EDF5C7A120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87FD1735-596F-6F40-9891-88D0792A5955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49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35846" name="Picture 5">
            <a:extLst>
              <a:ext uri="{FF2B5EF4-FFF2-40B4-BE49-F238E27FC236}">
                <a16:creationId xmlns:a16="http://schemas.microsoft.com/office/drawing/2014/main" id="{B3978CEA-70EB-A659-0D99-12F8385F2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8575" y="2362200"/>
            <a:ext cx="6546850" cy="339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Footer Placeholder 3">
            <a:extLst>
              <a:ext uri="{FF2B5EF4-FFF2-40B4-BE49-F238E27FC236}">
                <a16:creationId xmlns:a16="http://schemas.microsoft.com/office/drawing/2014/main" id="{0B5A0A9B-0D5D-5D0C-091A-DB1C80807E69}"/>
              </a:ext>
            </a:extLst>
          </p:cNvPr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Object Oriented Programming-Spring 23</a:t>
            </a:r>
          </a:p>
        </p:txBody>
      </p:sp>
      <p:sp>
        <p:nvSpPr>
          <p:cNvPr id="36867" name="Slide Number Placeholder 4">
            <a:extLst>
              <a:ext uri="{FF2B5EF4-FFF2-40B4-BE49-F238E27FC236}">
                <a16:creationId xmlns:a16="http://schemas.microsoft.com/office/drawing/2014/main" id="{E0438C38-79D6-F03A-D2D5-312AF74865F5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3155618-B205-2E4D-B487-1331C803DA2B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50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36868" name="Picture 5">
            <a:extLst>
              <a:ext uri="{FF2B5EF4-FFF2-40B4-BE49-F238E27FC236}">
                <a16:creationId xmlns:a16="http://schemas.microsoft.com/office/drawing/2014/main" id="{56E2A977-C4EA-5E30-BB0E-C0FA1C710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263"/>
          <a:stretch>
            <a:fillRect/>
          </a:stretch>
        </p:blipFill>
        <p:spPr bwMode="auto">
          <a:xfrm>
            <a:off x="1676400" y="365125"/>
            <a:ext cx="5530850" cy="617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Footer Placeholder 3">
            <a:extLst>
              <a:ext uri="{FF2B5EF4-FFF2-40B4-BE49-F238E27FC236}">
                <a16:creationId xmlns:a16="http://schemas.microsoft.com/office/drawing/2014/main" id="{B6EBA33E-9119-9B35-5DD0-74F86D31FAA7}"/>
              </a:ext>
            </a:extLst>
          </p:cNvPr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Object Oriented Programming-Spring 23</a:t>
            </a:r>
          </a:p>
        </p:txBody>
      </p:sp>
      <p:sp>
        <p:nvSpPr>
          <p:cNvPr id="37891" name="Slide Number Placeholder 4">
            <a:extLst>
              <a:ext uri="{FF2B5EF4-FFF2-40B4-BE49-F238E27FC236}">
                <a16:creationId xmlns:a16="http://schemas.microsoft.com/office/drawing/2014/main" id="{530A37BD-42DE-D412-21D8-2DC278BFAA70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5DC4EE54-880B-CC4B-B729-2FA08C797413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51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37892" name="Picture 5">
            <a:extLst>
              <a:ext uri="{FF2B5EF4-FFF2-40B4-BE49-F238E27FC236}">
                <a16:creationId xmlns:a16="http://schemas.microsoft.com/office/drawing/2014/main" id="{F0990CB5-1217-8662-359F-83AD33A6D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452438"/>
            <a:ext cx="7629525" cy="595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2F77DE34-5427-D1EB-1676-CA48405809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Class Derivation</a:t>
            </a:r>
          </a:p>
        </p:txBody>
      </p:sp>
      <p:sp>
        <p:nvSpPr>
          <p:cNvPr id="38915" name="Footer Placeholder 3">
            <a:extLst>
              <a:ext uri="{FF2B5EF4-FFF2-40B4-BE49-F238E27FC236}">
                <a16:creationId xmlns:a16="http://schemas.microsoft.com/office/drawing/2014/main" id="{955B980E-1B9C-3ECD-96B1-7D18D85B9071}"/>
              </a:ext>
            </a:extLst>
          </p:cNvPr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Object Oriented Programming-Spring 23</a:t>
            </a:r>
          </a:p>
        </p:txBody>
      </p:sp>
      <p:sp>
        <p:nvSpPr>
          <p:cNvPr id="38916" name="Slide Number Placeholder 4">
            <a:extLst>
              <a:ext uri="{FF2B5EF4-FFF2-40B4-BE49-F238E27FC236}">
                <a16:creationId xmlns:a16="http://schemas.microsoft.com/office/drawing/2014/main" id="{4968B5A3-8F04-816C-EF29-6CEFDF7EBE03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62977876-6F4D-A348-A556-6F39C7DA0FC1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52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38917" name="Picture 5">
            <a:extLst>
              <a:ext uri="{FF2B5EF4-FFF2-40B4-BE49-F238E27FC236}">
                <a16:creationId xmlns:a16="http://schemas.microsoft.com/office/drawing/2014/main" id="{EB79A721-BFA4-665D-6269-319E3FD09F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988" y="1524000"/>
            <a:ext cx="7464425" cy="3687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19">
            <a:extLst>
              <a:ext uri="{FF2B5EF4-FFF2-40B4-BE49-F238E27FC236}">
                <a16:creationId xmlns:a16="http://schemas.microsoft.com/office/drawing/2014/main" id="{9868EC9B-EA9A-F12F-68F4-8937B12E52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50" y="5324475"/>
            <a:ext cx="8343900" cy="3238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sz="1500" dirty="0">
                <a:solidFill>
                  <a:srgbClr val="C00000"/>
                </a:solidFill>
                <a:latin typeface="+mj-lt"/>
              </a:rPr>
              <a:t>Point </a:t>
            </a:r>
            <a:r>
              <a:rPr lang="en-US" sz="1500" dirty="0">
                <a:latin typeface="+mj-lt"/>
              </a:rPr>
              <a:t>is the </a:t>
            </a:r>
            <a:r>
              <a:rPr lang="en-US" sz="1500" dirty="0">
                <a:solidFill>
                  <a:srgbClr val="0070C0"/>
                </a:solidFill>
                <a:latin typeface="+mj-lt"/>
              </a:rPr>
              <a:t>base class </a:t>
            </a:r>
            <a:r>
              <a:rPr lang="en-US" sz="1500" dirty="0">
                <a:latin typeface="+mj-lt"/>
              </a:rPr>
              <a:t>of </a:t>
            </a:r>
            <a:r>
              <a:rPr lang="en-US" sz="1500" dirty="0">
                <a:solidFill>
                  <a:srgbClr val="D20000"/>
                </a:solidFill>
                <a:latin typeface="+mj-lt"/>
              </a:rPr>
              <a:t>3D-Point</a:t>
            </a:r>
            <a:r>
              <a:rPr lang="en-US" sz="1500" dirty="0">
                <a:latin typeface="+mj-lt"/>
              </a:rPr>
              <a:t>, while </a:t>
            </a:r>
            <a:r>
              <a:rPr lang="en-US" sz="1500" dirty="0">
                <a:solidFill>
                  <a:srgbClr val="D20000"/>
                </a:solidFill>
                <a:latin typeface="+mj-lt"/>
              </a:rPr>
              <a:t>3DPoint </a:t>
            </a:r>
            <a:r>
              <a:rPr lang="en-US" sz="1500" dirty="0">
                <a:latin typeface="+mj-lt"/>
              </a:rPr>
              <a:t>is the </a:t>
            </a:r>
            <a:r>
              <a:rPr lang="en-US" sz="1500" dirty="0">
                <a:solidFill>
                  <a:srgbClr val="0070C0"/>
                </a:solidFill>
                <a:latin typeface="+mj-lt"/>
              </a:rPr>
              <a:t>base class </a:t>
            </a:r>
            <a:r>
              <a:rPr lang="en-US" sz="1500" dirty="0">
                <a:latin typeface="+mj-lt"/>
              </a:rPr>
              <a:t>of </a:t>
            </a:r>
            <a:r>
              <a:rPr lang="en-US" sz="1500" dirty="0">
                <a:solidFill>
                  <a:srgbClr val="D20000"/>
                </a:solidFill>
                <a:latin typeface="+mj-lt"/>
              </a:rPr>
              <a:t>Sphere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E586DDD0-03B4-8907-6DDE-AB5BFBB713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Order of execution of Constructors/Destructors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E707C-6DBE-37E9-56EC-DBC8ADACC0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686800" cy="5105400"/>
          </a:xfrm>
        </p:spPr>
        <p:txBody>
          <a:bodyPr/>
          <a:lstStyle/>
          <a:p>
            <a:pPr>
              <a:defRPr/>
            </a:pPr>
            <a:r>
              <a:rPr lang="en-US" dirty="0"/>
              <a:t>Chain of constructor calls:</a:t>
            </a:r>
          </a:p>
          <a:p>
            <a:pPr>
              <a:defRPr/>
            </a:pPr>
            <a:endParaRPr lang="en-US" dirty="0"/>
          </a:p>
          <a:p>
            <a:pPr marL="342900" lvl="1" indent="0">
              <a:buFontTx/>
              <a:buNone/>
              <a:defRPr/>
            </a:pPr>
            <a:r>
              <a:rPr lang="en-US" dirty="0"/>
              <a:t>		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Point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Circle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rgbClr val="7030A0"/>
                </a:solidFill>
                <a:latin typeface="Consolas" panose="020B0609020204030204" pitchFamily="49" charset="0"/>
              </a:rPr>
              <a:t>Cylinder</a:t>
            </a:r>
            <a:endParaRPr lang="en-US" dirty="0">
              <a:latin typeface="Consolas" panose="020B0609020204030204" pitchFamily="49" charset="0"/>
            </a:endParaRPr>
          </a:p>
          <a:p>
            <a:pPr marL="342900" lvl="1" indent="0">
              <a:buFontTx/>
              <a:buNone/>
              <a:defRPr/>
            </a:pPr>
            <a:endParaRPr lang="en-US" dirty="0"/>
          </a:p>
          <a:p>
            <a:pPr lvl="1">
              <a:defRPr/>
            </a:pPr>
            <a:r>
              <a:rPr lang="en-US" dirty="0"/>
              <a:t>Point constructor executes first</a:t>
            </a:r>
          </a:p>
          <a:p>
            <a:pPr lvl="1">
              <a:defRPr/>
            </a:pPr>
            <a:r>
              <a:rPr lang="en-US" dirty="0"/>
              <a:t>Then circle and last Cylinder</a:t>
            </a:r>
          </a:p>
          <a:p>
            <a:pPr>
              <a:defRPr/>
            </a:pPr>
            <a:endParaRPr lang="en-PK" dirty="0"/>
          </a:p>
        </p:txBody>
      </p:sp>
      <p:sp>
        <p:nvSpPr>
          <p:cNvPr id="39940" name="Footer Placeholder 3">
            <a:extLst>
              <a:ext uri="{FF2B5EF4-FFF2-40B4-BE49-F238E27FC236}">
                <a16:creationId xmlns:a16="http://schemas.microsoft.com/office/drawing/2014/main" id="{6E2D0124-76F1-DF87-766E-EB48A288E067}"/>
              </a:ext>
            </a:extLst>
          </p:cNvPr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Object Oriented Programming-Spring 23</a:t>
            </a:r>
          </a:p>
        </p:txBody>
      </p:sp>
      <p:sp>
        <p:nvSpPr>
          <p:cNvPr id="39941" name="Slide Number Placeholder 4">
            <a:extLst>
              <a:ext uri="{FF2B5EF4-FFF2-40B4-BE49-F238E27FC236}">
                <a16:creationId xmlns:a16="http://schemas.microsoft.com/office/drawing/2014/main" id="{25DC1618-4927-5BB3-77F3-5527C78D64BC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948890FA-A1DD-E548-B29D-10810948C047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53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BBCD2E35-66AC-1612-996B-569760640A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Order of execution of Constructors/Destructors</a:t>
            </a:r>
          </a:p>
        </p:txBody>
      </p:sp>
      <p:sp>
        <p:nvSpPr>
          <p:cNvPr id="40963" name="Content Placeholder 2">
            <a:extLst>
              <a:ext uri="{FF2B5EF4-FFF2-40B4-BE49-F238E27FC236}">
                <a16:creationId xmlns:a16="http://schemas.microsoft.com/office/drawing/2014/main" id="{CF292BE7-06CD-4818-8166-1F41F284BB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686800" cy="5105400"/>
          </a:xfrm>
        </p:spPr>
        <p:txBody>
          <a:bodyPr/>
          <a:lstStyle/>
          <a:p>
            <a:pPr algn="just"/>
            <a:r>
              <a:rPr lang="en-US" altLang="en-US"/>
              <a:t>Chain of destructor calls</a:t>
            </a:r>
          </a:p>
          <a:p>
            <a:pPr lvl="1" algn="just"/>
            <a:r>
              <a:rPr lang="en-US" altLang="en-US">
                <a:solidFill>
                  <a:srgbClr val="0070C0"/>
                </a:solidFill>
              </a:rPr>
              <a:t>Reverse order of constructor chain</a:t>
            </a:r>
          </a:p>
          <a:p>
            <a:pPr lvl="1" algn="just"/>
            <a:endParaRPr lang="en-US" altLang="en-US">
              <a:solidFill>
                <a:srgbClr val="0070C0"/>
              </a:solidFill>
            </a:endParaRPr>
          </a:p>
          <a:p>
            <a:pPr marL="985838" lvl="3" indent="0" algn="just">
              <a:buFontTx/>
              <a:buNone/>
            </a:pPr>
            <a:r>
              <a:rPr lang="en-US" altLang="en-US" sz="1800">
                <a:solidFill>
                  <a:srgbClr val="7030A0"/>
                </a:solidFill>
                <a:latin typeface="Consolas" panose="020B0609020204030204" pitchFamily="49" charset="0"/>
              </a:rPr>
              <a:t>Cylinder </a:t>
            </a:r>
            <a:r>
              <a:rPr lang="en-US" altLang="en-US" sz="1800">
                <a:latin typeface="Consolas" panose="020B0609020204030204" pitchFamily="49" charset="0"/>
                <a:sym typeface="Wingdings" pitchFamily="2" charset="2"/>
              </a:rPr>
              <a:t> </a:t>
            </a:r>
            <a:r>
              <a:rPr lang="en-US" altLang="en-US" sz="1800">
                <a:solidFill>
                  <a:srgbClr val="002060"/>
                </a:solidFill>
                <a:latin typeface="Consolas" panose="020B0609020204030204" pitchFamily="49" charset="0"/>
              </a:rPr>
              <a:t>Circle</a:t>
            </a:r>
            <a:r>
              <a:rPr lang="en-US" altLang="en-US" sz="1800">
                <a:latin typeface="Consolas" panose="020B0609020204030204" pitchFamily="49" charset="0"/>
              </a:rPr>
              <a:t> </a:t>
            </a:r>
            <a:r>
              <a:rPr lang="en-US" altLang="en-US" sz="1800">
                <a:latin typeface="Consolas" panose="020B0609020204030204" pitchFamily="49" charset="0"/>
                <a:sym typeface="Wingdings" pitchFamily="2" charset="2"/>
              </a:rPr>
              <a:t> </a:t>
            </a:r>
            <a:r>
              <a:rPr lang="en-US" altLang="en-US" sz="1800">
                <a:solidFill>
                  <a:srgbClr val="0070C0"/>
                </a:solidFill>
                <a:latin typeface="Consolas" panose="020B0609020204030204" pitchFamily="49" charset="0"/>
              </a:rPr>
              <a:t>Point</a:t>
            </a:r>
          </a:p>
          <a:p>
            <a:pPr marL="985838" lvl="3" indent="0" algn="just">
              <a:buFontTx/>
              <a:buNone/>
            </a:pPr>
            <a:endParaRPr lang="en-US" altLang="en-US" sz="1800">
              <a:solidFill>
                <a:srgbClr val="0070C0"/>
              </a:solidFill>
            </a:endParaRPr>
          </a:p>
          <a:p>
            <a:pPr lvl="1" algn="just"/>
            <a:r>
              <a:rPr lang="en-US" altLang="en-US"/>
              <a:t>Destructor of derived-class called first</a:t>
            </a:r>
          </a:p>
          <a:p>
            <a:pPr lvl="1" algn="just"/>
            <a:r>
              <a:rPr lang="en-US" altLang="en-US"/>
              <a:t>Destructor of next base class up hierarchy next</a:t>
            </a:r>
          </a:p>
          <a:p>
            <a:pPr lvl="1" algn="just"/>
            <a:r>
              <a:rPr lang="en-US" altLang="en-US"/>
              <a:t>Continue up hierarchy until final base reached</a:t>
            </a:r>
          </a:p>
          <a:p>
            <a:pPr lvl="1" algn="just"/>
            <a:endParaRPr lang="en-US" altLang="en-US"/>
          </a:p>
          <a:p>
            <a:pPr lvl="1" algn="just"/>
            <a:r>
              <a:rPr lang="en-US" altLang="en-US"/>
              <a:t>After final base-class destructor, </a:t>
            </a:r>
            <a:r>
              <a:rPr lang="en-US" altLang="en-US">
                <a:solidFill>
                  <a:srgbClr val="0070C0"/>
                </a:solidFill>
              </a:rPr>
              <a:t>object removed from memory</a:t>
            </a:r>
          </a:p>
        </p:txBody>
      </p:sp>
      <p:sp>
        <p:nvSpPr>
          <p:cNvPr id="40964" name="Footer Placeholder 3">
            <a:extLst>
              <a:ext uri="{FF2B5EF4-FFF2-40B4-BE49-F238E27FC236}">
                <a16:creationId xmlns:a16="http://schemas.microsoft.com/office/drawing/2014/main" id="{1776CA3D-289C-8D53-0332-3B92E57A77FF}"/>
              </a:ext>
            </a:extLst>
          </p:cNvPr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Object Oriented Programming-Spring 23</a:t>
            </a:r>
          </a:p>
        </p:txBody>
      </p:sp>
      <p:sp>
        <p:nvSpPr>
          <p:cNvPr id="40965" name="Slide Number Placeholder 4">
            <a:extLst>
              <a:ext uri="{FF2B5EF4-FFF2-40B4-BE49-F238E27FC236}">
                <a16:creationId xmlns:a16="http://schemas.microsoft.com/office/drawing/2014/main" id="{8AD39348-BC24-F7C4-D341-E1793A769D4F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E5F7A7F-961D-3B4B-BF2F-3EEE10C72E62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54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>
            <a:extLst>
              <a:ext uri="{FF2B5EF4-FFF2-40B4-BE49-F238E27FC236}">
                <a16:creationId xmlns:a16="http://schemas.microsoft.com/office/drawing/2014/main" id="{60C6B7EF-3785-7CA9-1B32-4C18DCD84D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838200"/>
          </a:xfrm>
        </p:spPr>
        <p:txBody>
          <a:bodyPr/>
          <a:lstStyle/>
          <a:p>
            <a:r>
              <a:rPr lang="en-US" altLang="en-US"/>
              <a:t>Example</a:t>
            </a:r>
            <a:endParaRPr lang="en-US" altLang="en-US" b="1"/>
          </a:p>
        </p:txBody>
      </p:sp>
      <p:sp>
        <p:nvSpPr>
          <p:cNvPr id="41987" name="Footer Placeholder 3">
            <a:extLst>
              <a:ext uri="{FF2B5EF4-FFF2-40B4-BE49-F238E27FC236}">
                <a16:creationId xmlns:a16="http://schemas.microsoft.com/office/drawing/2014/main" id="{643F1047-4162-9200-447C-D0C72A3E524C}"/>
              </a:ext>
            </a:extLst>
          </p:cNvPr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Object Oriented Programming-Spring 23</a:t>
            </a:r>
          </a:p>
        </p:txBody>
      </p:sp>
      <p:sp>
        <p:nvSpPr>
          <p:cNvPr id="41988" name="Slide Number Placeholder 4">
            <a:extLst>
              <a:ext uri="{FF2B5EF4-FFF2-40B4-BE49-F238E27FC236}">
                <a16:creationId xmlns:a16="http://schemas.microsoft.com/office/drawing/2014/main" id="{05C07A39-66C6-EBB5-6328-46EC4391EC0A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9E33595B-726D-6A49-8430-4BCD05ACD34F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55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41989" name="Picture 5">
            <a:extLst>
              <a:ext uri="{FF2B5EF4-FFF2-40B4-BE49-F238E27FC236}">
                <a16:creationId xmlns:a16="http://schemas.microsoft.com/office/drawing/2014/main" id="{F19DA60F-AB58-323B-4731-293C078FC7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4788" y="1143000"/>
            <a:ext cx="7135812" cy="483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30B6564C-DE6E-7EBF-2DD3-275D35555B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– cont.</a:t>
            </a:r>
          </a:p>
        </p:txBody>
      </p:sp>
      <p:sp>
        <p:nvSpPr>
          <p:cNvPr id="43011" name="Footer Placeholder 3">
            <a:extLst>
              <a:ext uri="{FF2B5EF4-FFF2-40B4-BE49-F238E27FC236}">
                <a16:creationId xmlns:a16="http://schemas.microsoft.com/office/drawing/2014/main" id="{5D944F5E-2AA1-77F8-E9C9-7B4725EEC5CF}"/>
              </a:ext>
            </a:extLst>
          </p:cNvPr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Object Oriented Programming-Spring 23</a:t>
            </a:r>
          </a:p>
        </p:txBody>
      </p:sp>
      <p:sp>
        <p:nvSpPr>
          <p:cNvPr id="43012" name="Slide Number Placeholder 4">
            <a:extLst>
              <a:ext uri="{FF2B5EF4-FFF2-40B4-BE49-F238E27FC236}">
                <a16:creationId xmlns:a16="http://schemas.microsoft.com/office/drawing/2014/main" id="{60ECBCD5-2F7E-5970-8E2F-86B09E05C451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8C6F6C01-0673-C24C-B9D4-82096D477782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56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43013" name="Picture 5">
            <a:extLst>
              <a:ext uri="{FF2B5EF4-FFF2-40B4-BE49-F238E27FC236}">
                <a16:creationId xmlns:a16="http://schemas.microsoft.com/office/drawing/2014/main" id="{37835E99-BF81-9FD4-BBE6-76B47C4506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371600"/>
            <a:ext cx="7310438" cy="452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Footer Placeholder 3">
            <a:extLst>
              <a:ext uri="{FF2B5EF4-FFF2-40B4-BE49-F238E27FC236}">
                <a16:creationId xmlns:a16="http://schemas.microsoft.com/office/drawing/2014/main" id="{FC29245F-C40D-34B6-5FEF-D6BF88EDEA0E}"/>
              </a:ext>
            </a:extLst>
          </p:cNvPr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Object Oriented Programming-Spring 23</a:t>
            </a:r>
          </a:p>
        </p:txBody>
      </p:sp>
      <p:sp>
        <p:nvSpPr>
          <p:cNvPr id="44035" name="Slide Number Placeholder 4">
            <a:extLst>
              <a:ext uri="{FF2B5EF4-FFF2-40B4-BE49-F238E27FC236}">
                <a16:creationId xmlns:a16="http://schemas.microsoft.com/office/drawing/2014/main" id="{6F155F43-6358-A8C6-58A9-9C66B6D5DC48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0EE4A6D9-8716-944F-81A3-803944C1113A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57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44036" name="Picture 5">
            <a:extLst>
              <a:ext uri="{FF2B5EF4-FFF2-40B4-BE49-F238E27FC236}">
                <a16:creationId xmlns:a16="http://schemas.microsoft.com/office/drawing/2014/main" id="{35F7590B-E6E1-52E0-D810-7D6E0277E1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417513"/>
            <a:ext cx="6727825" cy="592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DA31A526-C678-916C-7712-1746C2823E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– cont.</a:t>
            </a:r>
          </a:p>
        </p:txBody>
      </p:sp>
      <p:sp>
        <p:nvSpPr>
          <p:cNvPr id="45059" name="Footer Placeholder 3">
            <a:extLst>
              <a:ext uri="{FF2B5EF4-FFF2-40B4-BE49-F238E27FC236}">
                <a16:creationId xmlns:a16="http://schemas.microsoft.com/office/drawing/2014/main" id="{AB3AF444-86A5-2BDA-FE71-9EDD2A5ABEDA}"/>
              </a:ext>
            </a:extLst>
          </p:cNvPr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Object Oriented Programming-Spring 23</a:t>
            </a:r>
          </a:p>
        </p:txBody>
      </p:sp>
      <p:sp>
        <p:nvSpPr>
          <p:cNvPr id="45060" name="Slide Number Placeholder 4">
            <a:extLst>
              <a:ext uri="{FF2B5EF4-FFF2-40B4-BE49-F238E27FC236}">
                <a16:creationId xmlns:a16="http://schemas.microsoft.com/office/drawing/2014/main" id="{A062B20E-9AE3-FAC3-CABF-F224F182134F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231F9D8A-CA40-0A4D-B713-E7A18E91BEA2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58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45061" name="Picture 6">
            <a:extLst>
              <a:ext uri="{FF2B5EF4-FFF2-40B4-BE49-F238E27FC236}">
                <a16:creationId xmlns:a16="http://schemas.microsoft.com/office/drawing/2014/main" id="{850747D1-32C4-9E04-A0DE-3D40A59486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880"/>
          <a:stretch>
            <a:fillRect/>
          </a:stretch>
        </p:blipFill>
        <p:spPr bwMode="auto">
          <a:xfrm>
            <a:off x="2209800" y="1600200"/>
            <a:ext cx="4575175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1B988A2F-59D0-8E5D-BEA3-3A8BEC2826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000" b="1">
                <a:cs typeface="Arial" panose="020B0604020202020204" pitchFamily="34" charset="0"/>
              </a:rPr>
              <a:t>Data vs Class Access Specifier</a:t>
            </a:r>
            <a:endParaRPr lang="en-US" altLang="en-US"/>
          </a:p>
        </p:txBody>
      </p:sp>
      <p:sp>
        <p:nvSpPr>
          <p:cNvPr id="46083" name="Footer Placeholder 3">
            <a:extLst>
              <a:ext uri="{FF2B5EF4-FFF2-40B4-BE49-F238E27FC236}">
                <a16:creationId xmlns:a16="http://schemas.microsoft.com/office/drawing/2014/main" id="{682C3506-B673-B30C-AB80-9268E91E7348}"/>
              </a:ext>
            </a:extLst>
          </p:cNvPr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Object Oriented Programming-Spring 23</a:t>
            </a:r>
          </a:p>
        </p:txBody>
      </p:sp>
      <p:sp>
        <p:nvSpPr>
          <p:cNvPr id="46084" name="Slide Number Placeholder 4">
            <a:extLst>
              <a:ext uri="{FF2B5EF4-FFF2-40B4-BE49-F238E27FC236}">
                <a16:creationId xmlns:a16="http://schemas.microsoft.com/office/drawing/2014/main" id="{D74D1A2F-F099-2367-1314-5CAB8691764E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A54B0FAF-4AAD-8E46-A9C0-CE30DCCFFAA5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59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D10FF958-AEE4-B3CA-24E8-BFE5E6BC943F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457200" y="2212975"/>
            <a:ext cx="2895600" cy="3108325"/>
          </a:xfrm>
        </p:spPr>
        <p:txBody>
          <a:bodyPr/>
          <a:lstStyle/>
          <a:p>
            <a:pPr algn="just"/>
            <a:r>
              <a:rPr lang="en-US" altLang="en-US" sz="1800"/>
              <a:t>Two levels of </a:t>
            </a:r>
            <a:r>
              <a:rPr lang="en-US" altLang="en-US" sz="1800">
                <a:solidFill>
                  <a:srgbClr val="0070C0"/>
                </a:solidFill>
              </a:rPr>
              <a:t>access control </a:t>
            </a:r>
            <a:r>
              <a:rPr lang="en-US" altLang="en-US" sz="1800"/>
              <a:t>over class members</a:t>
            </a:r>
          </a:p>
          <a:p>
            <a:pPr marL="685800" lvl="1" indent="-342900" algn="just">
              <a:buFontTx/>
              <a:buAutoNum type="arabicPeriod"/>
            </a:pPr>
            <a:r>
              <a:rPr lang="en-US" altLang="en-US"/>
              <a:t>class definition</a:t>
            </a:r>
          </a:p>
          <a:p>
            <a:pPr marL="685800" lvl="1" indent="-342900" algn="just">
              <a:buFontTx/>
              <a:buAutoNum type="arabicPeriod"/>
            </a:pPr>
            <a:r>
              <a:rPr lang="en-US" altLang="en-US"/>
              <a:t>inheritance type</a:t>
            </a:r>
          </a:p>
        </p:txBody>
      </p:sp>
      <p:graphicFrame>
        <p:nvGraphicFramePr>
          <p:cNvPr id="46086" name="Object 6">
            <a:extLst>
              <a:ext uri="{FF2B5EF4-FFF2-40B4-BE49-F238E27FC236}">
                <a16:creationId xmlns:a16="http://schemas.microsoft.com/office/drawing/2014/main" id="{697DBEFF-B693-A002-2CE8-E0FFD46837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86150" y="2212975"/>
          <a:ext cx="2171700" cy="274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6997700" imgH="6870700" progId="">
                  <p:embed/>
                </p:oleObj>
              </mc:Choice>
              <mc:Fallback>
                <p:oleObj name="VISIO" r:id="rId2" imgW="6997700" imgH="6870700" progId="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6150" y="2212975"/>
                        <a:ext cx="2171700" cy="274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6087" name="Group 10">
            <a:extLst>
              <a:ext uri="{FF2B5EF4-FFF2-40B4-BE49-F238E27FC236}">
                <a16:creationId xmlns:a16="http://schemas.microsoft.com/office/drawing/2014/main" id="{9351B7E3-B9AB-435E-CBC0-B618E2F020F5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2362200"/>
            <a:ext cx="2982913" cy="2070100"/>
            <a:chOff x="7228114" y="1806576"/>
            <a:chExt cx="4572000" cy="2949576"/>
          </a:xfrm>
        </p:grpSpPr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A388EA21-612A-17BF-4519-15929929E9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8114" y="1806576"/>
              <a:ext cx="4572000" cy="152455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/>
            <a:lstStyle>
              <a:lvl1pPr marL="342900" indent="-3429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20000"/>
                </a:spcBef>
                <a:defRPr/>
              </a:pPr>
              <a:r>
                <a:rPr lang="en-US" sz="1500" dirty="0"/>
                <a:t>class Point{</a:t>
              </a:r>
            </a:p>
            <a:p>
              <a:pPr eaLnBrk="1" hangingPunct="1">
                <a:spcBef>
                  <a:spcPct val="20000"/>
                </a:spcBef>
                <a:defRPr/>
              </a:pPr>
              <a:r>
                <a:rPr lang="en-US" sz="1500" dirty="0"/>
                <a:t>	</a:t>
              </a:r>
              <a:r>
                <a:rPr lang="en-US" sz="1500" b="1" dirty="0">
                  <a:solidFill>
                    <a:srgbClr val="FF0000"/>
                  </a:solidFill>
                </a:rPr>
                <a:t>protected:</a:t>
              </a:r>
              <a:r>
                <a:rPr lang="en-US" sz="1500" dirty="0"/>
                <a:t> </a:t>
              </a:r>
              <a:r>
                <a:rPr lang="en-US" sz="1500" dirty="0" err="1"/>
                <a:t>int</a:t>
              </a:r>
              <a:r>
                <a:rPr lang="en-US" sz="1500" dirty="0"/>
                <a:t> x, y;</a:t>
              </a:r>
            </a:p>
            <a:p>
              <a:pPr eaLnBrk="1" hangingPunct="1">
                <a:spcBef>
                  <a:spcPct val="20000"/>
                </a:spcBef>
                <a:defRPr/>
              </a:pPr>
              <a:r>
                <a:rPr lang="en-US" sz="1500" dirty="0"/>
                <a:t>	</a:t>
              </a:r>
              <a:r>
                <a:rPr lang="en-US" sz="1500" b="1" dirty="0">
                  <a:solidFill>
                    <a:srgbClr val="FF0000"/>
                  </a:solidFill>
                </a:rPr>
                <a:t>public:</a:t>
              </a:r>
              <a:r>
                <a:rPr lang="en-US" sz="1500" b="1" dirty="0">
                  <a:solidFill>
                    <a:srgbClr val="D20000"/>
                  </a:solidFill>
                </a:rPr>
                <a:t> </a:t>
              </a:r>
              <a:r>
                <a:rPr lang="en-US" sz="1500" dirty="0"/>
                <a:t>void set(</a:t>
              </a:r>
              <a:r>
                <a:rPr lang="en-US" sz="1500" dirty="0" err="1"/>
                <a:t>int</a:t>
              </a:r>
              <a:r>
                <a:rPr lang="en-US" sz="1500" dirty="0"/>
                <a:t> a, </a:t>
              </a:r>
              <a:r>
                <a:rPr lang="en-US" sz="1500" dirty="0" err="1"/>
                <a:t>int</a:t>
              </a:r>
              <a:r>
                <a:rPr lang="en-US" sz="1500" dirty="0"/>
                <a:t> b);</a:t>
              </a:r>
            </a:p>
            <a:p>
              <a:pPr eaLnBrk="1" hangingPunct="1">
                <a:spcBef>
                  <a:spcPct val="20000"/>
                </a:spcBef>
                <a:defRPr/>
              </a:pPr>
              <a:r>
                <a:rPr lang="en-US" sz="1500" dirty="0"/>
                <a:t>};</a:t>
              </a:r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F3EEF759-1426-7D36-2977-BC8F58D2D2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8114" y="3613871"/>
              <a:ext cx="4572000" cy="1142281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marL="342900" indent="-3429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20000"/>
                </a:spcBef>
                <a:defRPr/>
              </a:pPr>
              <a:r>
                <a:rPr lang="en-US" sz="1500" dirty="0">
                  <a:solidFill>
                    <a:srgbClr val="000066"/>
                  </a:solidFill>
                </a:rPr>
                <a:t>class Circle : </a:t>
              </a:r>
              <a:r>
                <a:rPr lang="en-US" sz="1500" b="1" dirty="0">
                  <a:solidFill>
                    <a:srgbClr val="FF0000"/>
                  </a:solidFill>
                </a:rPr>
                <a:t>public</a:t>
              </a:r>
              <a:r>
                <a:rPr lang="en-US" sz="1500" dirty="0">
                  <a:solidFill>
                    <a:srgbClr val="008000"/>
                  </a:solidFill>
                </a:rPr>
                <a:t> </a:t>
              </a:r>
              <a:r>
                <a:rPr lang="en-US" sz="1500" dirty="0">
                  <a:solidFill>
                    <a:srgbClr val="000066"/>
                  </a:solidFill>
                </a:rPr>
                <a:t>Point{</a:t>
              </a:r>
            </a:p>
            <a:p>
              <a:pPr eaLnBrk="1" hangingPunct="1">
                <a:spcBef>
                  <a:spcPct val="20000"/>
                </a:spcBef>
                <a:defRPr/>
              </a:pPr>
              <a:r>
                <a:rPr lang="en-US" sz="1500" dirty="0">
                  <a:solidFill>
                    <a:srgbClr val="000066"/>
                  </a:solidFill>
                </a:rPr>
                <a:t>	… …</a:t>
              </a:r>
            </a:p>
            <a:p>
              <a:pPr eaLnBrk="1" hangingPunct="1">
                <a:spcBef>
                  <a:spcPct val="20000"/>
                </a:spcBef>
                <a:defRPr/>
              </a:pPr>
              <a:r>
                <a:rPr lang="en-US" sz="1500" dirty="0">
                  <a:solidFill>
                    <a:srgbClr val="000066"/>
                  </a:solidFill>
                </a:rPr>
                <a:t>};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>
            <a:extLst>
              <a:ext uri="{FF2B5EF4-FFF2-40B4-BE49-F238E27FC236}">
                <a16:creationId xmlns:a16="http://schemas.microsoft.com/office/drawing/2014/main" id="{0ABF000F-65C3-9A47-D28E-92F72C836F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Types of inheritance/ Class access specifier</a:t>
            </a:r>
          </a:p>
        </p:txBody>
      </p:sp>
      <p:sp>
        <p:nvSpPr>
          <p:cNvPr id="47107" name="Content Placeholder 2">
            <a:extLst>
              <a:ext uri="{FF2B5EF4-FFF2-40B4-BE49-F238E27FC236}">
                <a16:creationId xmlns:a16="http://schemas.microsoft.com/office/drawing/2014/main" id="{3CD382C8-7DA9-DBD4-29E3-9C8C1E4311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295400"/>
            <a:ext cx="8458200" cy="5105400"/>
          </a:xfrm>
        </p:spPr>
        <p:txBody>
          <a:bodyPr/>
          <a:lstStyle/>
          <a:p>
            <a:r>
              <a:rPr lang="en-US" altLang="zh-CN">
                <a:ea typeface="SimSun" panose="02010600030101010101" pitchFamily="2" charset="-122"/>
              </a:rPr>
              <a:t>Public</a:t>
            </a:r>
          </a:p>
          <a:p>
            <a:endParaRPr lang="en-US" altLang="zh-CN">
              <a:ea typeface="SimSun" panose="02010600030101010101" pitchFamily="2" charset="-122"/>
            </a:endParaRPr>
          </a:p>
          <a:p>
            <a:r>
              <a:rPr lang="en-US" altLang="zh-CN">
                <a:ea typeface="SimSun" panose="02010600030101010101" pitchFamily="2" charset="-122"/>
              </a:rPr>
              <a:t>Private</a:t>
            </a:r>
          </a:p>
          <a:p>
            <a:endParaRPr lang="en-US" altLang="zh-CN">
              <a:ea typeface="SimSun" panose="02010600030101010101" pitchFamily="2" charset="-122"/>
            </a:endParaRPr>
          </a:p>
          <a:p>
            <a:r>
              <a:rPr lang="en-US" altLang="zh-CN">
                <a:ea typeface="SimSun" panose="02010600030101010101" pitchFamily="2" charset="-122"/>
              </a:rPr>
              <a:t>protected</a:t>
            </a:r>
          </a:p>
        </p:txBody>
      </p:sp>
      <p:sp>
        <p:nvSpPr>
          <p:cNvPr id="47108" name="Footer Placeholder 3">
            <a:extLst>
              <a:ext uri="{FF2B5EF4-FFF2-40B4-BE49-F238E27FC236}">
                <a16:creationId xmlns:a16="http://schemas.microsoft.com/office/drawing/2014/main" id="{54B29125-6843-D972-6C86-51505EAF6924}"/>
              </a:ext>
            </a:extLst>
          </p:cNvPr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Object Oriented Programming-Spring 23</a:t>
            </a:r>
          </a:p>
        </p:txBody>
      </p:sp>
      <p:sp>
        <p:nvSpPr>
          <p:cNvPr id="47109" name="Slide Number Placeholder 4">
            <a:extLst>
              <a:ext uri="{FF2B5EF4-FFF2-40B4-BE49-F238E27FC236}">
                <a16:creationId xmlns:a16="http://schemas.microsoft.com/office/drawing/2014/main" id="{2EB695DE-CFB5-818A-F207-86958A4C3FAD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2A390026-254E-5C48-8422-336500928B3C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60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>
            <a:extLst>
              <a:ext uri="{FF2B5EF4-FFF2-40B4-BE49-F238E27FC236}">
                <a16:creationId xmlns:a16="http://schemas.microsoft.com/office/drawing/2014/main" id="{FBFA8332-46BF-C2E4-B27A-86296A19CE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SimSun" panose="02010600030101010101" pitchFamily="2" charset="-122"/>
              </a:rPr>
              <a:t>Public Inheritance</a:t>
            </a: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0B18D-C4DD-9791-180D-5015DA806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95400"/>
            <a:ext cx="8763000" cy="51054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With public inheritance, </a:t>
            </a:r>
          </a:p>
          <a:p>
            <a:pPr lvl="1">
              <a:defRPr/>
            </a:pPr>
            <a:r>
              <a:rPr lang="en-US" altLang="zh-CN" dirty="0"/>
              <a:t>public and protected members of the </a:t>
            </a:r>
            <a:r>
              <a:rPr lang="en-US" altLang="zh-CN" dirty="0">
                <a:solidFill>
                  <a:srgbClr val="0070C0"/>
                </a:solidFill>
              </a:rPr>
              <a:t>base class </a:t>
            </a:r>
            <a:r>
              <a:rPr lang="en-US" altLang="zh-CN" dirty="0"/>
              <a:t>become respectively public and protected members of the </a:t>
            </a:r>
            <a:r>
              <a:rPr lang="en-US" altLang="zh-CN" dirty="0">
                <a:solidFill>
                  <a:srgbClr val="0070C0"/>
                </a:solidFill>
              </a:rPr>
              <a:t>derived class</a:t>
            </a:r>
            <a:endParaRPr lang="en-US" dirty="0">
              <a:solidFill>
                <a:srgbClr val="0070C0"/>
              </a:solidFill>
            </a:endParaRPr>
          </a:p>
          <a:p>
            <a:pPr marL="0" indent="0">
              <a:buFontTx/>
              <a:buNone/>
              <a:defRPr/>
            </a:pPr>
            <a:endParaRPr lang="en-PK" dirty="0"/>
          </a:p>
        </p:txBody>
      </p:sp>
      <p:sp>
        <p:nvSpPr>
          <p:cNvPr id="48132" name="Footer Placeholder 3">
            <a:extLst>
              <a:ext uri="{FF2B5EF4-FFF2-40B4-BE49-F238E27FC236}">
                <a16:creationId xmlns:a16="http://schemas.microsoft.com/office/drawing/2014/main" id="{CEA09472-CB22-B8FA-2095-665AC2EA7EB6}"/>
              </a:ext>
            </a:extLst>
          </p:cNvPr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Object Oriented Programming-Spring 23</a:t>
            </a:r>
          </a:p>
        </p:txBody>
      </p:sp>
      <p:sp>
        <p:nvSpPr>
          <p:cNvPr id="48133" name="Slide Number Placeholder 4">
            <a:extLst>
              <a:ext uri="{FF2B5EF4-FFF2-40B4-BE49-F238E27FC236}">
                <a16:creationId xmlns:a16="http://schemas.microsoft.com/office/drawing/2014/main" id="{A2194D2B-C7F6-589D-83D9-0F3BA46A9EEA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24868AF2-2664-B042-A7EE-1FC21EF50649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61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48134" name="TextBox 5">
            <a:extLst>
              <a:ext uri="{FF2B5EF4-FFF2-40B4-BE49-F238E27FC236}">
                <a16:creationId xmlns:a16="http://schemas.microsoft.com/office/drawing/2014/main" id="{A208648B-B7AA-C999-DEA8-D0A9668B76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3122613"/>
            <a:ext cx="39243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100">
                <a:solidFill>
                  <a:srgbClr val="000066"/>
                </a:solidFill>
              </a:rPr>
              <a:t>class derived : </a:t>
            </a:r>
            <a:r>
              <a:rPr lang="en-US" altLang="en-US" sz="2100" b="1">
                <a:solidFill>
                  <a:srgbClr val="FF0000"/>
                </a:solidFill>
              </a:rPr>
              <a:t>public</a:t>
            </a:r>
            <a:r>
              <a:rPr lang="en-US" altLang="en-US" sz="2100">
                <a:solidFill>
                  <a:srgbClr val="008000"/>
                </a:solidFill>
              </a:rPr>
              <a:t> </a:t>
            </a:r>
            <a:r>
              <a:rPr lang="en-US" altLang="en-US" sz="2100">
                <a:solidFill>
                  <a:srgbClr val="000066"/>
                </a:solidFill>
              </a:rPr>
              <a:t>base{</a:t>
            </a:r>
          </a:p>
          <a:p>
            <a:pPr eaLnBrk="1" hangingPunct="1">
              <a:buFontTx/>
              <a:buNone/>
            </a:pPr>
            <a:r>
              <a:rPr lang="en-US" altLang="en-US" sz="2100">
                <a:solidFill>
                  <a:srgbClr val="000066"/>
                </a:solidFill>
              </a:rPr>
              <a:t>	… …</a:t>
            </a:r>
          </a:p>
          <a:p>
            <a:pPr eaLnBrk="1" hangingPunct="1">
              <a:buFontTx/>
              <a:buNone/>
            </a:pPr>
            <a:r>
              <a:rPr lang="en-US" altLang="en-US" sz="2100">
                <a:solidFill>
                  <a:srgbClr val="000066"/>
                </a:solidFill>
              </a:rPr>
              <a:t>};</a:t>
            </a:r>
            <a:endParaRPr lang="en-US" altLang="en-US" sz="210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>
            <a:extLst>
              <a:ext uri="{FF2B5EF4-FFF2-40B4-BE49-F238E27FC236}">
                <a16:creationId xmlns:a16="http://schemas.microsoft.com/office/drawing/2014/main" id="{DFDD49A9-AA4A-8E7D-7B18-9DA229A9D2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SimSun" panose="02010600030101010101" pitchFamily="2" charset="-122"/>
              </a:rPr>
              <a:t>Protected Inheritance</a:t>
            </a:r>
            <a:endParaRPr lang="en-US" altLang="en-US"/>
          </a:p>
        </p:txBody>
      </p:sp>
      <p:sp>
        <p:nvSpPr>
          <p:cNvPr id="49155" name="Content Placeholder 2">
            <a:extLst>
              <a:ext uri="{FF2B5EF4-FFF2-40B4-BE49-F238E27FC236}">
                <a16:creationId xmlns:a16="http://schemas.microsoft.com/office/drawing/2014/main" id="{C621AA3B-9ACF-48B4-085D-5683487FAB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686800" cy="5105400"/>
          </a:xfrm>
        </p:spPr>
        <p:txBody>
          <a:bodyPr/>
          <a:lstStyle/>
          <a:p>
            <a:r>
              <a:rPr lang="en-US" altLang="zh-CN">
                <a:ea typeface="SimSun" panose="02010600030101010101" pitchFamily="2" charset="-122"/>
              </a:rPr>
              <a:t>Public and protected members of the base class become </a:t>
            </a:r>
            <a:r>
              <a:rPr lang="en-US" altLang="zh-CN" b="1" i="1">
                <a:solidFill>
                  <a:srgbClr val="0070C0"/>
                </a:solidFill>
                <a:ea typeface="SimSun" panose="02010600030101010101" pitchFamily="2" charset="-122"/>
              </a:rPr>
              <a:t>protected members </a:t>
            </a:r>
            <a:r>
              <a:rPr lang="en-US" altLang="zh-CN">
                <a:ea typeface="SimSun" panose="02010600030101010101" pitchFamily="2" charset="-122"/>
              </a:rPr>
              <a:t>of the derived class.</a:t>
            </a:r>
          </a:p>
          <a:p>
            <a:endParaRPr lang="en-US" altLang="en-US"/>
          </a:p>
        </p:txBody>
      </p:sp>
      <p:sp>
        <p:nvSpPr>
          <p:cNvPr id="49156" name="Footer Placeholder 3">
            <a:extLst>
              <a:ext uri="{FF2B5EF4-FFF2-40B4-BE49-F238E27FC236}">
                <a16:creationId xmlns:a16="http://schemas.microsoft.com/office/drawing/2014/main" id="{07DBCE22-BD2B-A5A3-5CF7-4B3209CFEE20}"/>
              </a:ext>
            </a:extLst>
          </p:cNvPr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Object Oriented Programming-Spring 23</a:t>
            </a:r>
          </a:p>
        </p:txBody>
      </p:sp>
      <p:sp>
        <p:nvSpPr>
          <p:cNvPr id="49157" name="Slide Number Placeholder 4">
            <a:extLst>
              <a:ext uri="{FF2B5EF4-FFF2-40B4-BE49-F238E27FC236}">
                <a16:creationId xmlns:a16="http://schemas.microsoft.com/office/drawing/2014/main" id="{54AE1122-7816-2EAC-84F1-76D6310C3CB3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7C304255-5DCC-AE4E-9CD4-6009A2B2B06C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62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49158" name="TextBox 5">
            <a:extLst>
              <a:ext uri="{FF2B5EF4-FFF2-40B4-BE49-F238E27FC236}">
                <a16:creationId xmlns:a16="http://schemas.microsoft.com/office/drawing/2014/main" id="{39BDE494-30C2-DD34-C04E-49EA549C6B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3124200"/>
            <a:ext cx="43815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100">
                <a:solidFill>
                  <a:srgbClr val="000066"/>
                </a:solidFill>
              </a:rPr>
              <a:t>class derived : </a:t>
            </a:r>
            <a:r>
              <a:rPr lang="en-US" altLang="en-US" sz="2100" b="1">
                <a:solidFill>
                  <a:srgbClr val="FF0000"/>
                </a:solidFill>
              </a:rPr>
              <a:t>protected</a:t>
            </a:r>
            <a:r>
              <a:rPr lang="en-US" altLang="en-US" sz="2100">
                <a:solidFill>
                  <a:srgbClr val="008000"/>
                </a:solidFill>
              </a:rPr>
              <a:t> </a:t>
            </a:r>
            <a:r>
              <a:rPr lang="en-US" altLang="en-US" sz="2100">
                <a:solidFill>
                  <a:srgbClr val="000066"/>
                </a:solidFill>
              </a:rPr>
              <a:t>base{</a:t>
            </a:r>
          </a:p>
          <a:p>
            <a:pPr eaLnBrk="1" hangingPunct="1">
              <a:buFontTx/>
              <a:buNone/>
            </a:pPr>
            <a:r>
              <a:rPr lang="en-US" altLang="en-US" sz="2100">
                <a:solidFill>
                  <a:srgbClr val="000066"/>
                </a:solidFill>
              </a:rPr>
              <a:t>	… …</a:t>
            </a:r>
          </a:p>
          <a:p>
            <a:pPr eaLnBrk="1" hangingPunct="1">
              <a:buFontTx/>
              <a:buNone/>
            </a:pPr>
            <a:r>
              <a:rPr lang="en-US" altLang="en-US" sz="2100">
                <a:solidFill>
                  <a:srgbClr val="000066"/>
                </a:solidFill>
              </a:rPr>
              <a:t>};</a:t>
            </a:r>
            <a:endParaRPr lang="en-US" altLang="en-US" sz="210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>
            <a:extLst>
              <a:ext uri="{FF2B5EF4-FFF2-40B4-BE49-F238E27FC236}">
                <a16:creationId xmlns:a16="http://schemas.microsoft.com/office/drawing/2014/main" id="{3E6E0E24-A28C-9F2F-9DD1-7DAA2FC11C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SimSun" panose="02010600030101010101" pitchFamily="2" charset="-122"/>
              </a:rPr>
              <a:t>Private Inheritance</a:t>
            </a:r>
            <a:endParaRPr lang="en-US" altLang="en-US"/>
          </a:p>
        </p:txBody>
      </p:sp>
      <p:sp>
        <p:nvSpPr>
          <p:cNvPr id="50179" name="Content Placeholder 2">
            <a:extLst>
              <a:ext uri="{FF2B5EF4-FFF2-40B4-BE49-F238E27FC236}">
                <a16:creationId xmlns:a16="http://schemas.microsoft.com/office/drawing/2014/main" id="{9FF0B12B-B600-3E76-AA53-8ACD968E84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686800" cy="5105400"/>
          </a:xfrm>
        </p:spPr>
        <p:txBody>
          <a:bodyPr/>
          <a:lstStyle/>
          <a:p>
            <a:r>
              <a:rPr lang="en-US" altLang="zh-CN">
                <a:ea typeface="SimSun" panose="02010600030101010101" pitchFamily="2" charset="-122"/>
              </a:rPr>
              <a:t>With private inheritance, public and protected members of the base class become </a:t>
            </a:r>
            <a:r>
              <a:rPr lang="en-US" altLang="zh-CN" b="1" i="1">
                <a:solidFill>
                  <a:srgbClr val="0070C0"/>
                </a:solidFill>
                <a:ea typeface="SimSun" panose="02010600030101010101" pitchFamily="2" charset="-122"/>
              </a:rPr>
              <a:t>private members of the derived class</a:t>
            </a:r>
            <a:r>
              <a:rPr lang="en-US" altLang="zh-CN">
                <a:ea typeface="SimSun" panose="02010600030101010101" pitchFamily="2" charset="-122"/>
              </a:rPr>
              <a:t>.</a:t>
            </a:r>
            <a:endParaRPr lang="en-US" altLang="en-US"/>
          </a:p>
          <a:p>
            <a:endParaRPr lang="en-US" altLang="en-US"/>
          </a:p>
        </p:txBody>
      </p:sp>
      <p:sp>
        <p:nvSpPr>
          <p:cNvPr id="50180" name="Footer Placeholder 3">
            <a:extLst>
              <a:ext uri="{FF2B5EF4-FFF2-40B4-BE49-F238E27FC236}">
                <a16:creationId xmlns:a16="http://schemas.microsoft.com/office/drawing/2014/main" id="{FCA7E330-1A77-C5DD-3579-FA9BA463491F}"/>
              </a:ext>
            </a:extLst>
          </p:cNvPr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Object Oriented Programming-Spring 23</a:t>
            </a:r>
          </a:p>
        </p:txBody>
      </p:sp>
      <p:sp>
        <p:nvSpPr>
          <p:cNvPr id="50181" name="Slide Number Placeholder 4">
            <a:extLst>
              <a:ext uri="{FF2B5EF4-FFF2-40B4-BE49-F238E27FC236}">
                <a16:creationId xmlns:a16="http://schemas.microsoft.com/office/drawing/2014/main" id="{AF0857E6-0767-37D9-14AB-31B365A35A44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C7E4293-46DD-E940-AB97-3F202142DFB5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63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50182" name="TextBox 5">
            <a:extLst>
              <a:ext uri="{FF2B5EF4-FFF2-40B4-BE49-F238E27FC236}">
                <a16:creationId xmlns:a16="http://schemas.microsoft.com/office/drawing/2014/main" id="{33864761-41AE-118B-DC72-4BB1847B35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5050" y="3048000"/>
            <a:ext cx="45339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100">
                <a:solidFill>
                  <a:srgbClr val="000066"/>
                </a:solidFill>
              </a:rPr>
              <a:t>class derived : </a:t>
            </a:r>
            <a:r>
              <a:rPr lang="en-US" altLang="en-US" sz="2100" b="1">
                <a:solidFill>
                  <a:srgbClr val="FF0000"/>
                </a:solidFill>
              </a:rPr>
              <a:t>private</a:t>
            </a:r>
            <a:r>
              <a:rPr lang="en-US" altLang="en-US" sz="2100">
                <a:solidFill>
                  <a:srgbClr val="008000"/>
                </a:solidFill>
              </a:rPr>
              <a:t> </a:t>
            </a:r>
            <a:r>
              <a:rPr lang="en-US" altLang="en-US" sz="2100">
                <a:solidFill>
                  <a:srgbClr val="000066"/>
                </a:solidFill>
              </a:rPr>
              <a:t>base{</a:t>
            </a:r>
          </a:p>
          <a:p>
            <a:pPr eaLnBrk="1" hangingPunct="1">
              <a:buFontTx/>
              <a:buNone/>
            </a:pPr>
            <a:r>
              <a:rPr lang="en-US" altLang="en-US" sz="2100">
                <a:solidFill>
                  <a:srgbClr val="000066"/>
                </a:solidFill>
              </a:rPr>
              <a:t>	… …</a:t>
            </a:r>
          </a:p>
          <a:p>
            <a:pPr eaLnBrk="1" hangingPunct="1">
              <a:buFontTx/>
              <a:buNone/>
            </a:pPr>
            <a:r>
              <a:rPr lang="en-US" altLang="en-US" sz="2100">
                <a:solidFill>
                  <a:srgbClr val="000066"/>
                </a:solidFill>
              </a:rPr>
              <a:t>};</a:t>
            </a:r>
            <a:endParaRPr lang="en-US" altLang="en-US" sz="210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>
            <a:extLst>
              <a:ext uri="{FF2B5EF4-FFF2-40B4-BE49-F238E27FC236}">
                <a16:creationId xmlns:a16="http://schemas.microsoft.com/office/drawing/2014/main" id="{28C53232-1626-8742-9242-1AF52F0FE0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public, protected and private Inheritance</a:t>
            </a:r>
          </a:p>
        </p:txBody>
      </p:sp>
      <p:sp>
        <p:nvSpPr>
          <p:cNvPr id="51203" name="Footer Placeholder 3">
            <a:extLst>
              <a:ext uri="{FF2B5EF4-FFF2-40B4-BE49-F238E27FC236}">
                <a16:creationId xmlns:a16="http://schemas.microsoft.com/office/drawing/2014/main" id="{BFD6ED45-DACE-1FDD-242C-D218B0F3C80E}"/>
              </a:ext>
            </a:extLst>
          </p:cNvPr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Object Oriented Programming-Spring 23</a:t>
            </a:r>
          </a:p>
        </p:txBody>
      </p:sp>
      <p:sp>
        <p:nvSpPr>
          <p:cNvPr id="51204" name="Slide Number Placeholder 4">
            <a:extLst>
              <a:ext uri="{FF2B5EF4-FFF2-40B4-BE49-F238E27FC236}">
                <a16:creationId xmlns:a16="http://schemas.microsoft.com/office/drawing/2014/main" id="{E07EDB29-63DF-38D6-065D-C12F0EE2404A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C4E0A640-23DA-2C49-9FC7-29C37769B4BD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64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51205" name="Picture 32" descr="https://media.geeksforgeeks.org/wp-content/cdn-uploads/table-class.png">
            <a:extLst>
              <a:ext uri="{FF2B5EF4-FFF2-40B4-BE49-F238E27FC236}">
                <a16:creationId xmlns:a16="http://schemas.microsoft.com/office/drawing/2014/main" id="{B0C3CB66-9980-E34F-1053-2B4126EAC1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905000"/>
            <a:ext cx="8035925" cy="318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>
            <a:extLst>
              <a:ext uri="{FF2B5EF4-FFF2-40B4-BE49-F238E27FC236}">
                <a16:creationId xmlns:a16="http://schemas.microsoft.com/office/drawing/2014/main" id="{D388A2B8-95DA-663B-AD7D-54230D1246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Inheritance vs. Access </a:t>
            </a:r>
          </a:p>
        </p:txBody>
      </p:sp>
      <p:sp>
        <p:nvSpPr>
          <p:cNvPr id="52227" name="Footer Placeholder 3">
            <a:extLst>
              <a:ext uri="{FF2B5EF4-FFF2-40B4-BE49-F238E27FC236}">
                <a16:creationId xmlns:a16="http://schemas.microsoft.com/office/drawing/2014/main" id="{07325E28-2924-8352-21CC-BEAFF6A622CD}"/>
              </a:ext>
            </a:extLst>
          </p:cNvPr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Object Oriented Programming-Spring 23</a:t>
            </a:r>
          </a:p>
        </p:txBody>
      </p:sp>
      <p:sp>
        <p:nvSpPr>
          <p:cNvPr id="52228" name="Slide Number Placeholder 4">
            <a:extLst>
              <a:ext uri="{FF2B5EF4-FFF2-40B4-BE49-F238E27FC236}">
                <a16:creationId xmlns:a16="http://schemas.microsoft.com/office/drawing/2014/main" id="{360AC1F6-CC4A-2410-7C67-8DB894CC22A3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AC9964BB-1D0E-B848-BE46-4CC8198F6990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65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52229" name="Picture 5">
            <a:extLst>
              <a:ext uri="{FF2B5EF4-FFF2-40B4-BE49-F238E27FC236}">
                <a16:creationId xmlns:a16="http://schemas.microsoft.com/office/drawing/2014/main" id="{7D82284A-31BE-FC1A-668F-95347ECE51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100" y="1371600"/>
            <a:ext cx="7035800" cy="452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>
            <a:extLst>
              <a:ext uri="{FF2B5EF4-FFF2-40B4-BE49-F238E27FC236}">
                <a16:creationId xmlns:a16="http://schemas.microsoft.com/office/drawing/2014/main" id="{56380B38-1BA3-434A-CCEB-E0F9580046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Class Access Specifiers – When to use?</a:t>
            </a:r>
          </a:p>
        </p:txBody>
      </p:sp>
      <p:sp>
        <p:nvSpPr>
          <p:cNvPr id="53251" name="Content Placeholder 2">
            <a:extLst>
              <a:ext uri="{FF2B5EF4-FFF2-40B4-BE49-F238E27FC236}">
                <a16:creationId xmlns:a16="http://schemas.microsoft.com/office/drawing/2014/main" id="{9980FB8C-24EE-D312-7A05-641F0E22CF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1295400"/>
            <a:ext cx="8534400" cy="5105400"/>
          </a:xfrm>
        </p:spPr>
        <p:txBody>
          <a:bodyPr/>
          <a:lstStyle/>
          <a:p>
            <a:pPr marL="457200" indent="-457200" algn="just">
              <a:buClr>
                <a:schemeClr val="tx1"/>
              </a:buClr>
              <a:buFontTx/>
              <a:buAutoNum type="arabicParenR"/>
            </a:pPr>
            <a:r>
              <a:rPr lang="en-US" altLang="en-US" sz="2100" b="1">
                <a:solidFill>
                  <a:srgbClr val="FF0000"/>
                </a:solidFill>
                <a:latin typeface="Courier New" panose="02070309020205020404" pitchFamily="49" charset="0"/>
              </a:rPr>
              <a:t>public</a:t>
            </a:r>
            <a:r>
              <a:rPr lang="en-US" altLang="en-US" sz="2100"/>
              <a:t> – object of derived class can be treated as object of base class (not vice-versa)</a:t>
            </a:r>
          </a:p>
          <a:p>
            <a:pPr marL="457200" indent="-457200" algn="just">
              <a:buClr>
                <a:schemeClr val="tx1"/>
              </a:buClr>
              <a:buFontTx/>
              <a:buAutoNum type="arabicParenR"/>
            </a:pPr>
            <a:endParaRPr lang="en-US" altLang="en-US" sz="2100"/>
          </a:p>
          <a:p>
            <a:pPr marL="457200" indent="-457200" algn="just">
              <a:buClr>
                <a:schemeClr val="tx1"/>
              </a:buClr>
              <a:buFontTx/>
              <a:buAutoNum type="arabicParenR"/>
            </a:pPr>
            <a:r>
              <a:rPr lang="en-US" altLang="en-US" sz="2100" b="1">
                <a:solidFill>
                  <a:srgbClr val="FF0000"/>
                </a:solidFill>
                <a:latin typeface="Courier New" panose="02070309020205020404" pitchFamily="49" charset="0"/>
              </a:rPr>
              <a:t>protected</a:t>
            </a:r>
            <a:r>
              <a:rPr lang="en-US" altLang="en-US" sz="2100"/>
              <a:t> – more restrictive than </a:t>
            </a:r>
            <a:r>
              <a:rPr lang="en-US" altLang="en-US" sz="2100" b="1">
                <a:latin typeface="Courier New" panose="02070309020205020404" pitchFamily="49" charset="0"/>
              </a:rPr>
              <a:t>public</a:t>
            </a:r>
            <a:r>
              <a:rPr lang="en-US" altLang="en-US" sz="2100"/>
              <a:t>, but allows derived classes to know details of parents</a:t>
            </a:r>
          </a:p>
          <a:p>
            <a:pPr marL="457200" indent="-457200" algn="just">
              <a:buClr>
                <a:schemeClr val="tx1"/>
              </a:buClr>
              <a:buFontTx/>
              <a:buAutoNum type="arabicParenR"/>
            </a:pPr>
            <a:endParaRPr lang="en-US" altLang="en-US" sz="2100"/>
          </a:p>
          <a:p>
            <a:pPr marL="457200" indent="-457200" algn="just">
              <a:buClr>
                <a:schemeClr val="tx1"/>
              </a:buClr>
              <a:buFontTx/>
              <a:buAutoNum type="arabicParenR"/>
            </a:pPr>
            <a:r>
              <a:rPr lang="en-US" altLang="en-US" sz="2100" b="1">
                <a:solidFill>
                  <a:srgbClr val="FF0000"/>
                </a:solidFill>
                <a:latin typeface="Courier New" panose="02070309020205020404" pitchFamily="49" charset="0"/>
              </a:rPr>
              <a:t>private</a:t>
            </a:r>
            <a:r>
              <a:rPr lang="en-US" altLang="en-US" sz="2100"/>
              <a:t> – prevents objects of derived class from being treated as objects of base class.</a:t>
            </a:r>
          </a:p>
        </p:txBody>
      </p:sp>
      <p:sp>
        <p:nvSpPr>
          <p:cNvPr id="53252" name="Footer Placeholder 3">
            <a:extLst>
              <a:ext uri="{FF2B5EF4-FFF2-40B4-BE49-F238E27FC236}">
                <a16:creationId xmlns:a16="http://schemas.microsoft.com/office/drawing/2014/main" id="{B9033753-72D4-A532-95A3-FC0062922D7A}"/>
              </a:ext>
            </a:extLst>
          </p:cNvPr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Object Oriented Programming-Spring 23</a:t>
            </a:r>
          </a:p>
        </p:txBody>
      </p:sp>
      <p:sp>
        <p:nvSpPr>
          <p:cNvPr id="53253" name="Slide Number Placeholder 4">
            <a:extLst>
              <a:ext uri="{FF2B5EF4-FFF2-40B4-BE49-F238E27FC236}">
                <a16:creationId xmlns:a16="http://schemas.microsoft.com/office/drawing/2014/main" id="{FE4DF676-FCAE-467F-8D8A-58A37FB9F1D5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A4DED468-CA5F-B14B-9661-7866771240B2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66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>
            <a:extLst>
              <a:ext uri="{FF2B5EF4-FFF2-40B4-BE49-F238E27FC236}">
                <a16:creationId xmlns:a16="http://schemas.microsoft.com/office/drawing/2014/main" id="{E40FC6F6-5C71-D6D5-B574-4B489B3B99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Method Overriding</a:t>
            </a:r>
          </a:p>
        </p:txBody>
      </p:sp>
      <p:sp>
        <p:nvSpPr>
          <p:cNvPr id="54275" name="Content Placeholder 2">
            <a:extLst>
              <a:ext uri="{FF2B5EF4-FFF2-40B4-BE49-F238E27FC236}">
                <a16:creationId xmlns:a16="http://schemas.microsoft.com/office/drawing/2014/main" id="{8AB10AC6-6941-7992-AF95-53835180A3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686800" cy="5105400"/>
          </a:xfrm>
        </p:spPr>
        <p:txBody>
          <a:bodyPr/>
          <a:lstStyle/>
          <a:p>
            <a:r>
              <a:rPr lang="en-US" altLang="en-US"/>
              <a:t>A derived class can </a:t>
            </a:r>
            <a:r>
              <a:rPr lang="en-US" altLang="en-US">
                <a:solidFill>
                  <a:srgbClr val="0070C0"/>
                </a:solidFill>
              </a:rPr>
              <a:t>override methods </a:t>
            </a:r>
            <a:r>
              <a:rPr lang="en-US" altLang="en-US"/>
              <a:t>defined in its parent class. </a:t>
            </a:r>
          </a:p>
          <a:p>
            <a:pPr lvl="1"/>
            <a:r>
              <a:rPr lang="en-US" altLang="en-US"/>
              <a:t>the method in the subclass must have the </a:t>
            </a:r>
            <a:r>
              <a:rPr lang="en-US" altLang="en-US">
                <a:solidFill>
                  <a:srgbClr val="0070C0"/>
                </a:solidFill>
              </a:rPr>
              <a:t>identical signature</a:t>
            </a:r>
            <a:r>
              <a:rPr lang="en-US" altLang="en-US"/>
              <a:t> to the method in the base class. </a:t>
            </a:r>
          </a:p>
          <a:p>
            <a:pPr lvl="1"/>
            <a:r>
              <a:rPr lang="en-US" altLang="en-US"/>
              <a:t>a subclass implements its own version of a base class method. </a:t>
            </a:r>
          </a:p>
          <a:p>
            <a:endParaRPr lang="en-US" altLang="en-US"/>
          </a:p>
          <a:p>
            <a:endParaRPr lang="en-US" altLang="en-US"/>
          </a:p>
        </p:txBody>
      </p:sp>
      <p:sp>
        <p:nvSpPr>
          <p:cNvPr id="54276" name="Footer Placeholder 3">
            <a:extLst>
              <a:ext uri="{FF2B5EF4-FFF2-40B4-BE49-F238E27FC236}">
                <a16:creationId xmlns:a16="http://schemas.microsoft.com/office/drawing/2014/main" id="{D7B8B3F8-D14D-5BE3-DF54-C899C960EEE2}"/>
              </a:ext>
            </a:extLst>
          </p:cNvPr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Object Oriented Programming-Spring 23</a:t>
            </a:r>
          </a:p>
        </p:txBody>
      </p:sp>
      <p:sp>
        <p:nvSpPr>
          <p:cNvPr id="54277" name="Slide Number Placeholder 4">
            <a:extLst>
              <a:ext uri="{FF2B5EF4-FFF2-40B4-BE49-F238E27FC236}">
                <a16:creationId xmlns:a16="http://schemas.microsoft.com/office/drawing/2014/main" id="{7D54C7E3-D244-EAEC-A169-385875E00DB3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F725FB6F-D4BD-DD48-9090-39C5134EC14C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67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54278" name="Picture 5">
            <a:extLst>
              <a:ext uri="{FF2B5EF4-FFF2-40B4-BE49-F238E27FC236}">
                <a16:creationId xmlns:a16="http://schemas.microsoft.com/office/drawing/2014/main" id="{F46E353B-AB38-5B8A-3D34-D71DAF4C5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481388"/>
            <a:ext cx="7224713" cy="189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>
            <a:extLst>
              <a:ext uri="{FF2B5EF4-FFF2-40B4-BE49-F238E27FC236}">
                <a16:creationId xmlns:a16="http://schemas.microsoft.com/office/drawing/2014/main" id="{03B05728-1903-63BF-2145-3F4050DBE8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Method Overriding</a:t>
            </a:r>
          </a:p>
        </p:txBody>
      </p:sp>
      <p:sp>
        <p:nvSpPr>
          <p:cNvPr id="55299" name="Footer Placeholder 3">
            <a:extLst>
              <a:ext uri="{FF2B5EF4-FFF2-40B4-BE49-F238E27FC236}">
                <a16:creationId xmlns:a16="http://schemas.microsoft.com/office/drawing/2014/main" id="{243EFCDB-38A9-3018-A8FF-82E8277FB702}"/>
              </a:ext>
            </a:extLst>
          </p:cNvPr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Object Oriented Programming-Spring 23</a:t>
            </a:r>
          </a:p>
        </p:txBody>
      </p:sp>
      <p:sp>
        <p:nvSpPr>
          <p:cNvPr id="55300" name="Slide Number Placeholder 4">
            <a:extLst>
              <a:ext uri="{FF2B5EF4-FFF2-40B4-BE49-F238E27FC236}">
                <a16:creationId xmlns:a16="http://schemas.microsoft.com/office/drawing/2014/main" id="{D6ED091D-7A53-DBCC-08D6-E9103F1B8CFD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FD4FF5AA-39CD-D048-B4FF-BA37778E6EB8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68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55301" name="Picture 10">
            <a:extLst>
              <a:ext uri="{FF2B5EF4-FFF2-40B4-BE49-F238E27FC236}">
                <a16:creationId xmlns:a16="http://schemas.microsoft.com/office/drawing/2014/main" id="{35B0E734-DBA8-AF50-2BB6-F8A1FB443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1371600"/>
            <a:ext cx="6686550" cy="4487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>
            <a:extLst>
              <a:ext uri="{FF2B5EF4-FFF2-40B4-BE49-F238E27FC236}">
                <a16:creationId xmlns:a16="http://schemas.microsoft.com/office/drawing/2014/main" id="{E9A313A9-F3B2-5290-E749-0E0AB0E50F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Types of Inheritance</a:t>
            </a:r>
          </a:p>
        </p:txBody>
      </p:sp>
      <p:sp>
        <p:nvSpPr>
          <p:cNvPr id="56323" name="Content Placeholder 2">
            <a:extLst>
              <a:ext uri="{FF2B5EF4-FFF2-40B4-BE49-F238E27FC236}">
                <a16:creationId xmlns:a16="http://schemas.microsoft.com/office/drawing/2014/main" id="{2D58AE0C-770B-6D95-C04D-A848A913B7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1295400"/>
            <a:ext cx="8610600" cy="5105400"/>
          </a:xfrm>
        </p:spPr>
        <p:txBody>
          <a:bodyPr/>
          <a:lstStyle/>
          <a:p>
            <a:r>
              <a:rPr lang="en-US" altLang="en-US" b="1"/>
              <a:t>Single inheritance</a:t>
            </a:r>
          </a:p>
          <a:p>
            <a:pPr lvl="1"/>
            <a:r>
              <a:rPr lang="en-US" altLang="en-US"/>
              <a:t>Inherits from one base class</a:t>
            </a:r>
          </a:p>
          <a:p>
            <a:pPr lvl="1"/>
            <a:endParaRPr lang="en-US" altLang="en-US"/>
          </a:p>
          <a:p>
            <a:pPr lvl="1"/>
            <a:endParaRPr lang="en-US" altLang="en-US"/>
          </a:p>
          <a:p>
            <a:r>
              <a:rPr lang="en-US" altLang="en-US" b="1"/>
              <a:t>Multi-level inheritance</a:t>
            </a:r>
          </a:p>
          <a:p>
            <a:pPr lvl="1"/>
            <a:r>
              <a:rPr lang="en-US" altLang="en-US"/>
              <a:t>Chain of inheritance</a:t>
            </a:r>
          </a:p>
          <a:p>
            <a:endParaRPr lang="en-US" altLang="en-US" b="1"/>
          </a:p>
          <a:p>
            <a:endParaRPr lang="en-US" altLang="en-US" b="1"/>
          </a:p>
          <a:p>
            <a:r>
              <a:rPr lang="en-US" altLang="en-US" b="1"/>
              <a:t>Multiple inheritance</a:t>
            </a:r>
          </a:p>
          <a:p>
            <a:pPr lvl="1"/>
            <a:r>
              <a:rPr lang="en-US" altLang="en-US"/>
              <a:t>Inherits from multiple classes</a:t>
            </a:r>
          </a:p>
        </p:txBody>
      </p:sp>
      <p:sp>
        <p:nvSpPr>
          <p:cNvPr id="56324" name="Footer Placeholder 3">
            <a:extLst>
              <a:ext uri="{FF2B5EF4-FFF2-40B4-BE49-F238E27FC236}">
                <a16:creationId xmlns:a16="http://schemas.microsoft.com/office/drawing/2014/main" id="{B3F3CB76-07D2-634D-7934-C1BD9C051F3E}"/>
              </a:ext>
            </a:extLst>
          </p:cNvPr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Object Oriented Programming-Spring 23</a:t>
            </a:r>
          </a:p>
        </p:txBody>
      </p:sp>
      <p:sp>
        <p:nvSpPr>
          <p:cNvPr id="56325" name="Slide Number Placeholder 4">
            <a:extLst>
              <a:ext uri="{FF2B5EF4-FFF2-40B4-BE49-F238E27FC236}">
                <a16:creationId xmlns:a16="http://schemas.microsoft.com/office/drawing/2014/main" id="{2425D1F3-C349-B158-7213-04E6F2A08743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0052AF55-FF8C-D144-8195-22B454C903BB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69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CE4172-2680-8AE2-CE05-D310C00D738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122"/>
          <a:stretch>
            <a:fillRect/>
          </a:stretch>
        </p:blipFill>
        <p:spPr bwMode="auto">
          <a:xfrm>
            <a:off x="5257800" y="1736725"/>
            <a:ext cx="3062288" cy="3486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77CA5CBD-C887-62DC-5911-473B4DE3F2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Types of Inheritance: University Example</a:t>
            </a:r>
          </a:p>
        </p:txBody>
      </p:sp>
      <p:sp>
        <p:nvSpPr>
          <p:cNvPr id="57347" name="Footer Placeholder 3">
            <a:extLst>
              <a:ext uri="{FF2B5EF4-FFF2-40B4-BE49-F238E27FC236}">
                <a16:creationId xmlns:a16="http://schemas.microsoft.com/office/drawing/2014/main" id="{126F34F7-9F2B-E027-C820-216DB37769B2}"/>
              </a:ext>
            </a:extLst>
          </p:cNvPr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Object Oriented Programming-Spring 23</a:t>
            </a:r>
          </a:p>
        </p:txBody>
      </p:sp>
      <p:sp>
        <p:nvSpPr>
          <p:cNvPr id="57348" name="Slide Number Placeholder 4">
            <a:extLst>
              <a:ext uri="{FF2B5EF4-FFF2-40B4-BE49-F238E27FC236}">
                <a16:creationId xmlns:a16="http://schemas.microsoft.com/office/drawing/2014/main" id="{C46BA8E4-0AF3-B8A2-CDD1-FB23799256C9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E05621B-B7B4-4246-8AFC-A407DD9CB58F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70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57349" name="Picture 5">
            <a:extLst>
              <a:ext uri="{FF2B5EF4-FFF2-40B4-BE49-F238E27FC236}">
                <a16:creationId xmlns:a16="http://schemas.microsoft.com/office/drawing/2014/main" id="{F9AF5EDC-A735-B6D0-17D8-F876C1C55A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675" y="1263650"/>
            <a:ext cx="7232650" cy="433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>
            <a:extLst>
              <a:ext uri="{FF2B5EF4-FFF2-40B4-BE49-F238E27FC236}">
                <a16:creationId xmlns:a16="http://schemas.microsoft.com/office/drawing/2014/main" id="{3CB23D89-E747-142E-3BEA-FED186CA65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SimSun" panose="02010600030101010101" pitchFamily="2" charset="-122"/>
              </a:rPr>
              <a:t>Multiple Inheritance</a:t>
            </a:r>
            <a:endParaRPr lang="en-US" altLang="en-US"/>
          </a:p>
        </p:txBody>
      </p:sp>
      <p:sp>
        <p:nvSpPr>
          <p:cNvPr id="58371" name="Footer Placeholder 3">
            <a:extLst>
              <a:ext uri="{FF2B5EF4-FFF2-40B4-BE49-F238E27FC236}">
                <a16:creationId xmlns:a16="http://schemas.microsoft.com/office/drawing/2014/main" id="{495F8F1F-F020-7E2E-011B-A2AB1D9DC8BF}"/>
              </a:ext>
            </a:extLst>
          </p:cNvPr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Object Oriented Programming-Spring 23</a:t>
            </a:r>
          </a:p>
        </p:txBody>
      </p:sp>
      <p:sp>
        <p:nvSpPr>
          <p:cNvPr id="58372" name="Slide Number Placeholder 4">
            <a:extLst>
              <a:ext uri="{FF2B5EF4-FFF2-40B4-BE49-F238E27FC236}">
                <a16:creationId xmlns:a16="http://schemas.microsoft.com/office/drawing/2014/main" id="{2B55FBDF-CF40-F13A-8056-970F924449AF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A23E47BF-F192-6B40-B6F7-FDE600B19411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71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58373" name="Picture 5">
            <a:extLst>
              <a:ext uri="{FF2B5EF4-FFF2-40B4-BE49-F238E27FC236}">
                <a16:creationId xmlns:a16="http://schemas.microsoft.com/office/drawing/2014/main" id="{858A4EAB-2A8F-60C3-6E94-9F6F663CAE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5975" y="1524000"/>
            <a:ext cx="4972050" cy="341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>
            <a:extLst>
              <a:ext uri="{FF2B5EF4-FFF2-40B4-BE49-F238E27FC236}">
                <a16:creationId xmlns:a16="http://schemas.microsoft.com/office/drawing/2014/main" id="{BFF1DC5C-A4D5-DDB8-1890-0AAFFA75F5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What is Multiple Inheritance?</a:t>
            </a:r>
          </a:p>
        </p:txBody>
      </p:sp>
      <p:sp>
        <p:nvSpPr>
          <p:cNvPr id="59395" name="Content Placeholder 2">
            <a:extLst>
              <a:ext uri="{FF2B5EF4-FFF2-40B4-BE49-F238E27FC236}">
                <a16:creationId xmlns:a16="http://schemas.microsoft.com/office/drawing/2014/main" id="{CF289106-3938-90F9-C3F6-CEC0AA5AB3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2382838"/>
            <a:ext cx="3148013" cy="3121025"/>
          </a:xfrm>
        </p:spPr>
        <p:txBody>
          <a:bodyPr/>
          <a:lstStyle/>
          <a:p>
            <a:pPr algn="just"/>
            <a:r>
              <a:rPr lang="en-US" altLang="en-US" sz="1800"/>
              <a:t>If class A </a:t>
            </a:r>
            <a:r>
              <a:rPr lang="en-US" altLang="en-US" sz="1800" b="1" i="1">
                <a:solidFill>
                  <a:srgbClr val="FF0000"/>
                </a:solidFill>
              </a:rPr>
              <a:t>inherits from more than one class</a:t>
            </a:r>
            <a:r>
              <a:rPr lang="en-US" altLang="en-US" sz="1800"/>
              <a:t>, </a:t>
            </a:r>
          </a:p>
          <a:p>
            <a:pPr lvl="1" algn="just"/>
            <a:r>
              <a:rPr lang="en-US" altLang="en-US" sz="1500"/>
              <a:t>i.e.,  A </a:t>
            </a:r>
            <a:r>
              <a:rPr lang="en-US" altLang="en-US" sz="1500">
                <a:sym typeface="Wingdings" pitchFamily="2" charset="2"/>
              </a:rPr>
              <a:t> (</a:t>
            </a:r>
            <a:r>
              <a:rPr lang="en-US" altLang="en-US" sz="1500"/>
              <a:t>B1, B2, ..., Bn), we speak of </a:t>
            </a:r>
            <a:r>
              <a:rPr lang="en-US" altLang="en-US" sz="1500">
                <a:solidFill>
                  <a:srgbClr val="0070C0"/>
                </a:solidFill>
              </a:rPr>
              <a:t>multiple inheritance</a:t>
            </a:r>
            <a:r>
              <a:rPr lang="en-US" altLang="en-US"/>
              <a:t>. </a:t>
            </a:r>
          </a:p>
          <a:p>
            <a:endParaRPr lang="en-US" altLang="en-US"/>
          </a:p>
        </p:txBody>
      </p:sp>
      <p:sp>
        <p:nvSpPr>
          <p:cNvPr id="59396" name="Footer Placeholder 3">
            <a:extLst>
              <a:ext uri="{FF2B5EF4-FFF2-40B4-BE49-F238E27FC236}">
                <a16:creationId xmlns:a16="http://schemas.microsoft.com/office/drawing/2014/main" id="{B443472F-EEB2-4635-9226-3CD8F006B1C1}"/>
              </a:ext>
            </a:extLst>
          </p:cNvPr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Object Oriented Programming-Spring 23</a:t>
            </a:r>
          </a:p>
        </p:txBody>
      </p:sp>
      <p:sp>
        <p:nvSpPr>
          <p:cNvPr id="59397" name="Slide Number Placeholder 4">
            <a:extLst>
              <a:ext uri="{FF2B5EF4-FFF2-40B4-BE49-F238E27FC236}">
                <a16:creationId xmlns:a16="http://schemas.microsoft.com/office/drawing/2014/main" id="{35374710-344A-57C3-7EEF-E9D86B5D494B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504FC335-8DDF-4C4E-A279-5B683353200A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72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59398" name="Picture 7">
            <a:extLst>
              <a:ext uri="{FF2B5EF4-FFF2-40B4-BE49-F238E27FC236}">
                <a16:creationId xmlns:a16="http://schemas.microsoft.com/office/drawing/2014/main" id="{2744A469-10C9-063C-7969-D4772FEA78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8138" y="1524000"/>
            <a:ext cx="4648200" cy="434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>
            <a:extLst>
              <a:ext uri="{FF2B5EF4-FFF2-40B4-BE49-F238E27FC236}">
                <a16:creationId xmlns:a16="http://schemas.microsoft.com/office/drawing/2014/main" id="{D93F3276-9381-E77A-857A-B0AB082366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Multiple Inheritance</a:t>
            </a:r>
          </a:p>
        </p:txBody>
      </p:sp>
      <p:sp>
        <p:nvSpPr>
          <p:cNvPr id="60419" name="Content Placeholder 2">
            <a:extLst>
              <a:ext uri="{FF2B5EF4-FFF2-40B4-BE49-F238E27FC236}">
                <a16:creationId xmlns:a16="http://schemas.microsoft.com/office/drawing/2014/main" id="{31654C0E-D9B8-87CD-4F1D-5FED504A12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686800" cy="5105400"/>
          </a:xfrm>
        </p:spPr>
        <p:txBody>
          <a:bodyPr/>
          <a:lstStyle/>
          <a:p>
            <a:pPr algn="just"/>
            <a:r>
              <a:rPr lang="en-US" altLang="en-US"/>
              <a:t>This may introduce naming conflicts:</a:t>
            </a:r>
          </a:p>
          <a:p>
            <a:pPr lvl="1" algn="just"/>
            <a:r>
              <a:rPr lang="en-US" altLang="en-US"/>
              <a:t>if at least two of its base classes define properties (data members or member functions) with the </a:t>
            </a:r>
            <a:r>
              <a:rPr lang="en-US" altLang="en-US">
                <a:solidFill>
                  <a:srgbClr val="0070C0"/>
                </a:solidFill>
              </a:rPr>
              <a:t>same name</a:t>
            </a:r>
            <a:endParaRPr lang="en-US" altLang="en-US"/>
          </a:p>
        </p:txBody>
      </p:sp>
      <p:sp>
        <p:nvSpPr>
          <p:cNvPr id="60420" name="Footer Placeholder 3">
            <a:extLst>
              <a:ext uri="{FF2B5EF4-FFF2-40B4-BE49-F238E27FC236}">
                <a16:creationId xmlns:a16="http://schemas.microsoft.com/office/drawing/2014/main" id="{4C9CBE12-1FD4-269D-49BB-66BCB504B944}"/>
              </a:ext>
            </a:extLst>
          </p:cNvPr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Object Oriented Programming-Spring 23</a:t>
            </a:r>
          </a:p>
        </p:txBody>
      </p:sp>
      <p:sp>
        <p:nvSpPr>
          <p:cNvPr id="60421" name="Slide Number Placeholder 4">
            <a:extLst>
              <a:ext uri="{FF2B5EF4-FFF2-40B4-BE49-F238E27FC236}">
                <a16:creationId xmlns:a16="http://schemas.microsoft.com/office/drawing/2014/main" id="{870BCEB6-EF5D-ECED-37CF-139868782FAF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C313BD8A-9D9E-234F-91E2-C17BE3818A56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73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>
            <a:extLst>
              <a:ext uri="{FF2B5EF4-FFF2-40B4-BE49-F238E27FC236}">
                <a16:creationId xmlns:a16="http://schemas.microsoft.com/office/drawing/2014/main" id="{2DB2DF82-63F8-C525-6CB6-085E8E3A0C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Ambiguity in Multiple Inheritance</a:t>
            </a:r>
          </a:p>
        </p:txBody>
      </p:sp>
      <p:sp>
        <p:nvSpPr>
          <p:cNvPr id="61443" name="Content Placeholder 2">
            <a:extLst>
              <a:ext uri="{FF2B5EF4-FFF2-40B4-BE49-F238E27FC236}">
                <a16:creationId xmlns:a16="http://schemas.microsoft.com/office/drawing/2014/main" id="{CA19D9D4-B08A-4280-4C87-3CDE94D98C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686800" cy="510540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en-US" b="1">
                <a:latin typeface="Consolas" panose="020B0609020204030204" pitchFamily="49" charset="0"/>
                <a:cs typeface="Courier New" panose="02070309020205020404" pitchFamily="49" charset="0"/>
              </a:rPr>
              <a:t>class Student {</a:t>
            </a:r>
          </a:p>
          <a:p>
            <a:pPr marL="0" indent="0">
              <a:buFontTx/>
              <a:buNone/>
            </a:pPr>
            <a:r>
              <a:rPr lang="en-US" altLang="en-US" b="1">
                <a:latin typeface="Consolas" panose="020B0609020204030204" pitchFamily="49" charset="0"/>
                <a:cs typeface="Courier New" panose="02070309020205020404" pitchFamily="49" charset="0"/>
              </a:rPr>
              <a:t>	int id;</a:t>
            </a:r>
          </a:p>
          <a:p>
            <a:pPr marL="0" indent="0">
              <a:buFontTx/>
              <a:buNone/>
            </a:pPr>
            <a:r>
              <a:rPr lang="en-US" altLang="en-US" b="1">
                <a:latin typeface="Consolas" panose="020B0609020204030204" pitchFamily="49" charset="0"/>
                <a:cs typeface="Courier New" panose="02070309020205020404" pitchFamily="49" charset="0"/>
              </a:rPr>
              <a:t>	int age;</a:t>
            </a:r>
          </a:p>
          <a:p>
            <a:pPr marL="0" indent="0">
              <a:buFontTx/>
              <a:buNone/>
            </a:pPr>
            <a:r>
              <a:rPr lang="en-US" altLang="en-US" b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>
              <a:buFontTx/>
              <a:buNone/>
            </a:pPr>
            <a:r>
              <a:rPr lang="en-US" altLang="en-US" b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public:</a:t>
            </a:r>
          </a:p>
          <a:p>
            <a:pPr marL="400050" lvl="1" indent="0">
              <a:buFontTx/>
              <a:buNone/>
            </a:pPr>
            <a:r>
              <a:rPr lang="en-US" altLang="en-US" sz="2400" b="1">
                <a:latin typeface="Consolas" panose="020B0609020204030204" pitchFamily="49" charset="0"/>
                <a:cs typeface="Courier New" panose="02070309020205020404" pitchFamily="49" charset="0"/>
              </a:rPr>
              <a:t>		int GetAge() const { return age; }</a:t>
            </a:r>
          </a:p>
          <a:p>
            <a:pPr marL="400050" lvl="1" indent="0">
              <a:buFontTx/>
              <a:buNone/>
            </a:pPr>
            <a:r>
              <a:rPr lang="en-US" altLang="en-US" sz="2400" b="1">
                <a:latin typeface="Consolas" panose="020B0609020204030204" pitchFamily="49" charset="0"/>
                <a:cs typeface="Courier New" panose="02070309020205020404" pitchFamily="49" charset="0"/>
              </a:rPr>
              <a:t>		int GetId() const { return id; }</a:t>
            </a:r>
          </a:p>
          <a:p>
            <a:pPr marL="400050" lvl="1" indent="0">
              <a:buFontTx/>
              <a:buNone/>
            </a:pPr>
            <a:r>
              <a:rPr lang="en-US" altLang="en-US" sz="2400" b="1">
                <a:latin typeface="Consolas" panose="020B0609020204030204" pitchFamily="49" charset="0"/>
                <a:cs typeface="Courier New" panose="02070309020205020404" pitchFamily="49" charset="0"/>
              </a:rPr>
              <a:t>		void SetAge( int n ) { age = n; }</a:t>
            </a:r>
          </a:p>
          <a:p>
            <a:pPr marL="400050" lvl="1" indent="0">
              <a:buFontTx/>
              <a:buNone/>
            </a:pPr>
            <a:r>
              <a:rPr lang="en-US" altLang="en-US" sz="2400" b="1">
                <a:latin typeface="Consolas" panose="020B0609020204030204" pitchFamily="49" charset="0"/>
                <a:cs typeface="Courier New" panose="02070309020205020404" pitchFamily="49" charset="0"/>
              </a:rPr>
              <a:t>		</a:t>
            </a:r>
            <a:r>
              <a:rPr lang="en-US" altLang="en-US" b="1">
                <a:latin typeface="Consolas" panose="020B0609020204030204" pitchFamily="49" charset="0"/>
                <a:cs typeface="Courier New" panose="02070309020205020404" pitchFamily="49" charset="0"/>
              </a:rPr>
              <a:t>void SetId( int n ) { id=n; }</a:t>
            </a:r>
          </a:p>
          <a:p>
            <a:pPr marL="0" indent="0">
              <a:buFontTx/>
              <a:buNone/>
            </a:pPr>
            <a:r>
              <a:rPr lang="en-US" altLang="en-US" b="1">
                <a:latin typeface="Consolas" panose="020B06090202040302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61444" name="Footer Placeholder 3">
            <a:extLst>
              <a:ext uri="{FF2B5EF4-FFF2-40B4-BE49-F238E27FC236}">
                <a16:creationId xmlns:a16="http://schemas.microsoft.com/office/drawing/2014/main" id="{67AE9936-C2B8-A7DB-8812-88006C05C457}"/>
              </a:ext>
            </a:extLst>
          </p:cNvPr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Object Oriented Programming-Spring 23</a:t>
            </a:r>
          </a:p>
        </p:txBody>
      </p:sp>
      <p:sp>
        <p:nvSpPr>
          <p:cNvPr id="61445" name="Slide Number Placeholder 4">
            <a:extLst>
              <a:ext uri="{FF2B5EF4-FFF2-40B4-BE49-F238E27FC236}">
                <a16:creationId xmlns:a16="http://schemas.microsoft.com/office/drawing/2014/main" id="{1BACF9F3-E48A-2E5D-227F-C305D18F757A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C2FEB03B-F4CA-C149-A9B1-DF0E07997188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74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>
            <a:extLst>
              <a:ext uri="{FF2B5EF4-FFF2-40B4-BE49-F238E27FC236}">
                <a16:creationId xmlns:a16="http://schemas.microsoft.com/office/drawing/2014/main" id="{038F35F0-4A98-7FB8-F21B-F4E83F9801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Ambiguity in Multiple Inheritance</a:t>
            </a:r>
          </a:p>
        </p:txBody>
      </p:sp>
      <p:sp>
        <p:nvSpPr>
          <p:cNvPr id="62467" name="Content Placeholder 2">
            <a:extLst>
              <a:ext uri="{FF2B5EF4-FFF2-40B4-BE49-F238E27FC236}">
                <a16:creationId xmlns:a16="http://schemas.microsoft.com/office/drawing/2014/main" id="{1BDCFD14-BC37-FA1D-DADF-409FEB4355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686800" cy="510540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en-US" sz="2100" b="1">
                <a:latin typeface="Consolas" panose="020B0609020204030204" pitchFamily="49" charset="0"/>
              </a:rPr>
              <a:t>class Employee {</a:t>
            </a:r>
          </a:p>
          <a:p>
            <a:pPr marL="0" indent="0">
              <a:buFontTx/>
              <a:buNone/>
            </a:pPr>
            <a:endParaRPr lang="en-US" altLang="en-US" sz="2100" b="1">
              <a:latin typeface="Consolas" panose="020B0609020204030204" pitchFamily="49" charset="0"/>
            </a:endParaRPr>
          </a:p>
          <a:p>
            <a:pPr marL="400050" lvl="1" indent="0">
              <a:buFontTx/>
              <a:buNone/>
            </a:pPr>
            <a:r>
              <a:rPr lang="en-US" altLang="en-US" sz="2100" b="1">
                <a:solidFill>
                  <a:srgbClr val="FF0000"/>
                </a:solidFill>
                <a:latin typeface="Consolas" panose="020B0609020204030204" pitchFamily="49" charset="0"/>
              </a:rPr>
              <a:t>public:</a:t>
            </a:r>
          </a:p>
          <a:p>
            <a:pPr marL="400050" lvl="1" indent="0">
              <a:buFontTx/>
              <a:buNone/>
            </a:pPr>
            <a:r>
              <a:rPr lang="en-US" altLang="en-US" sz="2100" b="1">
                <a:latin typeface="Consolas" panose="020B0609020204030204" pitchFamily="49" charset="0"/>
              </a:rPr>
              <a:t>	int GetAge() const { return age; }</a:t>
            </a:r>
          </a:p>
          <a:p>
            <a:pPr marL="400050" lvl="1" indent="0">
              <a:buFontTx/>
              <a:buNone/>
            </a:pPr>
            <a:r>
              <a:rPr lang="en-US" altLang="en-US" sz="2100" b="1">
                <a:latin typeface="Consolas" panose="020B0609020204030204" pitchFamily="49" charset="0"/>
              </a:rPr>
              <a:t>	int SetAge( int n ) { age = n; }</a:t>
            </a:r>
          </a:p>
          <a:p>
            <a:pPr marL="400050" lvl="1" indent="0">
              <a:buFontTx/>
              <a:buNone/>
            </a:pPr>
            <a:r>
              <a:rPr lang="en-US" altLang="en-US" sz="2100" b="1">
                <a:latin typeface="Consolas" panose="020B0609020204030204" pitchFamily="49" charset="0"/>
              </a:rPr>
              <a:t>	void SetId( int n) { id=n; }</a:t>
            </a:r>
          </a:p>
          <a:p>
            <a:pPr marL="400050" lvl="1" indent="0">
              <a:buFontTx/>
              <a:buNone/>
            </a:pPr>
            <a:r>
              <a:rPr lang="en-US" altLang="en-US" sz="2100" b="1">
                <a:latin typeface="Consolas" panose="020B0609020204030204" pitchFamily="49" charset="0"/>
              </a:rPr>
              <a:t>	int GetId(void) const { return id; }</a:t>
            </a:r>
          </a:p>
          <a:p>
            <a:pPr marL="400050" lvl="1" indent="0">
              <a:buFontTx/>
              <a:buNone/>
            </a:pPr>
            <a:r>
              <a:rPr lang="en-US" altLang="en-US" sz="2100" b="1">
                <a:solidFill>
                  <a:srgbClr val="FF0000"/>
                </a:solidFill>
                <a:latin typeface="Consolas" panose="020B0609020204030204" pitchFamily="49" charset="0"/>
              </a:rPr>
              <a:t>private:</a:t>
            </a:r>
          </a:p>
          <a:p>
            <a:pPr marL="400050" lvl="1" indent="0">
              <a:buFontTx/>
              <a:buNone/>
            </a:pPr>
            <a:r>
              <a:rPr lang="en-US" altLang="en-US" sz="2100" b="1">
                <a:latin typeface="Consolas" panose="020B0609020204030204" pitchFamily="49" charset="0"/>
              </a:rPr>
              <a:t>	int age;</a:t>
            </a:r>
          </a:p>
          <a:p>
            <a:pPr marL="400050" lvl="1" indent="0">
              <a:buFontTx/>
              <a:buNone/>
            </a:pPr>
            <a:r>
              <a:rPr lang="en-US" altLang="en-US" sz="2100" b="1">
                <a:latin typeface="Consolas" panose="020B0609020204030204" pitchFamily="49" charset="0"/>
              </a:rPr>
              <a:t>	int i</a:t>
            </a:r>
            <a:r>
              <a:rPr lang="en-US" altLang="en-US" sz="1700" b="1">
                <a:latin typeface="Consolas" panose="020B0609020204030204" pitchFamily="49" charset="0"/>
              </a:rPr>
              <a:t>d;</a:t>
            </a:r>
          </a:p>
          <a:p>
            <a:pPr marL="0" indent="0">
              <a:buFontTx/>
              <a:buNone/>
            </a:pPr>
            <a:r>
              <a:rPr lang="en-US" altLang="en-US" sz="2100" b="1"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62468" name="Footer Placeholder 3">
            <a:extLst>
              <a:ext uri="{FF2B5EF4-FFF2-40B4-BE49-F238E27FC236}">
                <a16:creationId xmlns:a16="http://schemas.microsoft.com/office/drawing/2014/main" id="{CCFB89C5-8FF2-DE66-DFC3-4D5DD3728491}"/>
              </a:ext>
            </a:extLst>
          </p:cNvPr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Object Oriented Programming-Spring 23</a:t>
            </a:r>
          </a:p>
        </p:txBody>
      </p:sp>
      <p:sp>
        <p:nvSpPr>
          <p:cNvPr id="62469" name="Slide Number Placeholder 4">
            <a:extLst>
              <a:ext uri="{FF2B5EF4-FFF2-40B4-BE49-F238E27FC236}">
                <a16:creationId xmlns:a16="http://schemas.microsoft.com/office/drawing/2014/main" id="{83462AFA-9948-EF6A-BD36-CE140EEAEC07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71DAFD48-242E-164F-BC6B-F6A00B0FF692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75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>
            <a:extLst>
              <a:ext uri="{FF2B5EF4-FFF2-40B4-BE49-F238E27FC236}">
                <a16:creationId xmlns:a16="http://schemas.microsoft.com/office/drawing/2014/main" id="{5A877CDA-0C2B-2CEF-9FEF-6F9DC53211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Ambiguity in Multiple 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823DC-2EA1-DC9D-A216-DAAA2BA07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71600"/>
            <a:ext cx="7905750" cy="4724400"/>
          </a:xfrm>
        </p:spPr>
        <p:txBody>
          <a:bodyPr>
            <a:normAutofit fontScale="85000" lnSpcReduction="10000"/>
          </a:bodyPr>
          <a:lstStyle/>
          <a:p>
            <a:pPr marL="0" indent="0">
              <a:buFontTx/>
              <a:buNone/>
              <a:defRPr/>
            </a:pPr>
            <a:r>
              <a:rPr lang="en-US" b="1" dirty="0">
                <a:latin typeface="Consolas" panose="020B0609020204030204" pitchFamily="49" charset="0"/>
              </a:rPr>
              <a:t>class Salaried :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public</a:t>
            </a:r>
            <a:r>
              <a:rPr lang="en-US" b="1" dirty="0">
                <a:latin typeface="Consolas" panose="020B0609020204030204" pitchFamily="49" charset="0"/>
              </a:rPr>
              <a:t> Employee {</a:t>
            </a:r>
          </a:p>
          <a:p>
            <a:pPr marL="0" indent="0">
              <a:buFontTx/>
              <a:buNone/>
              <a:defRPr/>
            </a:pPr>
            <a:r>
              <a:rPr lang="en-US" b="1" dirty="0">
                <a:latin typeface="Consolas" panose="020B0609020204030204" pitchFamily="49" charset="0"/>
              </a:rPr>
              <a:t>	float salary;</a:t>
            </a:r>
          </a:p>
          <a:p>
            <a:pPr marL="0" indent="0">
              <a:buFontTx/>
              <a:buNone/>
              <a:defRPr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	public:</a:t>
            </a:r>
          </a:p>
          <a:p>
            <a:pPr marL="400050" lvl="1" indent="0">
              <a:buFontTx/>
              <a:buNone/>
              <a:defRPr/>
            </a:pPr>
            <a:r>
              <a:rPr lang="en-US" sz="2400" b="1" dirty="0">
                <a:latin typeface="Consolas" panose="020B0609020204030204" pitchFamily="49" charset="0"/>
              </a:rPr>
              <a:t>		float </a:t>
            </a:r>
            <a:r>
              <a:rPr lang="en-US" sz="2400" b="1" dirty="0" err="1">
                <a:latin typeface="Consolas" panose="020B0609020204030204" pitchFamily="49" charset="0"/>
              </a:rPr>
              <a:t>GetSalary</a:t>
            </a:r>
            <a:r>
              <a:rPr lang="en-US" sz="2400" b="1" dirty="0">
                <a:latin typeface="Consolas" panose="020B0609020204030204" pitchFamily="49" charset="0"/>
              </a:rPr>
              <a:t>() const { return salary; }</a:t>
            </a:r>
          </a:p>
          <a:p>
            <a:pPr marL="400050" lvl="1" indent="0">
              <a:buFontTx/>
              <a:buNone/>
              <a:defRPr/>
            </a:pPr>
            <a:r>
              <a:rPr lang="en-US" sz="2400" b="1" dirty="0">
                <a:latin typeface="Consolas" panose="020B0609020204030204" pitchFamily="49" charset="0"/>
              </a:rPr>
              <a:t>		void </a:t>
            </a:r>
            <a:r>
              <a:rPr lang="en-US" sz="2400" b="1" dirty="0" err="1">
                <a:latin typeface="Consolas" panose="020B0609020204030204" pitchFamily="49" charset="0"/>
              </a:rPr>
              <a:t>SetSalary</a:t>
            </a:r>
            <a:r>
              <a:rPr lang="en-US" sz="2400" b="1" dirty="0">
                <a:latin typeface="Consolas" panose="020B0609020204030204" pitchFamily="49" charset="0"/>
              </a:rPr>
              <a:t>( float s ) { salary=s; }</a:t>
            </a:r>
          </a:p>
          <a:p>
            <a:pPr marL="0" indent="0">
              <a:buFontTx/>
              <a:buNone/>
              <a:defRPr/>
            </a:pPr>
            <a:r>
              <a:rPr lang="en-US" b="1" dirty="0">
                <a:latin typeface="Consolas" panose="020B0609020204030204" pitchFamily="49" charset="0"/>
              </a:rPr>
              <a:t>};</a:t>
            </a:r>
          </a:p>
          <a:p>
            <a:pPr marL="0" indent="0">
              <a:buFontTx/>
              <a:buNone/>
              <a:defRPr/>
            </a:pPr>
            <a:r>
              <a:rPr lang="en-US" b="1" dirty="0">
                <a:latin typeface="Consolas" panose="020B0609020204030204" pitchFamily="49" charset="0"/>
              </a:rPr>
              <a:t> </a:t>
            </a:r>
          </a:p>
          <a:p>
            <a:pPr marL="0" indent="0">
              <a:buFontTx/>
              <a:buNone/>
              <a:defRPr/>
            </a:pPr>
            <a:r>
              <a:rPr lang="en-US" b="1" dirty="0">
                <a:latin typeface="Consolas" panose="020B0609020204030204" pitchFamily="49" charset="0"/>
              </a:rPr>
              <a:t>class </a:t>
            </a:r>
            <a:r>
              <a:rPr lang="en-US" b="1" dirty="0" err="1">
                <a:latin typeface="Consolas" panose="020B0609020204030204" pitchFamily="49" charset="0"/>
              </a:rPr>
              <a:t>GradAssistant</a:t>
            </a:r>
            <a:r>
              <a:rPr lang="en-US" b="1" dirty="0"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:public Student, public Salaried</a:t>
            </a:r>
            <a:r>
              <a:rPr lang="en-US" b="1" dirty="0">
                <a:latin typeface="Consolas" panose="020B0609020204030204" pitchFamily="49" charset="0"/>
              </a:rPr>
              <a:t> {</a:t>
            </a:r>
          </a:p>
          <a:p>
            <a:pPr marL="0" indent="0">
              <a:buFontTx/>
              <a:buNone/>
              <a:defRPr/>
            </a:pPr>
            <a:r>
              <a:rPr lang="en-US" b="1" dirty="0">
                <a:latin typeface="Consolas" panose="020B0609020204030204" pitchFamily="49" charset="0"/>
              </a:rPr>
              <a:t>   public:</a:t>
            </a:r>
          </a:p>
          <a:p>
            <a:pPr marL="0" indent="0">
              <a:buFontTx/>
              <a:buNone/>
              <a:defRPr/>
            </a:pPr>
            <a:r>
              <a:rPr lang="en-US" b="1" dirty="0">
                <a:latin typeface="Consolas" panose="020B0609020204030204" pitchFamily="49" charset="0"/>
              </a:rPr>
              <a:t>	void Display() const {	</a:t>
            </a:r>
          </a:p>
          <a:p>
            <a:pPr marL="0" indent="0">
              <a:buFontTx/>
              <a:buNone/>
              <a:defRPr/>
            </a:pPr>
            <a:r>
              <a:rPr lang="en-US" b="1" dirty="0">
                <a:latin typeface="Consolas" panose="020B0609020204030204" pitchFamily="49" charset="0"/>
              </a:rPr>
              <a:t>	</a:t>
            </a:r>
            <a:r>
              <a:rPr lang="en-US" b="1" dirty="0" err="1">
                <a:latin typeface="Consolas" panose="020B0609020204030204" pitchFamily="49" charset="0"/>
              </a:rPr>
              <a:t>cout</a:t>
            </a:r>
            <a:r>
              <a:rPr lang="en-US" b="1" dirty="0">
                <a:latin typeface="Consolas" panose="020B0609020204030204" pitchFamily="49" charset="0"/>
              </a:rPr>
              <a:t>&lt;&lt;</a:t>
            </a:r>
            <a:r>
              <a:rPr lang="en-US" b="1" dirty="0" err="1">
                <a:latin typeface="Consolas" panose="020B0609020204030204" pitchFamily="49" charset="0"/>
              </a:rPr>
              <a:t>GetId</a:t>
            </a:r>
            <a:r>
              <a:rPr lang="en-US" b="1" dirty="0">
                <a:latin typeface="Consolas" panose="020B0609020204030204" pitchFamily="49" charset="0"/>
              </a:rPr>
              <a:t>()&lt;&lt;","&lt;&lt;</a:t>
            </a:r>
            <a:r>
              <a:rPr lang="en-US" b="1" dirty="0" err="1">
                <a:latin typeface="Consolas" panose="020B0609020204030204" pitchFamily="49" charset="0"/>
              </a:rPr>
              <a:t>GetSalary</a:t>
            </a:r>
            <a:r>
              <a:rPr lang="en-US" b="1" dirty="0">
                <a:latin typeface="Consolas" panose="020B0609020204030204" pitchFamily="49" charset="0"/>
              </a:rPr>
              <a:t>()&lt;&lt;","&lt;&lt;</a:t>
            </a:r>
            <a:r>
              <a:rPr lang="en-US" b="1" dirty="0" err="1">
                <a:latin typeface="Consolas" panose="020B0609020204030204" pitchFamily="49" charset="0"/>
              </a:rPr>
              <a:t>GetAge</a:t>
            </a:r>
            <a:r>
              <a:rPr lang="en-US" b="1" dirty="0">
                <a:latin typeface="Consolas" panose="020B0609020204030204" pitchFamily="49" charset="0"/>
              </a:rPr>
              <a:t>(); </a:t>
            </a:r>
          </a:p>
          <a:p>
            <a:pPr marL="0" indent="0">
              <a:buFontTx/>
              <a:buNone/>
              <a:defRPr/>
            </a:pPr>
            <a:endParaRPr lang="en-US" b="1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 marL="0" indent="0">
              <a:buFontTx/>
              <a:buNone/>
              <a:defRPr/>
            </a:pPr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</a:rPr>
              <a:t>//ambiguity</a:t>
            </a:r>
          </a:p>
          <a:p>
            <a:pPr marL="0" indent="0">
              <a:buFontTx/>
              <a:buNone/>
              <a:defRPr/>
            </a:pPr>
            <a:r>
              <a:rPr lang="en-US" b="1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3492" name="Footer Placeholder 3">
            <a:extLst>
              <a:ext uri="{FF2B5EF4-FFF2-40B4-BE49-F238E27FC236}">
                <a16:creationId xmlns:a16="http://schemas.microsoft.com/office/drawing/2014/main" id="{46672202-B475-FCAE-FEA1-A03CBCED7FDF}"/>
              </a:ext>
            </a:extLst>
          </p:cNvPr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Object Oriented Programming-Spring 23</a:t>
            </a:r>
          </a:p>
        </p:txBody>
      </p:sp>
      <p:sp>
        <p:nvSpPr>
          <p:cNvPr id="63493" name="Slide Number Placeholder 4">
            <a:extLst>
              <a:ext uri="{FF2B5EF4-FFF2-40B4-BE49-F238E27FC236}">
                <a16:creationId xmlns:a16="http://schemas.microsoft.com/office/drawing/2014/main" id="{14AA9B22-BDE3-49EA-7B94-9140910D452F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939D771B-13A1-6C44-90C0-0B01C119BBAE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76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>
            <a:extLst>
              <a:ext uri="{FF2B5EF4-FFF2-40B4-BE49-F238E27FC236}">
                <a16:creationId xmlns:a16="http://schemas.microsoft.com/office/drawing/2014/main" id="{91FC4779-2754-479B-4895-19D2AC6B18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Ambiguity in Multiple Inheritance</a:t>
            </a:r>
          </a:p>
        </p:txBody>
      </p:sp>
      <p:sp>
        <p:nvSpPr>
          <p:cNvPr id="64515" name="Content Placeholder 2">
            <a:extLst>
              <a:ext uri="{FF2B5EF4-FFF2-40B4-BE49-F238E27FC236}">
                <a16:creationId xmlns:a16="http://schemas.microsoft.com/office/drawing/2014/main" id="{E78BF2F2-4021-D108-A3BE-6C19922AF5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1295400"/>
            <a:ext cx="8763000" cy="510540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fr-FR" altLang="en-US" b="1">
                <a:latin typeface="Consolas" panose="020B0609020204030204" pitchFamily="49" charset="0"/>
              </a:rPr>
              <a:t>i</a:t>
            </a:r>
            <a:r>
              <a:rPr lang="en-US" altLang="en-US" b="1">
                <a:latin typeface="Consolas" panose="020B0609020204030204" pitchFamily="49" charset="0"/>
              </a:rPr>
              <a:t>nt main(void) { </a:t>
            </a:r>
          </a:p>
          <a:p>
            <a:pPr marL="0" indent="0">
              <a:buFontTx/>
              <a:buNone/>
            </a:pPr>
            <a:r>
              <a:rPr lang="en-US" altLang="en-US" b="1">
                <a:latin typeface="Consolas" panose="020B0609020204030204" pitchFamily="49" charset="0"/>
              </a:rPr>
              <a:t> </a:t>
            </a:r>
          </a:p>
          <a:p>
            <a:pPr marL="0" indent="0">
              <a:buFontTx/>
              <a:buNone/>
            </a:pPr>
            <a:r>
              <a:rPr lang="en-US" altLang="en-US" b="1">
                <a:latin typeface="Consolas" panose="020B0609020204030204" pitchFamily="49" charset="0"/>
              </a:rPr>
              <a:t> GradAssistant ga;</a:t>
            </a:r>
          </a:p>
          <a:p>
            <a:pPr marL="0" indent="0">
              <a:buFontTx/>
              <a:buNone/>
            </a:pPr>
            <a:r>
              <a:rPr lang="en-US" altLang="en-US" b="1">
                <a:latin typeface="Consolas" panose="020B0609020204030204" pitchFamily="49" charset="0"/>
              </a:rPr>
              <a:t> ga.SetAge(20);	</a:t>
            </a:r>
            <a:r>
              <a:rPr lang="en-US" altLang="en-US" b="1">
                <a:solidFill>
                  <a:srgbClr val="0070C0"/>
                </a:solidFill>
                <a:latin typeface="Consolas" panose="020B0609020204030204" pitchFamily="49" charset="0"/>
              </a:rPr>
              <a:t>//ambiguity</a:t>
            </a:r>
          </a:p>
          <a:p>
            <a:pPr marL="0" indent="0">
              <a:buFontTx/>
              <a:buNone/>
            </a:pPr>
            <a:r>
              <a:rPr lang="en-US" altLang="en-US" b="1">
                <a:latin typeface="Consolas" panose="020B0609020204030204" pitchFamily="49" charset="0"/>
              </a:rPr>
              <a:t> ga.SetId(15);	</a:t>
            </a:r>
            <a:r>
              <a:rPr lang="en-US" altLang="en-US" b="1">
                <a:solidFill>
                  <a:srgbClr val="0070C0"/>
                </a:solidFill>
                <a:latin typeface="Consolas" panose="020B0609020204030204" pitchFamily="49" charset="0"/>
              </a:rPr>
              <a:t>//ambiguity</a:t>
            </a:r>
          </a:p>
          <a:p>
            <a:pPr marL="0" indent="0">
              <a:buFontTx/>
              <a:buNone/>
            </a:pPr>
            <a:r>
              <a:rPr lang="en-US" altLang="en-US" b="1">
                <a:latin typeface="Consolas" panose="020B0609020204030204" pitchFamily="49" charset="0"/>
              </a:rPr>
              <a:t> ga.Display();	</a:t>
            </a:r>
            <a:r>
              <a:rPr lang="en-US" altLang="en-US" b="1">
                <a:solidFill>
                  <a:srgbClr val="0070C0"/>
                </a:solidFill>
                <a:latin typeface="Consolas" panose="020B0609020204030204" pitchFamily="49" charset="0"/>
              </a:rPr>
              <a:t>//ambiguity inside display()</a:t>
            </a:r>
            <a:endParaRPr lang="en-US" altLang="en-US" b="1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endParaRPr lang="en-US" altLang="en-US" b="1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altLang="en-US" b="1">
                <a:latin typeface="Consolas" panose="020B0609020204030204" pitchFamily="49" charset="0"/>
              </a:rPr>
              <a:t>}</a:t>
            </a:r>
          </a:p>
          <a:p>
            <a:pPr marL="0" indent="0">
              <a:buFontTx/>
              <a:buNone/>
            </a:pPr>
            <a:r>
              <a:rPr lang="en-US" altLang="en-US" b="1">
                <a:latin typeface="Consolas" panose="020B0609020204030204" pitchFamily="49" charset="0"/>
              </a:rPr>
              <a:t>//program will not compile and will generate errors</a:t>
            </a:r>
          </a:p>
        </p:txBody>
      </p:sp>
      <p:sp>
        <p:nvSpPr>
          <p:cNvPr id="64516" name="Footer Placeholder 3">
            <a:extLst>
              <a:ext uri="{FF2B5EF4-FFF2-40B4-BE49-F238E27FC236}">
                <a16:creationId xmlns:a16="http://schemas.microsoft.com/office/drawing/2014/main" id="{D3009881-54F6-438E-F786-00689CBF8835}"/>
              </a:ext>
            </a:extLst>
          </p:cNvPr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Object Oriented Programming-Spring 23</a:t>
            </a:r>
          </a:p>
        </p:txBody>
      </p:sp>
      <p:sp>
        <p:nvSpPr>
          <p:cNvPr id="64517" name="Slide Number Placeholder 4">
            <a:extLst>
              <a:ext uri="{FF2B5EF4-FFF2-40B4-BE49-F238E27FC236}">
                <a16:creationId xmlns:a16="http://schemas.microsoft.com/office/drawing/2014/main" id="{9BDCD0DF-8ED3-9619-8713-7A5ED8333656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C59EC0F-DC76-7B49-B416-FDCF03C1EE02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77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>
            <a:extLst>
              <a:ext uri="{FF2B5EF4-FFF2-40B4-BE49-F238E27FC236}">
                <a16:creationId xmlns:a16="http://schemas.microsoft.com/office/drawing/2014/main" id="{68A98CD4-A56B-2A8A-28FF-1EA5CE8E37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What is the solution?</a:t>
            </a:r>
          </a:p>
        </p:txBody>
      </p:sp>
      <p:sp>
        <p:nvSpPr>
          <p:cNvPr id="65539" name="Content Placeholder 2">
            <a:extLst>
              <a:ext uri="{FF2B5EF4-FFF2-40B4-BE49-F238E27FC236}">
                <a16:creationId xmlns:a16="http://schemas.microsoft.com/office/drawing/2014/main" id="{14506F48-AFCD-44B3-73BC-64B559B227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686800" cy="5105400"/>
          </a:xfrm>
        </p:spPr>
        <p:txBody>
          <a:bodyPr/>
          <a:lstStyle/>
          <a:p>
            <a:r>
              <a:rPr lang="en-US" altLang="en-US"/>
              <a:t>Call </a:t>
            </a:r>
            <a:r>
              <a:rPr lang="en-US" altLang="en-US">
                <a:solidFill>
                  <a:srgbClr val="0070C0"/>
                </a:solidFill>
              </a:rPr>
              <a:t>functions explicitly </a:t>
            </a:r>
            <a:r>
              <a:rPr lang="en-US" altLang="en-US"/>
              <a:t>by specifying name of class and using </a:t>
            </a:r>
            <a:r>
              <a:rPr lang="en-US" altLang="en-US">
                <a:solidFill>
                  <a:srgbClr val="0070C0"/>
                </a:solidFill>
              </a:rPr>
              <a:t>scope resolution operator </a:t>
            </a:r>
            <a:r>
              <a:rPr lang="en-US" altLang="en-US"/>
              <a:t>to remove ambiguity:</a:t>
            </a:r>
          </a:p>
          <a:p>
            <a:endParaRPr lang="en-US" altLang="en-US"/>
          </a:p>
          <a:p>
            <a:pPr marL="685800" lvl="1" indent="-342900">
              <a:buFontTx/>
              <a:buAutoNum type="arabicPeriod"/>
            </a:pPr>
            <a:r>
              <a:rPr lang="en-US" altLang="zh-CN">
                <a:ea typeface="SimSun" panose="02010600030101010101" pitchFamily="2" charset="-122"/>
              </a:rPr>
              <a:t>Direct solution: </a:t>
            </a:r>
          </a:p>
          <a:p>
            <a:pPr marL="685800" lvl="1" indent="-342900">
              <a:buFontTx/>
              <a:buNone/>
            </a:pPr>
            <a:r>
              <a:rPr lang="en-US" altLang="zh-CN">
                <a:ea typeface="SimSun" panose="02010600030101010101" pitchFamily="2" charset="-122"/>
              </a:rPr>
              <a:t>		</a:t>
            </a:r>
            <a:r>
              <a:rPr lang="en-US" altLang="zh-CN">
                <a:latin typeface="Consolas" panose="020B0609020204030204" pitchFamily="49" charset="0"/>
                <a:ea typeface="SimSun" panose="02010600030101010101" pitchFamily="2" charset="-122"/>
              </a:rPr>
              <a:t>Student::SetAge() </a:t>
            </a:r>
            <a:r>
              <a:rPr lang="en-US" altLang="zh-CN">
                <a:ea typeface="SimSun" panose="02010600030101010101" pitchFamily="2" charset="-122"/>
              </a:rPr>
              <a:t>or  </a:t>
            </a:r>
            <a:r>
              <a:rPr lang="en-US" altLang="zh-CN">
                <a:latin typeface="Consolas" panose="020B0609020204030204" pitchFamily="49" charset="0"/>
                <a:ea typeface="SimSun" panose="02010600030101010101" pitchFamily="2" charset="-122"/>
              </a:rPr>
              <a:t>Salaried::SetAge()</a:t>
            </a:r>
          </a:p>
          <a:p>
            <a:pPr marL="685800" lvl="1" indent="-342900">
              <a:buFontTx/>
              <a:buNone/>
            </a:pPr>
            <a:endParaRPr lang="en-US" altLang="zh-CN">
              <a:latin typeface="Consolas" panose="020B0609020204030204" pitchFamily="49" charset="0"/>
              <a:ea typeface="SimSun" panose="02010600030101010101" pitchFamily="2" charset="-122"/>
            </a:endParaRPr>
          </a:p>
        </p:txBody>
      </p:sp>
      <p:sp>
        <p:nvSpPr>
          <p:cNvPr id="65540" name="Footer Placeholder 3">
            <a:extLst>
              <a:ext uri="{FF2B5EF4-FFF2-40B4-BE49-F238E27FC236}">
                <a16:creationId xmlns:a16="http://schemas.microsoft.com/office/drawing/2014/main" id="{462322A9-4D04-A417-4C27-9209C033DA0D}"/>
              </a:ext>
            </a:extLst>
          </p:cNvPr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Object Oriented Programming-Spring 23</a:t>
            </a:r>
          </a:p>
        </p:txBody>
      </p:sp>
      <p:sp>
        <p:nvSpPr>
          <p:cNvPr id="65541" name="Slide Number Placeholder 4">
            <a:extLst>
              <a:ext uri="{FF2B5EF4-FFF2-40B4-BE49-F238E27FC236}">
                <a16:creationId xmlns:a16="http://schemas.microsoft.com/office/drawing/2014/main" id="{C4B6CE94-11DB-1FC0-732C-C3331E27498C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2A1C2F2C-4E0D-1941-A311-9AC6619FF2DE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78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>
            <a:extLst>
              <a:ext uri="{FF2B5EF4-FFF2-40B4-BE49-F238E27FC236}">
                <a16:creationId xmlns:a16="http://schemas.microsoft.com/office/drawing/2014/main" id="{C6738F06-B925-AC9B-E80A-E52C63B5A4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Diamond Problem</a:t>
            </a:r>
          </a:p>
        </p:txBody>
      </p:sp>
      <p:sp>
        <p:nvSpPr>
          <p:cNvPr id="66563" name="Content Placeholder 2">
            <a:extLst>
              <a:ext uri="{FF2B5EF4-FFF2-40B4-BE49-F238E27FC236}">
                <a16:creationId xmlns:a16="http://schemas.microsoft.com/office/drawing/2014/main" id="{7D450C14-3B20-EB09-CB4D-CDB910AC11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1295400"/>
            <a:ext cx="8610600" cy="5105400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fi-FI" altLang="en-US" sz="2100">
                <a:latin typeface="Consolas" panose="020B0609020204030204" pitchFamily="49" charset="0"/>
              </a:rPr>
              <a:t>class A { </a:t>
            </a:r>
          </a:p>
          <a:p>
            <a:pPr marL="0" indent="0" eaLnBrk="1" hangingPunct="1">
              <a:buFontTx/>
              <a:buNone/>
            </a:pPr>
            <a:r>
              <a:rPr lang="fi-FI" altLang="en-US" sz="2100">
                <a:latin typeface="Consolas" panose="020B0609020204030204" pitchFamily="49" charset="0"/>
              </a:rPr>
              <a:t>	public: </a:t>
            </a:r>
          </a:p>
          <a:p>
            <a:pPr marL="0" indent="0" eaLnBrk="1" hangingPunct="1">
              <a:buFontTx/>
              <a:buNone/>
            </a:pPr>
            <a:r>
              <a:rPr lang="fi-FI" altLang="en-US" sz="2100">
                <a:latin typeface="Consolas" panose="020B0609020204030204" pitchFamily="49" charset="0"/>
              </a:rPr>
              <a:t>		void Foo() {} </a:t>
            </a:r>
          </a:p>
          <a:p>
            <a:pPr marL="0" indent="0" eaLnBrk="1" hangingPunct="1">
              <a:buFontTx/>
              <a:buNone/>
            </a:pPr>
            <a:r>
              <a:rPr lang="fi-FI" altLang="en-US" sz="2100">
                <a:latin typeface="Consolas" panose="020B0609020204030204" pitchFamily="49" charset="0"/>
              </a:rPr>
              <a:t>}</a:t>
            </a:r>
          </a:p>
          <a:p>
            <a:pPr marL="0" indent="0" eaLnBrk="1" hangingPunct="1">
              <a:buFontTx/>
              <a:buNone/>
            </a:pPr>
            <a:r>
              <a:rPr lang="en-US" altLang="en-US" sz="2100">
                <a:latin typeface="Consolas" panose="020B0609020204030204" pitchFamily="49" charset="0"/>
              </a:rPr>
              <a:t>class B : public A {}</a:t>
            </a:r>
          </a:p>
          <a:p>
            <a:pPr marL="0" indent="0" eaLnBrk="1" hangingPunct="1">
              <a:buFontTx/>
              <a:buNone/>
            </a:pPr>
            <a:r>
              <a:rPr lang="en-US" altLang="en-US" sz="2100">
                <a:latin typeface="Consolas" panose="020B0609020204030204" pitchFamily="49" charset="0"/>
              </a:rPr>
              <a:t>class C : public A {}</a:t>
            </a:r>
          </a:p>
          <a:p>
            <a:pPr marL="0" indent="0" eaLnBrk="1" hangingPunct="1">
              <a:buFontTx/>
              <a:buNone/>
            </a:pPr>
            <a:r>
              <a:rPr lang="en-US" altLang="en-US" sz="2100">
                <a:latin typeface="Consolas" panose="020B0609020204030204" pitchFamily="49" charset="0"/>
              </a:rPr>
              <a:t>class D : public B, public C {}</a:t>
            </a:r>
          </a:p>
          <a:p>
            <a:pPr marL="0" indent="0" eaLnBrk="1" hangingPunct="1">
              <a:buFontTx/>
              <a:buNone/>
            </a:pPr>
            <a:r>
              <a:rPr lang="fr-FR" altLang="en-US" sz="2100">
                <a:latin typeface="Consolas" panose="020B0609020204030204" pitchFamily="49" charset="0"/>
              </a:rPr>
              <a:t>D d;</a:t>
            </a:r>
          </a:p>
          <a:p>
            <a:pPr marL="0" indent="0" eaLnBrk="1" hangingPunct="1">
              <a:buFontTx/>
              <a:buNone/>
            </a:pPr>
            <a:r>
              <a:rPr lang="en-US" altLang="en-US" sz="2100">
                <a:latin typeface="Consolas" panose="020B0609020204030204" pitchFamily="49" charset="0"/>
              </a:rPr>
              <a:t>d.Foo(); </a:t>
            </a:r>
          </a:p>
          <a:p>
            <a:pPr marL="0" indent="0" eaLnBrk="1" hangingPunct="1">
              <a:buFontTx/>
              <a:buNone/>
            </a:pPr>
            <a:r>
              <a:rPr lang="en-US" altLang="en-US" sz="2100">
                <a:latin typeface="Consolas" panose="020B0609020204030204" pitchFamily="49" charset="0"/>
              </a:rPr>
              <a:t>is this B's Foo() or C's Foo() ?? </a:t>
            </a:r>
            <a:r>
              <a:rPr lang="en-US" altLang="en-US" sz="2100" b="1" i="1">
                <a:solidFill>
                  <a:srgbClr val="0070C0"/>
                </a:solidFill>
              </a:rPr>
              <a:t>ambiguous</a:t>
            </a:r>
            <a:endParaRPr lang="fr-FR" altLang="en-US" sz="2100" b="1" i="1">
              <a:solidFill>
                <a:srgbClr val="0070C0"/>
              </a:solidFill>
              <a:latin typeface="Consolas" panose="020B0609020204030204" pitchFamily="49" charset="0"/>
            </a:endParaRPr>
          </a:p>
        </p:txBody>
      </p:sp>
      <p:sp>
        <p:nvSpPr>
          <p:cNvPr id="66564" name="Footer Placeholder 3">
            <a:extLst>
              <a:ext uri="{FF2B5EF4-FFF2-40B4-BE49-F238E27FC236}">
                <a16:creationId xmlns:a16="http://schemas.microsoft.com/office/drawing/2014/main" id="{9848AE8C-F3C0-199F-D143-31AD1EE419AB}"/>
              </a:ext>
            </a:extLst>
          </p:cNvPr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Object Oriented Programming-Spring 23</a:t>
            </a:r>
          </a:p>
        </p:txBody>
      </p:sp>
      <p:sp>
        <p:nvSpPr>
          <p:cNvPr id="66565" name="Slide Number Placeholder 4">
            <a:extLst>
              <a:ext uri="{FF2B5EF4-FFF2-40B4-BE49-F238E27FC236}">
                <a16:creationId xmlns:a16="http://schemas.microsoft.com/office/drawing/2014/main" id="{1A68C0AB-4796-EF94-A103-1D88D3C8A53F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D00C1DCE-3E4F-D146-AE2E-4307BD2CB80F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79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66566" name="Picture 2" descr="Usage of super() with Dreaded Diamond - CodeSpeedy">
            <a:extLst>
              <a:ext uri="{FF2B5EF4-FFF2-40B4-BE49-F238E27FC236}">
                <a16:creationId xmlns:a16="http://schemas.microsoft.com/office/drawing/2014/main" id="{97934A8F-74F3-73DA-1296-C4C7CD49FA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9138" y="2882900"/>
            <a:ext cx="1728787" cy="148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>
            <a:extLst>
              <a:ext uri="{FF2B5EF4-FFF2-40B4-BE49-F238E27FC236}">
                <a16:creationId xmlns:a16="http://schemas.microsoft.com/office/drawing/2014/main" id="{EB2C6CA0-7DDB-2F2B-DA45-D40132C483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What is the solution?</a:t>
            </a:r>
          </a:p>
        </p:txBody>
      </p:sp>
      <p:sp>
        <p:nvSpPr>
          <p:cNvPr id="67587" name="Content Placeholder 2">
            <a:extLst>
              <a:ext uri="{FF2B5EF4-FFF2-40B4-BE49-F238E27FC236}">
                <a16:creationId xmlns:a16="http://schemas.microsoft.com/office/drawing/2014/main" id="{FA9171D6-C517-4239-6CC3-DB79C95BFF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295400"/>
            <a:ext cx="8534400" cy="5105400"/>
          </a:xfrm>
        </p:spPr>
        <p:txBody>
          <a:bodyPr/>
          <a:lstStyle/>
          <a:p>
            <a:r>
              <a:rPr lang="en-US" altLang="en-US"/>
              <a:t>Call </a:t>
            </a:r>
            <a:r>
              <a:rPr lang="en-US" altLang="en-US">
                <a:solidFill>
                  <a:srgbClr val="0070C0"/>
                </a:solidFill>
              </a:rPr>
              <a:t>functions explicitly </a:t>
            </a:r>
            <a:r>
              <a:rPr lang="en-US" altLang="en-US"/>
              <a:t>by specifying name of class and using scope resolution operator to remove ambiguity:</a:t>
            </a:r>
          </a:p>
          <a:p>
            <a:endParaRPr lang="en-US" altLang="en-US"/>
          </a:p>
          <a:p>
            <a:pPr marL="685800" lvl="1" indent="-342900">
              <a:buFontTx/>
              <a:buAutoNum type="arabicPeriod"/>
            </a:pPr>
            <a:r>
              <a:rPr lang="en-US" altLang="zh-CN">
                <a:ea typeface="SimSun" panose="02010600030101010101" pitchFamily="2" charset="-122"/>
              </a:rPr>
              <a:t>Direct solution: </a:t>
            </a:r>
          </a:p>
          <a:p>
            <a:pPr marL="685800" lvl="1" indent="-342900">
              <a:buFontTx/>
              <a:buNone/>
            </a:pPr>
            <a:r>
              <a:rPr lang="en-US" altLang="zh-CN">
                <a:ea typeface="SimSun" panose="02010600030101010101" pitchFamily="2" charset="-122"/>
              </a:rPr>
              <a:t>		</a:t>
            </a:r>
            <a:r>
              <a:rPr lang="en-US" altLang="zh-CN">
                <a:latin typeface="Consolas" panose="020B0609020204030204" pitchFamily="49" charset="0"/>
                <a:ea typeface="SimSun" panose="02010600030101010101" pitchFamily="2" charset="-122"/>
              </a:rPr>
              <a:t>Student::SetAge() </a:t>
            </a:r>
            <a:r>
              <a:rPr lang="en-US" altLang="zh-CN">
                <a:ea typeface="SimSun" panose="02010600030101010101" pitchFamily="2" charset="-122"/>
              </a:rPr>
              <a:t>or  </a:t>
            </a:r>
            <a:r>
              <a:rPr lang="en-US" altLang="zh-CN">
                <a:latin typeface="Consolas" panose="020B0609020204030204" pitchFamily="49" charset="0"/>
                <a:ea typeface="SimSun" panose="02010600030101010101" pitchFamily="2" charset="-122"/>
              </a:rPr>
              <a:t>Salaried::SetAge()</a:t>
            </a:r>
          </a:p>
          <a:p>
            <a:pPr marL="685800" lvl="1" indent="-342900">
              <a:buFontTx/>
              <a:buNone/>
            </a:pPr>
            <a:endParaRPr lang="en-US" altLang="zh-CN">
              <a:latin typeface="Consolas" panose="020B0609020204030204" pitchFamily="49" charset="0"/>
              <a:ea typeface="SimSun" panose="02010600030101010101" pitchFamily="2" charset="-122"/>
            </a:endParaRPr>
          </a:p>
          <a:p>
            <a:pPr marL="685800" lvl="1" indent="-342900">
              <a:buFontTx/>
              <a:buNone/>
            </a:pPr>
            <a:r>
              <a:rPr lang="en-US" altLang="zh-CN">
                <a:ea typeface="SimSun" panose="02010600030101010101" pitchFamily="2" charset="-122"/>
              </a:rPr>
              <a:t>2.    Virtual inheritance</a:t>
            </a:r>
          </a:p>
        </p:txBody>
      </p:sp>
      <p:sp>
        <p:nvSpPr>
          <p:cNvPr id="67588" name="Footer Placeholder 3">
            <a:extLst>
              <a:ext uri="{FF2B5EF4-FFF2-40B4-BE49-F238E27FC236}">
                <a16:creationId xmlns:a16="http://schemas.microsoft.com/office/drawing/2014/main" id="{E680113B-39E5-F0A2-6F22-350BC55012CB}"/>
              </a:ext>
            </a:extLst>
          </p:cNvPr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Object Oriented Programming-Spring 23</a:t>
            </a:r>
          </a:p>
        </p:txBody>
      </p:sp>
      <p:sp>
        <p:nvSpPr>
          <p:cNvPr id="67589" name="Slide Number Placeholder 4">
            <a:extLst>
              <a:ext uri="{FF2B5EF4-FFF2-40B4-BE49-F238E27FC236}">
                <a16:creationId xmlns:a16="http://schemas.microsoft.com/office/drawing/2014/main" id="{861A7944-106E-8CE6-A902-F395BAABB39C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0C437A52-8E93-6344-B824-1D3EA92AC8C2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80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>
            <a:extLst>
              <a:ext uri="{FF2B5EF4-FFF2-40B4-BE49-F238E27FC236}">
                <a16:creationId xmlns:a16="http://schemas.microsoft.com/office/drawing/2014/main" id="{9363569A-92E1-310C-D40A-0D03ED6EED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Solution (virtual inheritance)</a:t>
            </a:r>
          </a:p>
        </p:txBody>
      </p:sp>
      <p:sp>
        <p:nvSpPr>
          <p:cNvPr id="68611" name="Content Placeholder 2">
            <a:extLst>
              <a:ext uri="{FF2B5EF4-FFF2-40B4-BE49-F238E27FC236}">
                <a16:creationId xmlns:a16="http://schemas.microsoft.com/office/drawing/2014/main" id="{FF872235-F49D-A2FC-1C9A-4803D62075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631950" y="1066800"/>
            <a:ext cx="4495800" cy="4400550"/>
          </a:xfrm>
        </p:spPr>
        <p:txBody>
          <a:bodyPr/>
          <a:lstStyle/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i-FI" altLang="en-US" sz="1800" b="1">
                <a:latin typeface="Consolas" panose="020B0609020204030204" pitchFamily="49" charset="0"/>
              </a:rPr>
              <a:t>class A { </a:t>
            </a:r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i-FI" altLang="en-US" sz="1800" b="1">
                <a:latin typeface="Consolas" panose="020B0609020204030204" pitchFamily="49" charset="0"/>
              </a:rPr>
              <a:t>	public: void Foo() {} </a:t>
            </a:r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i-FI" altLang="en-US" sz="1800" b="1">
                <a:latin typeface="Consolas" panose="020B0609020204030204" pitchFamily="49" charset="0"/>
              </a:rPr>
              <a:t>}</a:t>
            </a:r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en-US" altLang="en-US" sz="1800" b="1">
              <a:latin typeface="Consolas" panose="020B0609020204030204" pitchFamily="49" charset="0"/>
            </a:endParaRPr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nsolas" panose="020B0609020204030204" pitchFamily="49" charset="0"/>
              </a:rPr>
              <a:t>class B : public </a:t>
            </a:r>
            <a:r>
              <a:rPr lang="en-US" altLang="en-US" sz="1800" b="1">
                <a:solidFill>
                  <a:srgbClr val="0070C0"/>
                </a:solidFill>
                <a:latin typeface="Consolas" panose="020B0609020204030204" pitchFamily="49" charset="0"/>
              </a:rPr>
              <a:t>virtual</a:t>
            </a:r>
            <a:r>
              <a:rPr lang="en-US" altLang="en-US" sz="1800" b="1">
                <a:latin typeface="Consolas" panose="020B0609020204030204" pitchFamily="49" charset="0"/>
              </a:rPr>
              <a:t> A {</a:t>
            </a:r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nsolas" panose="020B0609020204030204" pitchFamily="49" charset="0"/>
              </a:rPr>
              <a:t>}</a:t>
            </a:r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en-US" altLang="en-US" sz="1800" b="1">
              <a:latin typeface="Consolas" panose="020B0609020204030204" pitchFamily="49" charset="0"/>
            </a:endParaRPr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nsolas" panose="020B0609020204030204" pitchFamily="49" charset="0"/>
              </a:rPr>
              <a:t>class C : public </a:t>
            </a:r>
            <a:r>
              <a:rPr lang="en-US" altLang="en-US" sz="1800" b="1">
                <a:solidFill>
                  <a:srgbClr val="0070C0"/>
                </a:solidFill>
                <a:latin typeface="Consolas" panose="020B0609020204030204" pitchFamily="49" charset="0"/>
              </a:rPr>
              <a:t>virtual</a:t>
            </a:r>
            <a:r>
              <a:rPr lang="en-US" altLang="en-US" sz="1800" b="1">
                <a:latin typeface="Consolas" panose="020B0609020204030204" pitchFamily="49" charset="0"/>
              </a:rPr>
              <a:t> A {</a:t>
            </a:r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nsolas" panose="020B0609020204030204" pitchFamily="49" charset="0"/>
              </a:rPr>
              <a:t>}</a:t>
            </a:r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en-US" altLang="en-US" sz="1800" b="1">
              <a:latin typeface="Consolas" panose="020B0609020204030204" pitchFamily="49" charset="0"/>
            </a:endParaRPr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nsolas" panose="020B0609020204030204" pitchFamily="49" charset="0"/>
              </a:rPr>
              <a:t>class D : public B, public C {</a:t>
            </a:r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nsolas" panose="020B0609020204030204" pitchFamily="49" charset="0"/>
              </a:rPr>
              <a:t>}</a:t>
            </a:r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en-US" altLang="en-US" sz="1800" b="1">
              <a:latin typeface="Consolas" panose="020B0609020204030204" pitchFamily="49" charset="0"/>
            </a:endParaRPr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en-US" sz="1800" b="1">
                <a:latin typeface="Consolas" panose="020B0609020204030204" pitchFamily="49" charset="0"/>
              </a:rPr>
              <a:t>D d;</a:t>
            </a:r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s-ES_tradnl" altLang="en-US" sz="1800" b="1">
                <a:latin typeface="Consolas" panose="020B0609020204030204" pitchFamily="49" charset="0"/>
              </a:rPr>
              <a:t>d.Foo(); // </a:t>
            </a:r>
            <a:r>
              <a:rPr lang="es-ES_tradnl" altLang="en-US" sz="1800" b="1">
                <a:solidFill>
                  <a:srgbClr val="FF0000"/>
                </a:solidFill>
                <a:latin typeface="Consolas" panose="020B0609020204030204" pitchFamily="49" charset="0"/>
              </a:rPr>
              <a:t>no longer ambiguous</a:t>
            </a:r>
            <a:endParaRPr lang="fr-FR" altLang="en-US" sz="1800" b="1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68612" name="Footer Placeholder 3">
            <a:extLst>
              <a:ext uri="{FF2B5EF4-FFF2-40B4-BE49-F238E27FC236}">
                <a16:creationId xmlns:a16="http://schemas.microsoft.com/office/drawing/2014/main" id="{3D0F27EC-2276-A893-671D-64E56B47E912}"/>
              </a:ext>
            </a:extLst>
          </p:cNvPr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Object Oriented Programming-Spring 23</a:t>
            </a:r>
          </a:p>
        </p:txBody>
      </p:sp>
      <p:sp>
        <p:nvSpPr>
          <p:cNvPr id="68613" name="Slide Number Placeholder 4">
            <a:extLst>
              <a:ext uri="{FF2B5EF4-FFF2-40B4-BE49-F238E27FC236}">
                <a16:creationId xmlns:a16="http://schemas.microsoft.com/office/drawing/2014/main" id="{E04E56BB-D893-70E0-E7D6-E5DABE56EC03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2481C3D1-8DBE-164D-AD7B-4C885736E57A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81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>
            <a:extLst>
              <a:ext uri="{FF2B5EF4-FFF2-40B4-BE49-F238E27FC236}">
                <a16:creationId xmlns:a16="http://schemas.microsoft.com/office/drawing/2014/main" id="{B486F665-1E59-B085-A999-C6A6F46C59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Virtual Inheritance</a:t>
            </a:r>
          </a:p>
        </p:txBody>
      </p:sp>
      <p:sp>
        <p:nvSpPr>
          <p:cNvPr id="69635" name="Content Placeholder 2">
            <a:extLst>
              <a:ext uri="{FF2B5EF4-FFF2-40B4-BE49-F238E27FC236}">
                <a16:creationId xmlns:a16="http://schemas.microsoft.com/office/drawing/2014/main" id="{7A5140E8-E55C-E7FE-B22C-6AE213D82E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686800" cy="5105400"/>
          </a:xfrm>
        </p:spPr>
        <p:txBody>
          <a:bodyPr/>
          <a:lstStyle/>
          <a:p>
            <a:pPr algn="just"/>
            <a:r>
              <a:rPr lang="en-US" altLang="en-US">
                <a:solidFill>
                  <a:srgbClr val="202124"/>
                </a:solidFill>
              </a:rPr>
              <a:t>Virtual inheritance is a C++ technique that ensures that </a:t>
            </a:r>
            <a:r>
              <a:rPr lang="en-US" altLang="en-US" b="1" i="1">
                <a:solidFill>
                  <a:srgbClr val="0070C0"/>
                </a:solidFill>
              </a:rPr>
              <a:t>only one copy of common base class's member variables are inherited by second-level derivatives</a:t>
            </a:r>
            <a:r>
              <a:rPr lang="en-US" altLang="en-US" i="1">
                <a:solidFill>
                  <a:srgbClr val="0070C0"/>
                </a:solidFill>
              </a:rPr>
              <a:t> </a:t>
            </a:r>
            <a:r>
              <a:rPr lang="en-US" altLang="en-US">
                <a:solidFill>
                  <a:srgbClr val="202124"/>
                </a:solidFill>
              </a:rPr>
              <a:t>(a.k.a. grandchild derived classes)</a:t>
            </a:r>
            <a:endParaRPr lang="en-US" altLang="en-US"/>
          </a:p>
          <a:p>
            <a:pPr algn="just"/>
            <a:endParaRPr lang="en-US" altLang="en-US"/>
          </a:p>
        </p:txBody>
      </p:sp>
      <p:sp>
        <p:nvSpPr>
          <p:cNvPr id="69636" name="Footer Placeholder 3">
            <a:extLst>
              <a:ext uri="{FF2B5EF4-FFF2-40B4-BE49-F238E27FC236}">
                <a16:creationId xmlns:a16="http://schemas.microsoft.com/office/drawing/2014/main" id="{95BB02EC-6755-6633-B9C6-6F6C5BCCB4FE}"/>
              </a:ext>
            </a:extLst>
          </p:cNvPr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Object Oriented Programming-Spring 23</a:t>
            </a:r>
          </a:p>
        </p:txBody>
      </p:sp>
      <p:sp>
        <p:nvSpPr>
          <p:cNvPr id="69637" name="Slide Number Placeholder 4">
            <a:extLst>
              <a:ext uri="{FF2B5EF4-FFF2-40B4-BE49-F238E27FC236}">
                <a16:creationId xmlns:a16="http://schemas.microsoft.com/office/drawing/2014/main" id="{F2753DF5-9BA6-9FD4-C0AE-678E8162F0E4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2294ACFD-034E-B844-86FD-1DB0446C3B14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82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>
            <a:extLst>
              <a:ext uri="{FF2B5EF4-FFF2-40B4-BE49-F238E27FC236}">
                <a16:creationId xmlns:a16="http://schemas.microsoft.com/office/drawing/2014/main" id="{B300E5EF-1EDE-A500-5106-5FA5F0CFAA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/>
              <a:t>Example</a:t>
            </a:r>
            <a:endParaRPr lang="en-US" altLang="en-US"/>
          </a:p>
        </p:txBody>
      </p:sp>
      <p:sp>
        <p:nvSpPr>
          <p:cNvPr id="70659" name="Content Placeholder 2">
            <a:extLst>
              <a:ext uri="{FF2B5EF4-FFF2-40B4-BE49-F238E27FC236}">
                <a16:creationId xmlns:a16="http://schemas.microsoft.com/office/drawing/2014/main" id="{06A3A3FE-EDF8-BF1B-4072-FFEFB54789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250950"/>
            <a:ext cx="8426450" cy="510540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class PoweredDevice</a:t>
            </a:r>
            <a:r>
              <a:rPr lang="fr-FR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FontTx/>
              <a:buNone/>
            </a:pPr>
            <a:r>
              <a:rPr lang="fr-FR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fr-FR" altLang="en-US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public:</a:t>
            </a:r>
          </a:p>
          <a:p>
            <a:pPr marL="0" indent="0">
              <a:buFontTx/>
              <a:buNone/>
            </a:pPr>
            <a:r>
              <a:rPr lang="pl-PL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l-PL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PoweredDevice(int nPower)</a:t>
            </a:r>
            <a:r>
              <a:rPr lang="fr-FR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FontTx/>
              <a:buNone/>
            </a:pP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		cout &lt;&lt; "PoweredDevice: " &lt;&lt;</a:t>
            </a:r>
          </a:p>
          <a:p>
            <a:pPr marL="0" indent="0">
              <a:buFontTx/>
              <a:buNone/>
            </a:pP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		 nPower &lt;&lt; endl;</a:t>
            </a:r>
          </a:p>
          <a:p>
            <a:pPr marL="0" indent="0">
              <a:buFontTx/>
              <a:buNone/>
            </a:pPr>
            <a:r>
              <a:rPr lang="fr-FR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   	 }</a:t>
            </a:r>
          </a:p>
          <a:p>
            <a:pPr marL="0" indent="0">
              <a:buFontTx/>
              <a:buNone/>
            </a:pPr>
            <a:r>
              <a:rPr lang="fr-FR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70660" name="Footer Placeholder 3">
            <a:extLst>
              <a:ext uri="{FF2B5EF4-FFF2-40B4-BE49-F238E27FC236}">
                <a16:creationId xmlns:a16="http://schemas.microsoft.com/office/drawing/2014/main" id="{4953E83F-C88A-79AC-1886-F4F3B3F8B8F0}"/>
              </a:ext>
            </a:extLst>
          </p:cNvPr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Object Oriented Programming-Spring 23</a:t>
            </a:r>
          </a:p>
        </p:txBody>
      </p:sp>
      <p:sp>
        <p:nvSpPr>
          <p:cNvPr id="70661" name="Slide Number Placeholder 4">
            <a:extLst>
              <a:ext uri="{FF2B5EF4-FFF2-40B4-BE49-F238E27FC236}">
                <a16:creationId xmlns:a16="http://schemas.microsoft.com/office/drawing/2014/main" id="{1320740D-BF0A-16FA-E8F0-AC95A540877B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B97A7D4C-F0B7-9F40-8F8F-96DF4874BE92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83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Footer Placeholder 1">
            <a:extLst>
              <a:ext uri="{FF2B5EF4-FFF2-40B4-BE49-F238E27FC236}">
                <a16:creationId xmlns:a16="http://schemas.microsoft.com/office/drawing/2014/main" id="{37C2F4C7-5522-EF85-BF33-3A928F34FFC6}"/>
              </a:ext>
            </a:extLst>
          </p:cNvPr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Object Oriented Programming-Spring 23</a:t>
            </a:r>
          </a:p>
        </p:txBody>
      </p:sp>
      <p:sp>
        <p:nvSpPr>
          <p:cNvPr id="71683" name="Slide Number Placeholder 2">
            <a:extLst>
              <a:ext uri="{FF2B5EF4-FFF2-40B4-BE49-F238E27FC236}">
                <a16:creationId xmlns:a16="http://schemas.microsoft.com/office/drawing/2014/main" id="{9FEFA3F1-8AD3-93B9-B5A7-D9569301E8C3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5D5F8FA0-53AB-1547-BD6D-F833D1662592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84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71684" name="TextBox 4">
            <a:extLst>
              <a:ext uri="{FF2B5EF4-FFF2-40B4-BE49-F238E27FC236}">
                <a16:creationId xmlns:a16="http://schemas.microsoft.com/office/drawing/2014/main" id="{5B21F450-1914-5EBE-B986-F3409731C4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85800"/>
            <a:ext cx="8382000" cy="5022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3429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3429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3429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Scanner</a:t>
            </a:r>
            <a:r>
              <a:rPr lang="en-US" altLang="en-US" sz="18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public PoweredDevice </a:t>
            </a: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eaLnBrk="1" hangingPunct="1"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public:</a:t>
            </a:r>
          </a:p>
          <a:p>
            <a:pPr eaLnBrk="1" hangingPunct="1">
              <a:buFontTx/>
              <a:buNone/>
            </a:pPr>
            <a:r>
              <a:rPr lang="pl-PL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l-PL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Scanner(int nScanner, int nPower) </a:t>
            </a:r>
            <a:r>
              <a:rPr lang="pl-PL" altLang="en-US" sz="18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PoweredDevice(nPower)</a:t>
            </a:r>
          </a:p>
          <a:p>
            <a:pPr eaLnBrk="1" hangingPunct="1"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{</a:t>
            </a:r>
          </a:p>
          <a:p>
            <a:pPr eaLnBrk="1" hangingPunct="1">
              <a:buFontTx/>
              <a:buNone/>
            </a:pPr>
            <a:r>
              <a:rPr lang="cs-CZ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    cout &lt;&lt; "Scanner: " &lt;&lt; nScanner &lt;&lt; endl;</a:t>
            </a:r>
          </a:p>
          <a:p>
            <a:pPr eaLnBrk="1" hangingPunct="1"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}</a:t>
            </a:r>
          </a:p>
          <a:p>
            <a:pPr eaLnBrk="1" hangingPunct="1"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 eaLnBrk="1" hangingPunct="1">
              <a:buFontTx/>
              <a:buNone/>
            </a:pPr>
            <a:endParaRPr lang="fr-FR" altLang="en-US" sz="1800" b="1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Printer</a:t>
            </a:r>
            <a:r>
              <a:rPr lang="en-US" altLang="en-US" sz="18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public PoweredDevice </a:t>
            </a: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eaLnBrk="1" hangingPunct="1"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public:</a:t>
            </a:r>
          </a:p>
          <a:p>
            <a:pPr eaLnBrk="1" hangingPunct="1">
              <a:buFontTx/>
              <a:buNone/>
            </a:pPr>
            <a:r>
              <a:rPr lang="pl-PL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Printer(int nPrinter, int nPower) </a:t>
            </a:r>
            <a:r>
              <a:rPr lang="pl-PL" altLang="en-US" sz="18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PoweredDevice(nPower)</a:t>
            </a:r>
          </a:p>
          <a:p>
            <a:pPr eaLnBrk="1" hangingPunct="1"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{</a:t>
            </a:r>
          </a:p>
          <a:p>
            <a:pPr eaLnBrk="1" hangingPunct="1">
              <a:buFontTx/>
              <a:buNone/>
            </a:pPr>
            <a:r>
              <a:rPr lang="cs-CZ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    cout &lt;&lt; "Printer: " &lt;&lt; nPrinter &lt;&lt; endl;</a:t>
            </a:r>
          </a:p>
          <a:p>
            <a:pPr eaLnBrk="1" hangingPunct="1"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}</a:t>
            </a:r>
          </a:p>
          <a:p>
            <a:pPr eaLnBrk="1" hangingPunct="1">
              <a:buFontTx/>
              <a:buNone/>
            </a:pPr>
            <a:r>
              <a:rPr lang="fr-FR" altLang="en-US" sz="18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en-US" altLang="en-US" sz="180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1">
            <a:extLst>
              <a:ext uri="{FF2B5EF4-FFF2-40B4-BE49-F238E27FC236}">
                <a16:creationId xmlns:a16="http://schemas.microsoft.com/office/drawing/2014/main" id="{C9F5C8A0-CA5A-0243-E82F-D2205DB513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/>
              <a:t>Example</a:t>
            </a: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A5063-CBF7-8696-633F-1960B195B0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71600"/>
            <a:ext cx="8382000" cy="3873500"/>
          </a:xfrm>
        </p:spPr>
        <p:txBody>
          <a:bodyPr>
            <a:normAutofit/>
          </a:bodyPr>
          <a:lstStyle/>
          <a:p>
            <a:pPr marL="0" indent="0">
              <a:buFontTx/>
              <a:buNone/>
              <a:defRPr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class Copier: public Scanner, public Printer</a:t>
            </a:r>
          </a:p>
          <a:p>
            <a:pPr marL="0" indent="0">
              <a:buFontTx/>
              <a:buNone/>
              <a:defRPr/>
            </a:pPr>
            <a:r>
              <a:rPr lang="fr-F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FontTx/>
              <a:buNone/>
              <a:defRPr/>
            </a:pPr>
            <a:r>
              <a:rPr lang="fr-F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public:</a:t>
            </a:r>
          </a:p>
          <a:p>
            <a:pPr marL="0" indent="0">
              <a:buFontTx/>
              <a:buNone/>
              <a:defRPr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l-PL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Copier(int nScanner, int nPrinter, int nPower)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l-PL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endParaRPr lang="en-US" sz="18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  <a:defRPr/>
            </a:pP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l-PL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Scanner(nScanner, nPower</a:t>
            </a:r>
            <a:r>
              <a:rPr lang="pl-PL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), </a:t>
            </a:r>
            <a:r>
              <a:rPr lang="pl-PL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Printer(nPrinter, nPower)</a:t>
            </a:r>
            <a:r>
              <a:rPr lang="fr-F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FontTx/>
              <a:buNone/>
              <a:defRPr/>
            </a:pPr>
            <a:r>
              <a:rPr lang="fr-F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</a:p>
          <a:p>
            <a:pPr marL="0" indent="0">
              <a:buFontTx/>
              <a:buNone/>
              <a:defRPr/>
            </a:pPr>
            <a:r>
              <a:rPr lang="fr-F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FontTx/>
              <a:buNone/>
              <a:defRPr/>
            </a:pPr>
            <a:r>
              <a:rPr lang="fr-F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r>
              <a:rPr lang="fr-FR" dirty="0"/>
              <a:t>	</a:t>
            </a:r>
          </a:p>
          <a:p>
            <a:pPr>
              <a:defRPr/>
            </a:pPr>
            <a:endParaRPr lang="en-PK" dirty="0"/>
          </a:p>
        </p:txBody>
      </p:sp>
      <p:sp>
        <p:nvSpPr>
          <p:cNvPr id="72708" name="Footer Placeholder 3">
            <a:extLst>
              <a:ext uri="{FF2B5EF4-FFF2-40B4-BE49-F238E27FC236}">
                <a16:creationId xmlns:a16="http://schemas.microsoft.com/office/drawing/2014/main" id="{E52448FC-5390-933D-E5B6-83781D908171}"/>
              </a:ext>
            </a:extLst>
          </p:cNvPr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Object Oriented Programming-Spring 23</a:t>
            </a:r>
          </a:p>
        </p:txBody>
      </p:sp>
      <p:sp>
        <p:nvSpPr>
          <p:cNvPr id="72709" name="Slide Number Placeholder 4">
            <a:extLst>
              <a:ext uri="{FF2B5EF4-FFF2-40B4-BE49-F238E27FC236}">
                <a16:creationId xmlns:a16="http://schemas.microsoft.com/office/drawing/2014/main" id="{F5AFFB4F-BFB4-F19A-7DCC-71D9684D201A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5EA9B16E-C6AC-DD41-A8F8-47AF553EF3D1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85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72710" name="Picture 5">
            <a:extLst>
              <a:ext uri="{FF2B5EF4-FFF2-40B4-BE49-F238E27FC236}">
                <a16:creationId xmlns:a16="http://schemas.microsoft.com/office/drawing/2014/main" id="{122879A3-32D5-796B-D2AF-057536BE63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1400" y="3276600"/>
            <a:ext cx="4124325" cy="2620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>
            <a:extLst>
              <a:ext uri="{FF2B5EF4-FFF2-40B4-BE49-F238E27FC236}">
                <a16:creationId xmlns:a16="http://schemas.microsoft.com/office/drawing/2014/main" id="{127B7140-9F8F-5432-D845-CBE26A7B7F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/>
              <a:t>Example</a:t>
            </a:r>
            <a:endParaRPr lang="en-US" altLang="en-US"/>
          </a:p>
        </p:txBody>
      </p:sp>
      <p:sp>
        <p:nvSpPr>
          <p:cNvPr id="73731" name="Content Placeholder 2">
            <a:extLst>
              <a:ext uri="{FF2B5EF4-FFF2-40B4-BE49-F238E27FC236}">
                <a16:creationId xmlns:a16="http://schemas.microsoft.com/office/drawing/2014/main" id="{6760029D-FAB3-F57B-DD55-2F630BDD99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295400"/>
            <a:ext cx="8458200" cy="510540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fr-FR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int main(){</a:t>
            </a:r>
          </a:p>
          <a:p>
            <a:pPr marL="0" indent="0">
              <a:buFontTx/>
              <a:buNone/>
            </a:pPr>
            <a:r>
              <a:rPr lang="pl-PL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    Copier cCopier(1, 2, 3);</a:t>
            </a:r>
          </a:p>
          <a:p>
            <a:pPr marL="0" indent="0">
              <a:buFontTx/>
              <a:buNone/>
            </a:pPr>
            <a:r>
              <a:rPr lang="fr-FR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FontTx/>
              <a:buNone/>
            </a:pPr>
            <a:endParaRPr lang="fr-FR" altLang="en-US"/>
          </a:p>
          <a:p>
            <a:pPr marL="0" indent="0">
              <a:buFontTx/>
              <a:buNone/>
            </a:pPr>
            <a:r>
              <a:rPr lang="fr-FR" altLang="en-US" b="1"/>
              <a:t>What should be the output?</a:t>
            </a:r>
          </a:p>
          <a:p>
            <a:pPr marL="0" indent="0">
              <a:buFontTx/>
              <a:buNone/>
            </a:pPr>
            <a:r>
              <a:rPr lang="en-US" altLang="en-US"/>
              <a:t>	</a:t>
            </a:r>
            <a:endParaRPr lang="fr-FR" altLang="en-US"/>
          </a:p>
        </p:txBody>
      </p:sp>
      <p:sp>
        <p:nvSpPr>
          <p:cNvPr id="73732" name="Footer Placeholder 3">
            <a:extLst>
              <a:ext uri="{FF2B5EF4-FFF2-40B4-BE49-F238E27FC236}">
                <a16:creationId xmlns:a16="http://schemas.microsoft.com/office/drawing/2014/main" id="{58956EDF-2E2C-2254-CBF1-09FD18F3F2DF}"/>
              </a:ext>
            </a:extLst>
          </p:cNvPr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Object Oriented Programming-Spring 23</a:t>
            </a:r>
          </a:p>
        </p:txBody>
      </p:sp>
      <p:sp>
        <p:nvSpPr>
          <p:cNvPr id="73733" name="Slide Number Placeholder 4">
            <a:extLst>
              <a:ext uri="{FF2B5EF4-FFF2-40B4-BE49-F238E27FC236}">
                <a16:creationId xmlns:a16="http://schemas.microsoft.com/office/drawing/2014/main" id="{90BE5D3B-9CF8-BC57-8DA2-880C81F9995B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48C22EE0-8482-5C4E-959F-DCC1119AB0AF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86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>
            <a:extLst>
              <a:ext uri="{FF2B5EF4-FFF2-40B4-BE49-F238E27FC236}">
                <a16:creationId xmlns:a16="http://schemas.microsoft.com/office/drawing/2014/main" id="{088C5E8C-D2F8-8F87-98E0-2D81148B4A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/>
              <a:t>Example</a:t>
            </a:r>
            <a:endParaRPr lang="en-US" altLang="en-US"/>
          </a:p>
        </p:txBody>
      </p:sp>
      <p:sp>
        <p:nvSpPr>
          <p:cNvPr id="74755" name="Content Placeholder 2">
            <a:extLst>
              <a:ext uri="{FF2B5EF4-FFF2-40B4-BE49-F238E27FC236}">
                <a16:creationId xmlns:a16="http://schemas.microsoft.com/office/drawing/2014/main" id="{DF410048-413B-E1A6-C09C-D5218205BB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295400"/>
            <a:ext cx="8458200" cy="510540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fr-FR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int main(){</a:t>
            </a:r>
          </a:p>
          <a:p>
            <a:pPr marL="0" indent="0">
              <a:buFontTx/>
              <a:buNone/>
            </a:pPr>
            <a:r>
              <a:rPr lang="pl-PL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    Copier cCopier(1, 2, 3);</a:t>
            </a:r>
          </a:p>
          <a:p>
            <a:pPr marL="0" indent="0">
              <a:buFontTx/>
              <a:buNone/>
            </a:pPr>
            <a:r>
              <a:rPr lang="fr-FR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FontTx/>
              <a:buNone/>
            </a:pPr>
            <a:endParaRPr lang="fr-FR" altLang="en-US"/>
          </a:p>
          <a:p>
            <a:pPr marL="0" indent="0">
              <a:buFontTx/>
              <a:buNone/>
            </a:pPr>
            <a:r>
              <a:rPr lang="fr-FR" altLang="en-US" b="1"/>
              <a:t>What should be the output?</a:t>
            </a:r>
          </a:p>
          <a:p>
            <a:pPr marL="0" indent="0">
              <a:buFontTx/>
              <a:buNone/>
            </a:pPr>
            <a:r>
              <a:rPr lang="en-US" altLang="en-US"/>
              <a:t>	PoweredDevice: 3</a:t>
            </a:r>
          </a:p>
          <a:p>
            <a:pPr marL="0" indent="0">
              <a:buFontTx/>
              <a:buNone/>
            </a:pPr>
            <a:r>
              <a:rPr lang="fr-FR" altLang="en-US"/>
              <a:t>	Scanner: 1</a:t>
            </a:r>
          </a:p>
          <a:p>
            <a:pPr marL="0" indent="0">
              <a:buFontTx/>
              <a:buNone/>
            </a:pPr>
            <a:r>
              <a:rPr lang="en-US" altLang="en-US"/>
              <a:t>	PoweredDevice: 3</a:t>
            </a:r>
          </a:p>
          <a:p>
            <a:pPr marL="0" indent="0">
              <a:buFontTx/>
              <a:buNone/>
            </a:pPr>
            <a:r>
              <a:rPr lang="fr-FR" altLang="en-US"/>
              <a:t>	Printer: 2 </a:t>
            </a:r>
          </a:p>
        </p:txBody>
      </p:sp>
      <p:sp>
        <p:nvSpPr>
          <p:cNvPr id="74756" name="Footer Placeholder 3">
            <a:extLst>
              <a:ext uri="{FF2B5EF4-FFF2-40B4-BE49-F238E27FC236}">
                <a16:creationId xmlns:a16="http://schemas.microsoft.com/office/drawing/2014/main" id="{3386BC6D-FDD6-E44A-776D-F7C4C79B8696}"/>
              </a:ext>
            </a:extLst>
          </p:cNvPr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Object Oriented Programming-Spring 23</a:t>
            </a:r>
          </a:p>
        </p:txBody>
      </p:sp>
      <p:sp>
        <p:nvSpPr>
          <p:cNvPr id="74757" name="Slide Number Placeholder 4">
            <a:extLst>
              <a:ext uri="{FF2B5EF4-FFF2-40B4-BE49-F238E27FC236}">
                <a16:creationId xmlns:a16="http://schemas.microsoft.com/office/drawing/2014/main" id="{DC8FF588-00BB-38AC-6D49-FEB3ABB5A6D4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B2411FB8-004A-D14B-A681-B3926DB5752A}" type="slidenum">
              <a:rPr lang="en-US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87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tle 1">
            <a:extLst>
              <a:ext uri="{FF2B5EF4-FFF2-40B4-BE49-F238E27FC236}">
                <a16:creationId xmlns:a16="http://schemas.microsoft.com/office/drawing/2014/main" id="{533032F7-6D28-D9CE-B427-F39D4A40DA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References</a:t>
            </a:r>
          </a:p>
        </p:txBody>
      </p:sp>
      <p:sp>
        <p:nvSpPr>
          <p:cNvPr id="75779" name="Content Placeholder 2">
            <a:extLst>
              <a:ext uri="{FF2B5EF4-FFF2-40B4-BE49-F238E27FC236}">
                <a16:creationId xmlns:a16="http://schemas.microsoft.com/office/drawing/2014/main" id="{0876C42B-2867-F564-AC66-A4B7151FCC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/>
              <a:t>Book Code: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1480</TotalTime>
  <Words>3947</Words>
  <Application>Microsoft Macintosh PowerPoint</Application>
  <PresentationFormat>On-screen Show (4:3)</PresentationFormat>
  <Paragraphs>716</Paragraphs>
  <Slides>88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88</vt:i4>
      </vt:variant>
    </vt:vector>
  </HeadingPairs>
  <TitlesOfParts>
    <vt:vector size="99" baseType="lpstr">
      <vt:lpstr>MS PGothic</vt:lpstr>
      <vt:lpstr>SimSun</vt:lpstr>
      <vt:lpstr>Arial</vt:lpstr>
      <vt:lpstr>Consolas</vt:lpstr>
      <vt:lpstr>Courier</vt:lpstr>
      <vt:lpstr>Courier New</vt:lpstr>
      <vt:lpstr>Times</vt:lpstr>
      <vt:lpstr>Wingdings</vt:lpstr>
      <vt:lpstr>Default Design</vt:lpstr>
      <vt:lpstr>Document</vt:lpstr>
      <vt:lpstr>VISIO</vt:lpstr>
      <vt:lpstr>Member Initializer List</vt:lpstr>
      <vt:lpstr>Member Initializer List</vt:lpstr>
      <vt:lpstr>Member Initializer List</vt:lpstr>
      <vt:lpstr>When to use Member Initializer List</vt:lpstr>
      <vt:lpstr>const Class Members</vt:lpstr>
      <vt:lpstr>Member Initializer List (non-static const)</vt:lpstr>
      <vt:lpstr>Member Initializer List (References)</vt:lpstr>
      <vt:lpstr>Member Initializer List  (parameter name same as data member)</vt:lpstr>
      <vt:lpstr>const Objects</vt:lpstr>
      <vt:lpstr>const Objects</vt:lpstr>
      <vt:lpstr>friend Functions</vt:lpstr>
      <vt:lpstr>friend Functions</vt:lpstr>
      <vt:lpstr>friend Functions</vt:lpstr>
      <vt:lpstr>PowerPoint Presentation</vt:lpstr>
      <vt:lpstr>PowerPoint Presentation</vt:lpstr>
      <vt:lpstr>PowerPoint Presentation</vt:lpstr>
      <vt:lpstr>PowerPoint Presentation</vt:lpstr>
      <vt:lpstr>friend Functions and friend Classes</vt:lpstr>
      <vt:lpstr>PowerPoint Presentation</vt:lpstr>
      <vt:lpstr>PowerPoint Presentation</vt:lpstr>
      <vt:lpstr>PowerPoint Presentation</vt:lpstr>
      <vt:lpstr>Inheritance-I</vt:lpstr>
      <vt:lpstr>What Is Inheritance?</vt:lpstr>
      <vt:lpstr>Example: Insects</vt:lpstr>
      <vt:lpstr>The “IS - A" Relationship</vt:lpstr>
      <vt:lpstr>Introduction - Inheritance</vt:lpstr>
      <vt:lpstr>Introduction - Inheritance</vt:lpstr>
      <vt:lpstr>Animals: Class’s hierarchy</vt:lpstr>
      <vt:lpstr>Inheritance Examples</vt:lpstr>
      <vt:lpstr>Another example: Shapes class hierarchy</vt:lpstr>
      <vt:lpstr>Why Inheritance?</vt:lpstr>
      <vt:lpstr>Why Inheritance?</vt:lpstr>
      <vt:lpstr>Inheritance – Terminology and Notation</vt:lpstr>
      <vt:lpstr>Inheriting Data and Functions</vt:lpstr>
      <vt:lpstr>What Does a Child Class Have?</vt:lpstr>
      <vt:lpstr>PowerPoint Presentation</vt:lpstr>
      <vt:lpstr>Protected Members and Class Access</vt:lpstr>
      <vt:lpstr>PowerPoint Presentation</vt:lpstr>
      <vt:lpstr>Protected Members and Class Access</vt:lpstr>
      <vt:lpstr>Protected Members and Class Access</vt:lpstr>
      <vt:lpstr>Inheritance Example 1</vt:lpstr>
      <vt:lpstr>Inheritance Example 2</vt:lpstr>
      <vt:lpstr>Dangers of Protected</vt:lpstr>
      <vt:lpstr>Constructors and Destructors in Base and Derived Classes</vt:lpstr>
      <vt:lpstr>Constructor Rules for Derived Classes </vt:lpstr>
      <vt:lpstr>Constructor Rules for Derived Classes </vt:lpstr>
      <vt:lpstr>Passing Arguments to Base Class Constructor</vt:lpstr>
      <vt:lpstr>Passing Arguments to Base Class Constructor</vt:lpstr>
      <vt:lpstr>Constructor Rules for Derived Classes </vt:lpstr>
      <vt:lpstr>PowerPoint Presentation</vt:lpstr>
      <vt:lpstr>PowerPoint Presentation</vt:lpstr>
      <vt:lpstr>Class Derivation</vt:lpstr>
      <vt:lpstr>Order of execution of Constructors/Destructors</vt:lpstr>
      <vt:lpstr>Order of execution of Constructors/Destructors</vt:lpstr>
      <vt:lpstr>Example</vt:lpstr>
      <vt:lpstr>Example – cont.</vt:lpstr>
      <vt:lpstr>PowerPoint Presentation</vt:lpstr>
      <vt:lpstr>Example – cont.</vt:lpstr>
      <vt:lpstr>Data vs Class Access Specifier</vt:lpstr>
      <vt:lpstr>Types of inheritance/ Class access specifier</vt:lpstr>
      <vt:lpstr>Public Inheritance</vt:lpstr>
      <vt:lpstr>Protected Inheritance</vt:lpstr>
      <vt:lpstr>Private Inheritance</vt:lpstr>
      <vt:lpstr>public, protected and private Inheritance</vt:lpstr>
      <vt:lpstr>Inheritance vs. Access </vt:lpstr>
      <vt:lpstr>Class Access Specifiers – When to use?</vt:lpstr>
      <vt:lpstr>Method Overriding</vt:lpstr>
      <vt:lpstr>Method Overriding</vt:lpstr>
      <vt:lpstr>Types of Inheritance</vt:lpstr>
      <vt:lpstr>Types of Inheritance: University Example</vt:lpstr>
      <vt:lpstr>Multiple Inheritance</vt:lpstr>
      <vt:lpstr>What is Multiple Inheritance?</vt:lpstr>
      <vt:lpstr>Multiple Inheritance</vt:lpstr>
      <vt:lpstr>Ambiguity in Multiple Inheritance</vt:lpstr>
      <vt:lpstr>Ambiguity in Multiple Inheritance</vt:lpstr>
      <vt:lpstr>Ambiguity in Multiple Inheritance</vt:lpstr>
      <vt:lpstr>Ambiguity in Multiple Inheritance</vt:lpstr>
      <vt:lpstr>What is the solution?</vt:lpstr>
      <vt:lpstr>The Diamond Problem</vt:lpstr>
      <vt:lpstr>What is the solution?</vt:lpstr>
      <vt:lpstr>Solution (virtual inheritance)</vt:lpstr>
      <vt:lpstr>Virtual Inheritance</vt:lpstr>
      <vt:lpstr>Example</vt:lpstr>
      <vt:lpstr>PowerPoint Presentation</vt:lpstr>
      <vt:lpstr>Example</vt:lpstr>
      <vt:lpstr>Example</vt:lpstr>
      <vt:lpstr>Example</vt:lpstr>
      <vt:lpstr>References</vt:lpstr>
    </vt:vector>
  </TitlesOfParts>
  <Company>National University, FAST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Techniques</dc:title>
  <dc:creator>Zahid Halim</dc:creator>
  <cp:lastModifiedBy>Said Nabi Lecturer FCSE</cp:lastModifiedBy>
  <cp:revision>230</cp:revision>
  <dcterms:created xsi:type="dcterms:W3CDTF">2005-01-31T08:28:19Z</dcterms:created>
  <dcterms:modified xsi:type="dcterms:W3CDTF">2026-03-09T15:23:14Z</dcterms:modified>
</cp:coreProperties>
</file>